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83"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78"/>
  </p:normalViewPr>
  <p:slideViewPr>
    <p:cSldViewPr snapToGrid="0" snapToObjects="1">
      <p:cViewPr varScale="1">
        <p:scale>
          <a:sx n="90" d="100"/>
          <a:sy n="90" d="100"/>
        </p:scale>
        <p:origin x="216" y="7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Qwen2.5-7B</c:v>
                </c:pt>
              </c:strCache>
            </c:strRef>
          </c:tx>
          <c:spPr>
            <a:solidFill>
              <a:srgbClr val="26262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Sheet1!$B$2:$B$4</c:f>
              <c:numCache>
                <c:formatCode>General</c:formatCode>
                <c:ptCount val="3"/>
                <c:pt idx="0">
                  <c:v>0.21</c:v>
                </c:pt>
                <c:pt idx="1">
                  <c:v>0.62</c:v>
                </c:pt>
                <c:pt idx="2">
                  <c:v>0.62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263-1549-86F5-142618AF6876}"/>
            </c:ext>
          </c:extLst>
        </c:ser>
        <c:ser>
          <c:idx val="1"/>
          <c:order val="1"/>
          <c:tx>
            <c:strRef>
              <c:f>Sheet1!$C$1</c:f>
              <c:strCache>
                <c:ptCount val="1"/>
                <c:pt idx="0">
                  <c:v>Llama-3.1-8B</c:v>
                </c:pt>
              </c:strCache>
            </c:strRef>
          </c:tx>
          <c:spPr>
            <a:solidFill>
              <a:srgbClr val="A6A6A6"/>
            </a:solidFill>
          </c:spPr>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English</c:v>
                </c:pt>
                <c:pt idx="1">
                  <c:v>Simplified Chinese</c:v>
                </c:pt>
                <c:pt idx="2">
                  <c:v>Traditional Chinese</c:v>
                </c:pt>
              </c:strCache>
            </c:strRef>
          </c:cat>
          <c:val>
            <c:numRef>
              <c:f>Sheet1!$C$2:$C$4</c:f>
              <c:numCache>
                <c:formatCode>General</c:formatCode>
                <c:ptCount val="3"/>
                <c:pt idx="0">
                  <c:v>0</c:v>
                </c:pt>
                <c:pt idx="1">
                  <c:v>0</c:v>
                </c:pt>
                <c:pt idx="2">
                  <c:v>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263-1549-86F5-142618AF6876}"/>
            </c:ext>
          </c:extLst>
        </c:ser>
        <c:dLbls>
          <c:dLblPos val="outEnd"/>
          <c:showLegendKey val="0"/>
          <c:showVal val="1"/>
          <c:showCatName val="0"/>
          <c:showSerName val="0"/>
          <c:showPercent val="0"/>
          <c:showBubbleSize val="0"/>
        </c:dLbls>
        <c:gapWidth val="6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9D9D9"/>
              </a:solidFill>
            </a:ln>
          </c:spPr>
        </c:majorGridlines>
        <c:numFmt formatCode="0%" sourceLinked="0"/>
        <c:majorTickMark val="out"/>
        <c:minorTickMark val="none"/>
        <c:tickLblPos val="nextTo"/>
        <c:spPr>
          <a:ln>
            <a:noFill/>
          </a:ln>
        </c:spPr>
        <c:txPr>
          <a:bodyPr/>
          <a:lstStyle/>
          <a:p>
            <a:pPr>
              <a:defRPr sz="1200">
                <a:solidFill>
                  <a:srgbClr val="898781"/>
                </a:solidFill>
              </a:defRPr>
            </a:pPr>
            <a:endParaRPr lang="en-US"/>
          </a:p>
        </c:txPr>
        <c:crossAx val="-2068027336"/>
        <c:crosses val="autoZero"/>
        <c:crossBetween val="between"/>
        <c:majorUnit val="0.25"/>
      </c:valAx>
    </c:plotArea>
    <c:legend>
      <c:legendPos val="t"/>
      <c:overlay val="0"/>
    </c:legend>
    <c:plotVisOnly val="1"/>
    <c:dispBlanksAs val="gap"/>
    <c:showDLblsOverMax val="1"/>
  </c:chart>
  <c:txPr>
    <a:bodyPr/>
    <a:lstStyle/>
    <a:p>
      <a:pPr>
        <a:defRPr sz="1400">
          <a:solidFill>
            <a:srgbClr val="00000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5549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 full names and the course name if you want them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 AI spreads, people will lean on it for more of what they do, including things that help and things that harm. Elections show both in one place: the same model that explains how votes are counted can draft the argument that an election was stolen. The line between helpful and harmful is blurred, and models have to draw it somewhere.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Political polarization is increasingly relevant, and model bias is under scrutiny: people already ask whether chat models lean one way. We argue models should work to serve democracy, which means not helping to undermine trust in legitimate election results, while staying non-partisan, treating every asker and both parties the same. Those goals can pull against each other. Each party has its own 'stolen election' story, so a model that pushes back on one side's story more often than the other's can look partisan even while it defends an election. That is why our design asks every claim from both sides.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roadmap for the rest of the talk. The numbers on the right are the slide where each part starts, handy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paper we build on. Arditi et al. look inside the model's activations, the residual stream, while it reads a prompt. Average the activations over harmful instructions, average them over harmless ones, and take the difference: that is the refusal direction. Two tests show it is causal. Remove it from every layer and the model stops refusing harmful requests. Add it to a harmless request and the model refuses. This held in 13 open-source chat models up to 72B parameters, and editing the direction out of the weights gives a jailbreak that leaves other abilities mostly intact, which says safety fine-tuning is brittle. They also show that adversarial suffixes work by suppressing this direction. We reuse their method, their harmful and harmless prompts and their selection filters unchanged.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ask this. If refusals depend on who is asking, safety behavior is uneven by group, and stolen-election requests are a sharp case because both parties have their own version. We ask whether the refusal direction treats partisans the same. A later paper argues refusal is more than one direction, and Qwen's result ends up on its side. The design grew out of Sreya's 3B pilot and the TA's feedback.</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steps. We built prompts where only the asker changes, had both models reply, and scored the replies with two judges. Then we went inside the models: found the refusal direction with Arditi et al.'s method, projected every prompt onto it at every layer, and ran causal tests that change the activations and watch the replies change. The next two slides cover the prompts and the judges; steps 3 to 5 come with the results. Each step shows the slide where it is covered.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askers, eight elections, 23 requests. The party askers, the voter and the Lakers fan share one sentence shape, so 'named a party' can be told apart from 'said something about yourself first'. Each election's 'stolen' story belongs to one side: 2020 to Republicans, 2016 to Democrats. Crossing them gives own-side and other-side requests (aligned and crossed in our code). The dots on the left: for a 2020 claim the Republican is own side (blue) and the Democrat other side (orange). Within a cell the prompts differ only in the asker sentence: 136 matched Democrat/Republican pairs. The design follows the TA's feedback (table in the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first judge was the one from the paper, Llama Guard 2. It flagged none of these replies, including ones that argue at length that an election was stolen. So we used two judges: Llama Guard 3 with an added election category, and Claude with a written rubric. On a blind human pass over 50 replies, Claude agrees at kappa 0.77 and Guard at 0.51. Guard misses replies that start with a disclaimer and then argue, and question-form replies, so its rates run low. Neither judge sees who asked: the asker sentence is replaced with 'Please'.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Everything we found, on one slide; the slide number on the right is where each one is backed up. The first line answers our question from slide 6: the direction is party-blind, but other-side claims land closer to refusal on it. Read the bold lead of each line and move on: the detail slides carry the evidence.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Democrat vs Republican. Differences of 1 to 4 points, none significant, under both judges. Bottom: own side vs other side. Own-side requests get the content 7 to 15 points more often, in both models and under both judges. Filled dots are the Claude judge, hollow ones Llama Guard. The judges disagree on levels by about 20 points but agree on every comparison.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asker compared with 'I'm a voter' on matched pairs. Naming a party lowers compliance, but so does 'I'm a Lakers fan', by about as much or more. So a party label acts like any identity. What moves the models is whose claim it is, not which party you name.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compute a candidate direction at every layer and token position up to 80% depth, from non-political harmful vs harmless prompts. We pick the one whose removal cuts refusal most, provided that adding it also causes refusal and that it barely changes harmless outputs (KL under 0.1). Qwen: layer 19 of 28; 21 candidates at layers 13 to 21 ablate more, but all of them change harmless outputs too much. Llama: layer 13 of 32, the strongest of any candidate. Non-political prompts so the direction can't absorb 'this is about partisan politics'.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prompt projected onto each layer's own refusal direction. Republican minus Democrat is nonzero from the first layers, but it tracks the harmless civic questions: the model is noticing a party word, not refusing. Party minus Lakers fan is larger and also mostly shared with the harmless questions (in Qwen through layer 18; in Llama the fan prompts sit closer to refusal on both kinds).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Other side minus own side, as a share of each layer's stolen-minus-harmless gap. Zero in early layers, then it switches on mid-network, and only for stolen-election requests. First significant at layer 19 of 28 in Qwen and 11 of 32 in Llama, peaking at 18% (Qwen, layer 25) and 13% (Llama, layer 18). The model knows who you are early and decides whose claim it is later. Slide 18 picks this up again.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Removing the direction lifts did-the-task above 80% for everyone, and the own-side/other-side gap is no longer significant (Qwen 85% vs 82%, Llama 86% vs 82% under Llama Guard). That is causal but blunt: it removes refusal everywhere, so it can't say how much of the gap runs through the direction. Harmless questions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clean test. Take the own-side prompts and push them along the refusal direction by exactly the measured own-side/other-side gap in projection, and by multiples of it. Llama: 1x closes about 70% of the gap and 2x nearly all of it. Qwen: 1x barely moves it, 3x closes about two-thirds, 10x overshoots. The same push along a random direction does nothing. So the direction controls compliance in both models, but only in Llama is the gap the right size to be explained by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Qwen differs. The side direction (the alignment direction in our code) is what an other-side request adds to the activations on stolen-election prompts beyond what it adds on harmless ones. In Qwen it overlaps the refusal direction at cosine 0.6 at the chosen layer, rising to 0.79 by layer 25, right where the gap peaks in the layer curves. Shifting prompts along it closes or swaps the gap under both judges. In Llama it is nearly orthogonal to refusal, and only its refusal part does anything.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 to slide 3. On the narrow test the models are non-partisan: no Democrat/Republican gap, and the refusal direction treats every asker the same. Serving democracy is less clear: they help most when the claim fits the asker, which is exactly the people most likely to believe it and spread it. Why would a model do that? Two readings. One is sycophancy: the model goes along with views it infers from who is asking. The other is suspicion: a Democrat asking to prove 2020 was stolen is an odd request, so the model reads bad faith and is warier. The Lakers-fan result fits the second, since an irrelevant self-description also lowers help, but our data can't separate them. A test that could: harmless requests from the other side, like a Republican asking for an op-ed praising a Democratic policy. More pushback there means suspicion of odd requests; none means going along with the asker.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Tyler's extension: the same question in English and Chinese. Qwen censors China-sensitive requests 21% of the time in English and 62% in Chinese. Traditional characters give the same 62%, so it is the language, not the script. Llama answers all of them. Most of Qwen's gap is official-line answers, which removing the refusal direction leaves in place. A refusal counter, or an 'abliterated' uncensored model, would miss it. Tyler may want to swap in his own chart.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things to remember, then the limits. The first answers our question. The second goes back to slide 3: non-partisan in the narrow sense, but the help goes to the people most likely to spread the claim. The third is the mechanism story: Llama encodes 'the other side's claim' as more refusal-like, full stop; Qwen does that and also uses a second direction the refusal direction doesn't see.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this group can still run. The first item is the test from slide 19 that would separate going along with the asker from suspicion. Right: with more time. The Lakers-vs-Celtics test asks whether the own-side effect is about politics at all.</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Slides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models draft letters, speeches and op-eds far more readily than they produce 'the strongest evidence' or 'a persuasive post'. The severity levels bundle those formats unevenly, so don't read baseline severity as a curve. Llama Guard misses question-form replies: Qwen's town-hall questions are 100% under Claude and 9% under Guard.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HANDOFF.md.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Setting each prompt to its own group's mean leaves the gap unchanged, yet moves Llama almost as much as setting it to the other-side mean. So that version measures removing the spread across prompts, not the gap. The constant shift is the clean test.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the projection alone predicts whether a reply did the task, at AUC 0.8 to 0.9. Adding it to a regression shrinks the other-side term by a fifth in Qwen and two fifths in Llama. Right: adding the direction to the harmless election questions makes the model refuse for every asker, to within 1%.</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103120"/>
            <a:ext cx="11094415" cy="914400"/>
          </a:xfrm>
        </p:spPr>
        <p:txBody>
          <a:bodyPr/>
          <a:lstStyle/>
          <a:p>
            <a:r>
              <a:rPr lang="en-US"/>
              <a:t>Click to edit Master title style</a:t>
            </a:r>
          </a:p>
        </p:txBody>
      </p:sp>
      <p:sp>
        <p:nvSpPr>
          <p:cNvPr id="3" name="Subtitle 2"/>
          <p:cNvSpPr>
            <a:spLocks noGrp="1"/>
          </p:cNvSpPr>
          <p:nvPr>
            <p:ph type="subTitle" idx="1"/>
          </p:nvPr>
        </p:nvSpPr>
        <p:spPr>
          <a:xfrm>
            <a:off x="548640" y="3108960"/>
            <a:ext cx="11094415" cy="82296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548640" y="3108960"/>
            <a:ext cx="11094415" cy="822960"/>
          </a:xfrm>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a:xfrm>
            <a:off x="548640" y="3108960"/>
            <a:ext cx="11094415" cy="822960"/>
          </a:xfrm>
        </p:spPr>
        <p:txBody>
          <a:bodyPr/>
          <a:lstStyle/>
          <a:p>
            <a:endParaRPr lang="en-US"/>
          </a:p>
        </p:txBody>
      </p:sp>
      <p:sp>
        <p:nvSpPr>
          <p:cNvPr id="6" name="Slide Number Placeholder 5"/>
          <p:cNvSpPr>
            <a:spLocks noGrp="1"/>
          </p:cNvSpPr>
          <p:nvPr>
            <p:ph type="sldNum" sz="quarter" idx="12"/>
          </p:nvPr>
        </p:nvSpPr>
        <p:spPr>
          <a:xfrm>
            <a:off x="548640" y="3108960"/>
            <a:ext cx="11094415" cy="82296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411480"/>
            <a:ext cx="11094415" cy="73152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48640" y="1371600"/>
            <a:ext cx="11094415" cy="48920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10/28/26</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2800" b="1"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sz="4000" dirty="0">
                <a:solidFill>
                  <a:srgbClr val="000000"/>
                </a:solidFill>
              </a:rPr>
              <a:t>AI and the democratic process - does model refusal direction change based on partisanship? </a:t>
            </a:r>
            <a:endParaRPr sz="4000" b="1" dirty="0">
              <a:solidFill>
                <a:srgbClr val="000000"/>
              </a:solidFill>
            </a:endParaRPr>
          </a:p>
        </p:txBody>
      </p:sp>
      <p:sp>
        <p:nvSpPr>
          <p:cNvPr id="4" name="Team"/>
          <p:cNvSpPr txBox="1"/>
          <p:nvPr/>
        </p:nvSpPr>
        <p:spPr>
          <a:xfrm>
            <a:off x="548640" y="5074920"/>
            <a:ext cx="11094415" cy="365760"/>
          </a:xfrm>
          <a:prstGeom prst="rect">
            <a:avLst/>
          </a:prstGeom>
          <a:noFill/>
        </p:spPr>
        <p:txBody>
          <a:bodyPr wrap="square" lIns="0" tIns="0" rIns="0" bIns="0" anchor="t">
            <a:noAutofit/>
          </a:bodyPr>
          <a:lstStyle/>
          <a:p>
            <a:pPr algn="l">
              <a:spcAft>
                <a:spcPts val="600"/>
              </a:spcAft>
            </a:pPr>
            <a:r>
              <a:rPr sz="1800" b="0">
                <a:solidFill>
                  <a:srgbClr val="000000"/>
                </a:solidFill>
              </a:rPr>
              <a:t>Divya · Michael · Skyler · Sreya · Tyler</a:t>
            </a:r>
          </a:p>
        </p:txBody>
      </p:sp>
      <p:sp>
        <p:nvSpPr>
          <p:cNvPr id="5" name="Date"/>
          <p:cNvSpPr txBox="1"/>
          <p:nvPr/>
        </p:nvSpPr>
        <p:spPr>
          <a:xfrm>
            <a:off x="548640" y="5486400"/>
            <a:ext cx="11094415" cy="320040"/>
          </a:xfrm>
          <a:prstGeom prst="rect">
            <a:avLst/>
          </a:prstGeom>
          <a:noFill/>
        </p:spPr>
        <p:txBody>
          <a:bodyPr wrap="square" lIns="0" tIns="0" rIns="0" bIns="0" anchor="t">
            <a:noAutofit/>
          </a:bodyPr>
          <a:lstStyle/>
          <a:p>
            <a:pPr algn="l">
              <a:spcAft>
                <a:spcPts val="600"/>
              </a:spcAft>
            </a:pPr>
            <a:r>
              <a:rPr sz="1400" b="0">
                <a:solidFill>
                  <a:srgbClr val="898781"/>
                </a:solidFill>
              </a:rPr>
              <a:t>October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endParaRPr dirty="0"/>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a:t>
            </a:fld>
            <a:endParaRPr lang="en-US" sz="1000">
              <a:solidFill>
                <a:srgbClr val="898781"/>
              </a:solidFill>
            </a:endParaRPr>
          </a:p>
        </p:txBody>
      </p:sp>
      <p:sp>
        <p:nvSpPr>
          <p:cNvPr id="4" name="TextBox 3"/>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a:solidFill>
                  <a:srgbClr val="000000"/>
                </a:solidFill>
              </a:rPr>
              <a:t>As AI diffusion progresses, people will increasingly use and rely on it in ways that are enabling and dangerous.</a:t>
            </a:r>
          </a:p>
        </p:txBody>
      </p:sp>
      <p:sp>
        <p:nvSpPr>
          <p:cNvPr id="5" name="TextBox 4"/>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Enabling</a:t>
            </a:r>
          </a:p>
        </p:txBody>
      </p:sp>
      <p:sp>
        <p:nvSpPr>
          <p:cNvPr id="6" name="TextBox 5"/>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dirty="0">
                <a:solidFill>
                  <a:srgbClr val="52514E"/>
                </a:solidFill>
              </a:rPr>
              <a:t>Explaining </a:t>
            </a:r>
            <a:r>
              <a:rPr lang="en-US" sz="1800" b="0" dirty="0">
                <a:solidFill>
                  <a:srgbClr val="52514E"/>
                </a:solidFill>
              </a:rPr>
              <a:t>the process for </a:t>
            </a:r>
            <a:r>
              <a:rPr sz="1800" b="0" dirty="0">
                <a:solidFill>
                  <a:srgbClr val="52514E"/>
                </a:solidFill>
              </a:rPr>
              <a:t>how votes </a:t>
            </a:r>
            <a:r>
              <a:rPr lang="en-US" sz="1800" b="0" dirty="0">
                <a:solidFill>
                  <a:srgbClr val="52514E"/>
                </a:solidFill>
              </a:rPr>
              <a:t>are</a:t>
            </a:r>
            <a:r>
              <a:rPr sz="1800" b="0" dirty="0">
                <a:solidFill>
                  <a:srgbClr val="52514E"/>
                </a:solidFill>
              </a:rPr>
              <a:t> counted and certified</a:t>
            </a:r>
          </a:p>
        </p:txBody>
      </p:sp>
      <p:sp>
        <p:nvSpPr>
          <p:cNvPr id="7" name="TextBox 6"/>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Dangerous</a:t>
            </a:r>
          </a:p>
        </p:txBody>
      </p:sp>
      <p:sp>
        <p:nvSpPr>
          <p:cNvPr id="8" name="TextBox 7"/>
          <p:cNvSpPr txBox="1"/>
          <p:nvPr/>
        </p:nvSpPr>
        <p:spPr>
          <a:xfrm>
            <a:off x="6324447" y="4069080"/>
            <a:ext cx="5318607" cy="914400"/>
          </a:xfrm>
          <a:prstGeom prst="rect">
            <a:avLst/>
          </a:prstGeom>
          <a:noFill/>
        </p:spPr>
        <p:txBody>
          <a:bodyPr wrap="square" lIns="0" tIns="0" rIns="0" bIns="0" anchor="t">
            <a:noAutofit/>
          </a:bodyPr>
          <a:lstStyle/>
          <a:p>
            <a:pPr>
              <a:spcAft>
                <a:spcPts val="600"/>
              </a:spcAft>
            </a:pPr>
            <a:r>
              <a:rPr lang="en-US" dirty="0">
                <a:solidFill>
                  <a:srgbClr val="52514E"/>
                </a:solidFill>
              </a:rPr>
              <a:t>Affirming a user's belief that an election was illegitimate or stolen </a:t>
            </a:r>
            <a:endParaRPr sz="1800" b="0" dirty="0">
              <a:solidFill>
                <a:srgbClr val="52514E"/>
              </a:solidFill>
            </a:endParaRPr>
          </a:p>
        </p:txBody>
      </p:sp>
      <p:sp>
        <p:nvSpPr>
          <p:cNvPr id="9" name="TextBox 8"/>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0" dirty="0">
                <a:solidFill>
                  <a:srgbClr val="000000"/>
                </a:solidFill>
              </a:rPr>
              <a:t>The line between helpful and harmful</a:t>
            </a:r>
            <a:r>
              <a:rPr lang="en-US" sz="2000" b="0" dirty="0">
                <a:solidFill>
                  <a:srgbClr val="000000"/>
                </a:solidFill>
              </a:rPr>
              <a:t> can often be blurred.</a:t>
            </a:r>
            <a:endParaRPr sz="2000" b="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3</a:t>
            </a:fld>
            <a:endParaRPr lang="en-US" sz="1000">
              <a:solidFill>
                <a:srgbClr val="898781"/>
              </a:solidFill>
            </a:endParaRPr>
          </a:p>
        </p:txBody>
      </p:sp>
      <p:sp>
        <p:nvSpPr>
          <p:cNvPr id="5" name="TextBox 4"/>
          <p:cNvSpPr txBox="1"/>
          <p:nvPr/>
        </p:nvSpPr>
        <p:spPr>
          <a:xfrm>
            <a:off x="548640" y="1737360"/>
            <a:ext cx="11094415" cy="1280160"/>
          </a:xfrm>
          <a:prstGeom prst="rect">
            <a:avLst/>
          </a:prstGeom>
          <a:noFill/>
        </p:spPr>
        <p:txBody>
          <a:bodyPr wrap="square" lIns="0" tIns="0" rIns="0" bIns="0" anchor="t">
            <a:noAutofit/>
          </a:bodyPr>
          <a:lstStyle/>
          <a:p>
            <a:pPr algn="l">
              <a:spcAft>
                <a:spcPts val="0"/>
              </a:spcAft>
            </a:pPr>
            <a:r>
              <a:rPr sz="3000" b="1" dirty="0">
                <a:solidFill>
                  <a:srgbClr val="000000"/>
                </a:solidFill>
              </a:rPr>
              <a:t>We </a:t>
            </a:r>
            <a:r>
              <a:rPr lang="en-US" sz="3000" b="1" dirty="0">
                <a:solidFill>
                  <a:srgbClr val="000000"/>
                </a:solidFill>
              </a:rPr>
              <a:t>argue</a:t>
            </a:r>
            <a:r>
              <a:rPr sz="3000" b="1" dirty="0">
                <a:solidFill>
                  <a:srgbClr val="000000"/>
                </a:solidFill>
              </a:rPr>
              <a:t> models should work to serve democracy while remaining non-partisan.</a:t>
            </a:r>
          </a:p>
        </p:txBody>
      </p:sp>
      <p:sp>
        <p:nvSpPr>
          <p:cNvPr id="6" name="TextBox 5"/>
          <p:cNvSpPr txBox="1"/>
          <p:nvPr/>
        </p:nvSpPr>
        <p:spPr>
          <a:xfrm>
            <a:off x="548640"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a:t>
            </a:r>
          </a:p>
        </p:txBody>
      </p:sp>
      <p:sp>
        <p:nvSpPr>
          <p:cNvPr id="7" name="TextBox 6"/>
          <p:cNvSpPr txBox="1"/>
          <p:nvPr/>
        </p:nvSpPr>
        <p:spPr>
          <a:xfrm>
            <a:off x="548640"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Don’t help undermine trust in legitimate election results</a:t>
            </a:r>
          </a:p>
        </p:txBody>
      </p:sp>
      <p:sp>
        <p:nvSpPr>
          <p:cNvPr id="8" name="TextBox 7"/>
          <p:cNvSpPr txBox="1"/>
          <p:nvPr/>
        </p:nvSpPr>
        <p:spPr>
          <a:xfrm>
            <a:off x="6324447" y="356616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a:t>
            </a:r>
          </a:p>
        </p:txBody>
      </p:sp>
      <p:sp>
        <p:nvSpPr>
          <p:cNvPr id="9" name="TextBox 8"/>
          <p:cNvSpPr txBox="1"/>
          <p:nvPr/>
        </p:nvSpPr>
        <p:spPr>
          <a:xfrm>
            <a:off x="6324447" y="40690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Treat every asker, and both parties, the same</a:t>
            </a:r>
          </a:p>
        </p:txBody>
      </p:sp>
      <p:sp>
        <p:nvSpPr>
          <p:cNvPr id="10" name="TextBox 9"/>
          <p:cNvSpPr txBox="1"/>
          <p:nvPr/>
        </p:nvSpPr>
        <p:spPr>
          <a:xfrm>
            <a:off x="548640" y="5394960"/>
            <a:ext cx="11094415" cy="411480"/>
          </a:xfrm>
          <a:prstGeom prst="rect">
            <a:avLst/>
          </a:prstGeom>
          <a:noFill/>
        </p:spPr>
        <p:txBody>
          <a:bodyPr wrap="square" lIns="0" tIns="0" rIns="0" bIns="0" anchor="t">
            <a:noAutofit/>
          </a:bodyPr>
          <a:lstStyle/>
          <a:p>
            <a:pPr algn="l">
              <a:spcAft>
                <a:spcPts val="600"/>
              </a:spcAft>
            </a:pPr>
            <a:r>
              <a:rPr sz="2000" b="1" dirty="0">
                <a:solidFill>
                  <a:srgbClr val="000000"/>
                </a:solidFill>
              </a:rPr>
              <a:t>The tension: </a:t>
            </a:r>
            <a:r>
              <a:rPr sz="2000" b="0" dirty="0">
                <a:solidFill>
                  <a:srgbClr val="000000"/>
                </a:solidFill>
              </a:rPr>
              <a:t>each party has its own “stolen election” story, so pushing back can look partisan.</a:t>
            </a:r>
          </a:p>
        </p:txBody>
      </p:sp>
    </p:spTree>
    <p:extLst>
      <p:ext uri="{BB962C8B-B14F-4D97-AF65-F5344CB8AC3E}">
        <p14:creationId xmlns:p14="http://schemas.microsoft.com/office/powerpoint/2010/main" val="569281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cover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4</a:t>
            </a:fld>
            <a:endParaRPr lang="en-US" sz="1000">
              <a:solidFill>
                <a:srgbClr val="898781"/>
              </a:solidFill>
            </a:endParaRPr>
          </a:p>
        </p:txBody>
      </p:sp>
      <p:sp>
        <p:nvSpPr>
          <p:cNvPr id="4" name="Part 1 number"/>
          <p:cNvSpPr txBox="1"/>
          <p:nvPr/>
        </p:nvSpPr>
        <p:spPr>
          <a:xfrm>
            <a:off x="548640" y="160020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1</a:t>
            </a:r>
          </a:p>
        </p:txBody>
      </p:sp>
      <p:sp>
        <p:nvSpPr>
          <p:cNvPr id="5" name="Part 1"/>
          <p:cNvSpPr txBox="1"/>
          <p:nvPr/>
        </p:nvSpPr>
        <p:spPr>
          <a:xfrm>
            <a:off x="1188719" y="160020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Prior work: refusal runs through one direction</a:t>
            </a:r>
          </a:p>
        </p:txBody>
      </p:sp>
      <p:sp>
        <p:nvSpPr>
          <p:cNvPr id="6" name="Part 1 slide"/>
          <p:cNvSpPr txBox="1"/>
          <p:nvPr/>
        </p:nvSpPr>
        <p:spPr>
          <a:xfrm>
            <a:off x="10271455" y="163677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5</a:t>
            </a:r>
          </a:p>
        </p:txBody>
      </p:sp>
      <p:sp>
        <p:nvSpPr>
          <p:cNvPr id="7" name="Part 2 number"/>
          <p:cNvSpPr txBox="1"/>
          <p:nvPr/>
        </p:nvSpPr>
        <p:spPr>
          <a:xfrm>
            <a:off x="548640" y="21488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2</a:t>
            </a:r>
          </a:p>
        </p:txBody>
      </p:sp>
      <p:sp>
        <p:nvSpPr>
          <p:cNvPr id="8" name="Part 2"/>
          <p:cNvSpPr txBox="1"/>
          <p:nvPr/>
        </p:nvSpPr>
        <p:spPr>
          <a:xfrm>
            <a:off x="1188719" y="21488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Our question and what we did</a:t>
            </a:r>
          </a:p>
        </p:txBody>
      </p:sp>
      <p:sp>
        <p:nvSpPr>
          <p:cNvPr id="9" name="Part 2 slide"/>
          <p:cNvSpPr txBox="1"/>
          <p:nvPr/>
        </p:nvSpPr>
        <p:spPr>
          <a:xfrm>
            <a:off x="10271455" y="21854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6</a:t>
            </a:r>
          </a:p>
        </p:txBody>
      </p:sp>
      <p:sp>
        <p:nvSpPr>
          <p:cNvPr id="10" name="Part 3 number"/>
          <p:cNvSpPr txBox="1"/>
          <p:nvPr/>
        </p:nvSpPr>
        <p:spPr>
          <a:xfrm>
            <a:off x="548640" y="269748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3</a:t>
            </a:r>
          </a:p>
        </p:txBody>
      </p:sp>
      <p:sp>
        <p:nvSpPr>
          <p:cNvPr id="11" name="Part 3"/>
          <p:cNvSpPr txBox="1"/>
          <p:nvPr/>
        </p:nvSpPr>
        <p:spPr>
          <a:xfrm>
            <a:off x="1188719" y="269748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Setup: 920 prompts, two judges</a:t>
            </a:r>
          </a:p>
        </p:txBody>
      </p:sp>
      <p:sp>
        <p:nvSpPr>
          <p:cNvPr id="12" name="Part 3 slide"/>
          <p:cNvSpPr txBox="1"/>
          <p:nvPr/>
        </p:nvSpPr>
        <p:spPr>
          <a:xfrm>
            <a:off x="10271455" y="273405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8</a:t>
            </a:r>
          </a:p>
        </p:txBody>
      </p:sp>
      <p:sp>
        <p:nvSpPr>
          <p:cNvPr id="13" name="Part 4 number"/>
          <p:cNvSpPr txBox="1"/>
          <p:nvPr/>
        </p:nvSpPr>
        <p:spPr>
          <a:xfrm>
            <a:off x="548640" y="324612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4</a:t>
            </a:r>
          </a:p>
        </p:txBody>
      </p:sp>
      <p:sp>
        <p:nvSpPr>
          <p:cNvPr id="14" name="Part 4"/>
          <p:cNvSpPr txBox="1"/>
          <p:nvPr/>
        </p:nvSpPr>
        <p:spPr>
          <a:xfrm>
            <a:off x="1188719" y="324612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What we found, at a glance</a:t>
            </a:r>
          </a:p>
        </p:txBody>
      </p:sp>
      <p:sp>
        <p:nvSpPr>
          <p:cNvPr id="15" name="Part 4 slide"/>
          <p:cNvSpPr txBox="1"/>
          <p:nvPr/>
        </p:nvSpPr>
        <p:spPr>
          <a:xfrm>
            <a:off x="10271455" y="328269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10</a:t>
            </a:r>
          </a:p>
        </p:txBody>
      </p:sp>
      <p:sp>
        <p:nvSpPr>
          <p:cNvPr id="16" name="Part 5 number"/>
          <p:cNvSpPr txBox="1"/>
          <p:nvPr/>
        </p:nvSpPr>
        <p:spPr>
          <a:xfrm>
            <a:off x="548640" y="379476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5</a:t>
            </a:r>
          </a:p>
        </p:txBody>
      </p:sp>
      <p:sp>
        <p:nvSpPr>
          <p:cNvPr id="17" name="Part 5"/>
          <p:cNvSpPr txBox="1"/>
          <p:nvPr/>
        </p:nvSpPr>
        <p:spPr>
          <a:xfrm>
            <a:off x="1188719" y="379476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What the models do: own side, not party</a:t>
            </a:r>
          </a:p>
        </p:txBody>
      </p:sp>
      <p:sp>
        <p:nvSpPr>
          <p:cNvPr id="18" name="Part 5 slide"/>
          <p:cNvSpPr txBox="1"/>
          <p:nvPr/>
        </p:nvSpPr>
        <p:spPr>
          <a:xfrm>
            <a:off x="10271455" y="383133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11</a:t>
            </a:r>
          </a:p>
        </p:txBody>
      </p:sp>
      <p:sp>
        <p:nvSpPr>
          <p:cNvPr id="19" name="Part 6 number"/>
          <p:cNvSpPr txBox="1"/>
          <p:nvPr/>
        </p:nvSpPr>
        <p:spPr>
          <a:xfrm>
            <a:off x="548640" y="434340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6</a:t>
            </a:r>
          </a:p>
        </p:txBody>
      </p:sp>
      <p:sp>
        <p:nvSpPr>
          <p:cNvPr id="20" name="Part 6"/>
          <p:cNvSpPr txBox="1"/>
          <p:nvPr/>
        </p:nvSpPr>
        <p:spPr>
          <a:xfrm>
            <a:off x="1188719" y="434340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Inside the model: where the gap appears and what carries it</a:t>
            </a:r>
          </a:p>
        </p:txBody>
      </p:sp>
      <p:sp>
        <p:nvSpPr>
          <p:cNvPr id="21" name="Part 6 slide"/>
          <p:cNvSpPr txBox="1"/>
          <p:nvPr/>
        </p:nvSpPr>
        <p:spPr>
          <a:xfrm>
            <a:off x="10271455" y="437997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13</a:t>
            </a:r>
          </a:p>
        </p:txBody>
      </p:sp>
      <p:sp>
        <p:nvSpPr>
          <p:cNvPr id="22" name="Part 7 number"/>
          <p:cNvSpPr txBox="1"/>
          <p:nvPr/>
        </p:nvSpPr>
        <p:spPr>
          <a:xfrm>
            <a:off x="548640" y="489204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7</a:t>
            </a:r>
          </a:p>
        </p:txBody>
      </p:sp>
      <p:sp>
        <p:nvSpPr>
          <p:cNvPr id="23" name="Part 7"/>
          <p:cNvSpPr txBox="1"/>
          <p:nvPr/>
        </p:nvSpPr>
        <p:spPr>
          <a:xfrm>
            <a:off x="1188719" y="489204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Extension: language and censorship</a:t>
            </a:r>
          </a:p>
        </p:txBody>
      </p:sp>
      <p:sp>
        <p:nvSpPr>
          <p:cNvPr id="24" name="Part 7 slide"/>
          <p:cNvSpPr txBox="1"/>
          <p:nvPr/>
        </p:nvSpPr>
        <p:spPr>
          <a:xfrm>
            <a:off x="10271455" y="492861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20</a:t>
            </a:r>
          </a:p>
        </p:txBody>
      </p:sp>
      <p:sp>
        <p:nvSpPr>
          <p:cNvPr id="25" name="Part 8 number"/>
          <p:cNvSpPr txBox="1"/>
          <p:nvPr/>
        </p:nvSpPr>
        <p:spPr>
          <a:xfrm>
            <a:off x="548640" y="5440680"/>
            <a:ext cx="548640" cy="411480"/>
          </a:xfrm>
          <a:prstGeom prst="rect">
            <a:avLst/>
          </a:prstGeom>
          <a:noFill/>
        </p:spPr>
        <p:txBody>
          <a:bodyPr wrap="square" lIns="0" tIns="0" rIns="0" bIns="0" anchor="t">
            <a:noAutofit/>
          </a:bodyPr>
          <a:lstStyle/>
          <a:p>
            <a:pPr algn="l">
              <a:spcAft>
                <a:spcPts val="600"/>
              </a:spcAft>
            </a:pPr>
            <a:r>
              <a:rPr sz="2200" b="1">
                <a:solidFill>
                  <a:srgbClr val="000000"/>
                </a:solidFill>
              </a:rPr>
              <a:t>8</a:t>
            </a:r>
          </a:p>
        </p:txBody>
      </p:sp>
      <p:sp>
        <p:nvSpPr>
          <p:cNvPr id="26" name="Part 8"/>
          <p:cNvSpPr txBox="1"/>
          <p:nvPr/>
        </p:nvSpPr>
        <p:spPr>
          <a:xfrm>
            <a:off x="1188719" y="5440680"/>
            <a:ext cx="9265615" cy="411480"/>
          </a:xfrm>
          <a:prstGeom prst="rect">
            <a:avLst/>
          </a:prstGeom>
          <a:noFill/>
        </p:spPr>
        <p:txBody>
          <a:bodyPr wrap="square" lIns="0" tIns="0" rIns="0" bIns="0" anchor="t">
            <a:noAutofit/>
          </a:bodyPr>
          <a:lstStyle/>
          <a:p>
            <a:pPr algn="l">
              <a:spcAft>
                <a:spcPts val="600"/>
              </a:spcAft>
            </a:pPr>
            <a:r>
              <a:rPr sz="2200" b="0">
                <a:solidFill>
                  <a:srgbClr val="000000"/>
                </a:solidFill>
              </a:rPr>
              <a:t>Takeaways and next steps</a:t>
            </a:r>
          </a:p>
        </p:txBody>
      </p:sp>
      <p:sp>
        <p:nvSpPr>
          <p:cNvPr id="27" name="Part 8 slide"/>
          <p:cNvSpPr txBox="1"/>
          <p:nvPr/>
        </p:nvSpPr>
        <p:spPr>
          <a:xfrm>
            <a:off x="10271455" y="5477256"/>
            <a:ext cx="1371600" cy="365760"/>
          </a:xfrm>
          <a:prstGeom prst="rect">
            <a:avLst/>
          </a:prstGeom>
          <a:noFill/>
        </p:spPr>
        <p:txBody>
          <a:bodyPr wrap="square" lIns="0" tIns="0" rIns="0" bIns="0" anchor="t">
            <a:noAutofit/>
          </a:bodyPr>
          <a:lstStyle/>
          <a:p>
            <a:pPr algn="r">
              <a:spcAft>
                <a:spcPts val="600"/>
              </a:spcAft>
            </a:pPr>
            <a:r>
              <a:rPr sz="1600" b="0">
                <a:solidFill>
                  <a:srgbClr val="898781"/>
                </a:solidFill>
              </a:rPr>
              <a:t>21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 work: refusal is mediated by a single direction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5</a:t>
            </a:fld>
            <a:endParaRPr lang="en-US" sz="1000">
              <a:solidFill>
                <a:srgbClr val="898781"/>
              </a:solidFill>
            </a:endParaRPr>
          </a:p>
        </p:txBody>
      </p:sp>
      <p:sp>
        <p:nvSpPr>
          <p:cNvPr id="4" name="TextBox 3"/>
          <p:cNvSpPr txBox="1"/>
          <p:nvPr/>
        </p:nvSpPr>
        <p:spPr>
          <a:xfrm>
            <a:off x="548640" y="1371600"/>
            <a:ext cx="11094415" cy="320040"/>
          </a:xfrm>
          <a:prstGeom prst="rect">
            <a:avLst/>
          </a:prstGeom>
          <a:noFill/>
        </p:spPr>
        <p:txBody>
          <a:bodyPr wrap="square" lIns="0" tIns="0" rIns="0" bIns="0" anchor="t">
            <a:noAutofit/>
          </a:bodyPr>
          <a:lstStyle/>
          <a:p>
            <a:pPr algn="l">
              <a:spcAft>
                <a:spcPts val="600"/>
              </a:spcAft>
            </a:pPr>
            <a:r>
              <a:rPr sz="1400" b="0">
                <a:solidFill>
                  <a:srgbClr val="52514E"/>
                </a:solidFill>
              </a:rPr>
              <a:t>Arditi, Obeso, Syed, Paleka, Panickssery, Gurnee &amp; Nanda (2024), arXiv 2406.11717</a:t>
            </a:r>
          </a:p>
        </p:txBody>
      </p:sp>
      <p:pic>
        <p:nvPicPr>
          <p:cNvPr id="5" name="slide_method.png" descr="Schematic of Arditi et al.'s method: the refusal direction is the harmful-minus-harmless mean activation; removing it makes the model answer a harmful request; adding it makes the model refuse a harmless one."/>
          <p:cNvPicPr>
            <a:picLocks noChangeAspect="1"/>
          </p:cNvPicPr>
          <p:nvPr/>
        </p:nvPicPr>
        <p:blipFill>
          <a:blip r:embed="rId3"/>
          <a:stretch>
            <a:fillRect/>
          </a:stretch>
        </p:blipFill>
        <p:spPr>
          <a:xfrm>
            <a:off x="548640" y="1802698"/>
            <a:ext cx="11094415" cy="2383923"/>
          </a:xfrm>
          <a:prstGeom prst="rect">
            <a:avLst/>
          </a:prstGeom>
        </p:spPr>
      </p:pic>
      <p:sp>
        <p:nvSpPr>
          <p:cNvPr id="6" name="TextBox 5"/>
          <p:cNvSpPr txBox="1"/>
          <p:nvPr/>
        </p:nvSpPr>
        <p:spPr>
          <a:xfrm>
            <a:off x="548640" y="4434840"/>
            <a:ext cx="11094415" cy="777240"/>
          </a:xfrm>
          <a:prstGeom prst="rect">
            <a:avLst/>
          </a:prstGeom>
          <a:noFill/>
        </p:spPr>
        <p:txBody>
          <a:bodyPr wrap="square" lIns="0" tIns="0" rIns="0" bIns="0" anchor="t">
            <a:noAutofit/>
          </a:bodyPr>
          <a:lstStyle/>
          <a:p>
            <a:pPr marL="274320" indent="-274320" algn="l">
              <a:spcAft>
                <a:spcPts val="800"/>
              </a:spcAft>
              <a:buChar char="•"/>
            </a:pPr>
            <a:r>
              <a:rPr sz="1800" b="0">
                <a:solidFill>
                  <a:srgbClr val="000000"/>
                </a:solidFill>
              </a:rPr>
              <a:t>The same holds in 13 open-source chat models, up to 72B parameters</a:t>
            </a:r>
          </a:p>
          <a:p>
            <a:pPr marL="274320" indent="-274320" algn="l">
              <a:spcAft>
                <a:spcPts val="800"/>
              </a:spcAft>
              <a:buChar char="•"/>
            </a:pPr>
            <a:r>
              <a:rPr sz="1800" b="0">
                <a:solidFill>
                  <a:srgbClr val="000000"/>
                </a:solidFill>
              </a:rPr>
              <a:t>Editing it out of the weights is a jailbreak: safety fine-tuning is brittle</a:t>
            </a:r>
          </a:p>
        </p:txBody>
      </p:sp>
      <p:sp>
        <p:nvSpPr>
          <p:cNvPr id="7" name="TextBox 6"/>
          <p:cNvSpPr txBox="1"/>
          <p:nvPr/>
        </p:nvSpPr>
        <p:spPr>
          <a:xfrm>
            <a:off x="548640" y="5486400"/>
            <a:ext cx="11094415" cy="365760"/>
          </a:xfrm>
          <a:prstGeom prst="rect">
            <a:avLst/>
          </a:prstGeom>
          <a:noFill/>
        </p:spPr>
        <p:txBody>
          <a:bodyPr wrap="square" lIns="0" tIns="0" rIns="0" bIns="0" anchor="t">
            <a:noAutofit/>
          </a:bodyPr>
          <a:lstStyle/>
          <a:p>
            <a:pPr algn="l">
              <a:spcAft>
                <a:spcPts val="600"/>
              </a:spcAft>
            </a:pPr>
            <a:r>
              <a:rPr sz="1600" b="0">
                <a:solidFill>
                  <a:srgbClr val="52514E"/>
                </a:solidFill>
              </a:rPr>
              <a:t>We reuse their method and prompts unchanged, then ask whether the direction treats askers differently.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Our question: is that direction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6</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Why it matters</a:t>
            </a:r>
          </a:p>
        </p:txBody>
      </p:sp>
      <p:sp>
        <p:nvSpPr>
          <p:cNvPr id="5" name="TextBox 4"/>
          <p:cNvSpPr txBox="1"/>
          <p:nvPr/>
        </p:nvSpPr>
        <p:spPr>
          <a:xfrm>
            <a:off x="548640"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People ask chat models about elections</a:t>
            </a:r>
          </a:p>
          <a:p>
            <a:pPr marL="274320" indent="-274320" algn="l">
              <a:spcAft>
                <a:spcPts val="1200"/>
              </a:spcAft>
              <a:buChar char="•"/>
            </a:pPr>
            <a:r>
              <a:rPr sz="1800" b="0">
                <a:solidFill>
                  <a:srgbClr val="000000"/>
                </a:solidFill>
              </a:rPr>
              <a:t>If refusals depend on who is asking, safety behavior is uneven by group</a:t>
            </a:r>
          </a:p>
          <a:p>
            <a:pPr marL="274320" indent="-274320" algn="l">
              <a:spcAft>
                <a:spcPts val="1200"/>
              </a:spcAft>
              <a:buChar char="•"/>
            </a:pPr>
            <a:r>
              <a:rPr sz="1800" b="0">
                <a:solidFill>
                  <a:srgbClr val="000000"/>
                </a:solidFill>
              </a:rPr>
              <a:t>“Stolen election” requests are harmful and partisan, and both parties have their own version</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What we build on</a:t>
            </a:r>
          </a:p>
        </p:txBody>
      </p:sp>
      <p:sp>
        <p:nvSpPr>
          <p:cNvPr id="7" name="TextBox 6"/>
          <p:cNvSpPr txBox="1"/>
          <p:nvPr/>
        </p:nvSpPr>
        <p:spPr>
          <a:xfrm>
            <a:off x="6324447" y="2148840"/>
            <a:ext cx="5318607" cy="3200400"/>
          </a:xfrm>
          <a:prstGeom prst="rect">
            <a:avLst/>
          </a:prstGeom>
          <a:noFill/>
        </p:spPr>
        <p:txBody>
          <a:bodyPr wrap="square" lIns="0" tIns="0" rIns="0" bIns="0" anchor="t">
            <a:noAutofit/>
          </a:bodyPr>
          <a:lstStyle/>
          <a:p>
            <a:pPr marL="274320" indent="-274320" algn="l">
              <a:spcAft>
                <a:spcPts val="1200"/>
              </a:spcAft>
              <a:buChar char="•"/>
            </a:pPr>
            <a:r>
              <a:rPr sz="1800" b="1">
                <a:solidFill>
                  <a:srgbClr val="000000"/>
                </a:solidFill>
              </a:rPr>
              <a:t>Arditi et al. 2024: </a:t>
            </a:r>
            <a:r>
              <a:rPr sz="1800" b="0">
                <a:solidFill>
                  <a:srgbClr val="000000"/>
                </a:solidFill>
              </a:rPr>
              <a:t>their method and harmful/harmless prompts, used unchanged</a:t>
            </a:r>
          </a:p>
          <a:p>
            <a:pPr marL="274320" indent="-274320" algn="l">
              <a:spcAft>
                <a:spcPts val="1200"/>
              </a:spcAft>
              <a:buChar char="•"/>
            </a:pPr>
            <a:r>
              <a:rPr sz="1800" b="1">
                <a:solidFill>
                  <a:srgbClr val="000000"/>
                </a:solidFill>
              </a:rPr>
              <a:t>“There Is More to Refusal than a Single Direction” </a:t>
            </a:r>
            <a:r>
              <a:rPr sz="1800" b="0">
                <a:solidFill>
                  <a:srgbClr val="000000"/>
                </a:solidFill>
              </a:rPr>
              <a:t>(arXiv 2602.02132)</a:t>
            </a:r>
          </a:p>
          <a:p>
            <a:pPr marL="274320" indent="-274320" algn="l">
              <a:spcAft>
                <a:spcPts val="1200"/>
              </a:spcAft>
              <a:buChar char="•"/>
            </a:pPr>
            <a:r>
              <a:rPr sz="1800" b="0">
                <a:solidFill>
                  <a:srgbClr val="000000"/>
                </a:solidFill>
              </a:rPr>
              <a:t>Our 3B pilot and the TA’s feedback, which reshaped the design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did: from prompts to causal tests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7</a:t>
            </a:fld>
            <a:endParaRPr lang="en-US" sz="1000">
              <a:solidFill>
                <a:srgbClr val="898781"/>
              </a:solidFill>
            </a:endParaRPr>
          </a:p>
        </p:txBody>
      </p:sp>
      <p:sp>
        <p:nvSpPr>
          <p:cNvPr id="4" name="TextBox 3"/>
          <p:cNvSpPr txBox="1"/>
          <p:nvPr/>
        </p:nvSpPr>
        <p:spPr>
          <a:xfrm>
            <a:off x="548640"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1</a:t>
            </a:r>
          </a:p>
        </p:txBody>
      </p:sp>
      <p:sp>
        <p:nvSpPr>
          <p:cNvPr id="5" name="TextBox 4"/>
          <p:cNvSpPr txBox="1"/>
          <p:nvPr/>
        </p:nvSpPr>
        <p:spPr>
          <a:xfrm>
            <a:off x="548640"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Build prompts</a:t>
            </a:r>
          </a:p>
        </p:txBody>
      </p:sp>
      <p:sp>
        <p:nvSpPr>
          <p:cNvPr id="6" name="TextBox 5"/>
          <p:cNvSpPr txBox="1"/>
          <p:nvPr/>
        </p:nvSpPr>
        <p:spPr>
          <a:xfrm>
            <a:off x="548640"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920 requests: 5 askers × 8 elections × 23 requests, so only the asker changes</a:t>
            </a:r>
          </a:p>
        </p:txBody>
      </p:sp>
      <p:sp>
        <p:nvSpPr>
          <p:cNvPr id="7" name="TextBox 6"/>
          <p:cNvSpPr txBox="1"/>
          <p:nvPr/>
        </p:nvSpPr>
        <p:spPr>
          <a:xfrm>
            <a:off x="548640" y="4480560"/>
            <a:ext cx="1999427" cy="320040"/>
          </a:xfrm>
          <a:prstGeom prst="rect">
            <a:avLst/>
          </a:prstGeom>
          <a:noFill/>
        </p:spPr>
        <p:txBody>
          <a:bodyPr wrap="square" lIns="0" tIns="0" rIns="0" bIns="0" anchor="t">
            <a:noAutofit/>
          </a:bodyPr>
          <a:lstStyle/>
          <a:p>
            <a:pPr algn="l">
              <a:spcAft>
                <a:spcPts val="0"/>
              </a:spcAft>
            </a:pPr>
            <a:r>
              <a:rPr sz="1400" b="0">
                <a:solidFill>
                  <a:srgbClr val="898781"/>
                </a:solidFill>
              </a:rPr>
              <a:t>slide 8</a:t>
            </a:r>
          </a:p>
        </p:txBody>
      </p:sp>
      <p:sp>
        <p:nvSpPr>
          <p:cNvPr id="8" name="TextBox 7"/>
          <p:cNvSpPr txBox="1"/>
          <p:nvPr/>
        </p:nvSpPr>
        <p:spPr>
          <a:xfrm>
            <a:off x="2822387"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2</a:t>
            </a:r>
          </a:p>
        </p:txBody>
      </p:sp>
      <p:sp>
        <p:nvSpPr>
          <p:cNvPr id="9" name="TextBox 8"/>
          <p:cNvSpPr txBox="1"/>
          <p:nvPr/>
        </p:nvSpPr>
        <p:spPr>
          <a:xfrm>
            <a:off x="2822387"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Generate and judge</a:t>
            </a:r>
          </a:p>
        </p:txBody>
      </p:sp>
      <p:sp>
        <p:nvSpPr>
          <p:cNvPr id="10" name="TextBox 9"/>
          <p:cNvSpPr txBox="1"/>
          <p:nvPr/>
        </p:nvSpPr>
        <p:spPr>
          <a:xfrm>
            <a:off x="2822387"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Both models reply to every prompt; two judges score whether each reply did the task</a:t>
            </a:r>
          </a:p>
        </p:txBody>
      </p:sp>
      <p:sp>
        <p:nvSpPr>
          <p:cNvPr id="11" name="TextBox 10"/>
          <p:cNvSpPr txBox="1"/>
          <p:nvPr/>
        </p:nvSpPr>
        <p:spPr>
          <a:xfrm>
            <a:off x="2822387" y="4480560"/>
            <a:ext cx="1999427" cy="320040"/>
          </a:xfrm>
          <a:prstGeom prst="rect">
            <a:avLst/>
          </a:prstGeom>
          <a:noFill/>
        </p:spPr>
        <p:txBody>
          <a:bodyPr wrap="square" lIns="0" tIns="0" rIns="0" bIns="0" anchor="t">
            <a:noAutofit/>
          </a:bodyPr>
          <a:lstStyle/>
          <a:p>
            <a:pPr algn="l">
              <a:spcAft>
                <a:spcPts val="0"/>
              </a:spcAft>
            </a:pPr>
            <a:r>
              <a:rPr sz="1400" b="0">
                <a:solidFill>
                  <a:srgbClr val="898781"/>
                </a:solidFill>
              </a:rPr>
              <a:t>slide 9</a:t>
            </a:r>
          </a:p>
        </p:txBody>
      </p:sp>
      <p:sp>
        <p:nvSpPr>
          <p:cNvPr id="12" name="TextBox 11"/>
          <p:cNvSpPr txBox="1"/>
          <p:nvPr/>
        </p:nvSpPr>
        <p:spPr>
          <a:xfrm>
            <a:off x="5096134"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3</a:t>
            </a:r>
          </a:p>
        </p:txBody>
      </p:sp>
      <p:sp>
        <p:nvSpPr>
          <p:cNvPr id="13" name="TextBox 12"/>
          <p:cNvSpPr txBox="1"/>
          <p:nvPr/>
        </p:nvSpPr>
        <p:spPr>
          <a:xfrm>
            <a:off x="5096134"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Find the refusal direction</a:t>
            </a:r>
          </a:p>
        </p:txBody>
      </p:sp>
      <p:sp>
        <p:nvSpPr>
          <p:cNvPr id="14" name="TextBox 13"/>
          <p:cNvSpPr txBox="1"/>
          <p:nvPr/>
        </p:nvSpPr>
        <p:spPr>
          <a:xfrm>
            <a:off x="5096134"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Arditi et al.’s method in each model, from non-political prompts</a:t>
            </a:r>
          </a:p>
        </p:txBody>
      </p:sp>
      <p:sp>
        <p:nvSpPr>
          <p:cNvPr id="15" name="TextBox 14"/>
          <p:cNvSpPr txBox="1"/>
          <p:nvPr/>
        </p:nvSpPr>
        <p:spPr>
          <a:xfrm>
            <a:off x="5096134" y="4480560"/>
            <a:ext cx="1999427" cy="320040"/>
          </a:xfrm>
          <a:prstGeom prst="rect">
            <a:avLst/>
          </a:prstGeom>
          <a:noFill/>
        </p:spPr>
        <p:txBody>
          <a:bodyPr wrap="square" lIns="0" tIns="0" rIns="0" bIns="0" anchor="t">
            <a:noAutofit/>
          </a:bodyPr>
          <a:lstStyle/>
          <a:p>
            <a:pPr algn="l">
              <a:spcAft>
                <a:spcPts val="0"/>
              </a:spcAft>
            </a:pPr>
            <a:r>
              <a:rPr sz="1400" b="0">
                <a:solidFill>
                  <a:srgbClr val="898781"/>
                </a:solidFill>
              </a:rPr>
              <a:t>slide 13</a:t>
            </a:r>
          </a:p>
        </p:txBody>
      </p:sp>
      <p:sp>
        <p:nvSpPr>
          <p:cNvPr id="16" name="TextBox 15"/>
          <p:cNvSpPr txBox="1"/>
          <p:nvPr/>
        </p:nvSpPr>
        <p:spPr>
          <a:xfrm>
            <a:off x="7369881"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4</a:t>
            </a:r>
          </a:p>
        </p:txBody>
      </p:sp>
      <p:sp>
        <p:nvSpPr>
          <p:cNvPr id="17" name="TextBox 16"/>
          <p:cNvSpPr txBox="1"/>
          <p:nvPr/>
        </p:nvSpPr>
        <p:spPr>
          <a:xfrm>
            <a:off x="7369881"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Look inside</a:t>
            </a:r>
          </a:p>
        </p:txBody>
      </p:sp>
      <p:sp>
        <p:nvSpPr>
          <p:cNvPr id="18" name="TextBox 17"/>
          <p:cNvSpPr txBox="1"/>
          <p:nvPr/>
        </p:nvSpPr>
        <p:spPr>
          <a:xfrm>
            <a:off x="7369881"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Project every prompt onto the direction, layer by layer</a:t>
            </a:r>
          </a:p>
        </p:txBody>
      </p:sp>
      <p:sp>
        <p:nvSpPr>
          <p:cNvPr id="19" name="TextBox 18"/>
          <p:cNvSpPr txBox="1"/>
          <p:nvPr/>
        </p:nvSpPr>
        <p:spPr>
          <a:xfrm>
            <a:off x="7369881" y="4480560"/>
            <a:ext cx="1999427" cy="320040"/>
          </a:xfrm>
          <a:prstGeom prst="rect">
            <a:avLst/>
          </a:prstGeom>
          <a:noFill/>
        </p:spPr>
        <p:txBody>
          <a:bodyPr wrap="square" lIns="0" tIns="0" rIns="0" bIns="0" anchor="t">
            <a:noAutofit/>
          </a:bodyPr>
          <a:lstStyle/>
          <a:p>
            <a:pPr algn="l">
              <a:spcAft>
                <a:spcPts val="0"/>
              </a:spcAft>
            </a:pPr>
            <a:r>
              <a:rPr sz="1400" b="0">
                <a:solidFill>
                  <a:srgbClr val="898781"/>
                </a:solidFill>
              </a:rPr>
              <a:t>slide 14</a:t>
            </a:r>
          </a:p>
        </p:txBody>
      </p:sp>
      <p:sp>
        <p:nvSpPr>
          <p:cNvPr id="20" name="TextBox 19"/>
          <p:cNvSpPr txBox="1"/>
          <p:nvPr/>
        </p:nvSpPr>
        <p:spPr>
          <a:xfrm>
            <a:off x="9643628" y="1645920"/>
            <a:ext cx="1999427" cy="502920"/>
          </a:xfrm>
          <a:prstGeom prst="rect">
            <a:avLst/>
          </a:prstGeom>
          <a:noFill/>
        </p:spPr>
        <p:txBody>
          <a:bodyPr wrap="square" lIns="0" tIns="0" rIns="0" bIns="0" anchor="t">
            <a:noAutofit/>
          </a:bodyPr>
          <a:lstStyle/>
          <a:p>
            <a:pPr algn="l">
              <a:spcAft>
                <a:spcPts val="600"/>
              </a:spcAft>
            </a:pPr>
            <a:r>
              <a:rPr sz="2800" b="1">
                <a:solidFill>
                  <a:srgbClr val="000000"/>
                </a:solidFill>
              </a:rPr>
              <a:t>5</a:t>
            </a:r>
          </a:p>
        </p:txBody>
      </p:sp>
      <p:sp>
        <p:nvSpPr>
          <p:cNvPr id="21" name="TextBox 20"/>
          <p:cNvSpPr txBox="1"/>
          <p:nvPr/>
        </p:nvSpPr>
        <p:spPr>
          <a:xfrm>
            <a:off x="9643628" y="2240280"/>
            <a:ext cx="1999427" cy="640080"/>
          </a:xfrm>
          <a:prstGeom prst="rect">
            <a:avLst/>
          </a:prstGeom>
          <a:noFill/>
        </p:spPr>
        <p:txBody>
          <a:bodyPr wrap="square" lIns="0" tIns="0" rIns="0" bIns="0" anchor="t">
            <a:noAutofit/>
          </a:bodyPr>
          <a:lstStyle/>
          <a:p>
            <a:pPr algn="l">
              <a:spcAft>
                <a:spcPts val="600"/>
              </a:spcAft>
            </a:pPr>
            <a:r>
              <a:rPr sz="1800" b="1">
                <a:solidFill>
                  <a:srgbClr val="000000"/>
                </a:solidFill>
              </a:rPr>
              <a:t>Test causally</a:t>
            </a:r>
          </a:p>
        </p:txBody>
      </p:sp>
      <p:sp>
        <p:nvSpPr>
          <p:cNvPr id="22" name="TextBox 21"/>
          <p:cNvSpPr txBox="1"/>
          <p:nvPr/>
        </p:nvSpPr>
        <p:spPr>
          <a:xfrm>
            <a:off x="9643628" y="2926080"/>
            <a:ext cx="1999427" cy="1463040"/>
          </a:xfrm>
          <a:prstGeom prst="rect">
            <a:avLst/>
          </a:prstGeom>
          <a:noFill/>
        </p:spPr>
        <p:txBody>
          <a:bodyPr wrap="square" lIns="0" tIns="0" rIns="0" bIns="0" anchor="t">
            <a:noAutofit/>
          </a:bodyPr>
          <a:lstStyle/>
          <a:p>
            <a:pPr algn="l">
              <a:spcAft>
                <a:spcPts val="600"/>
              </a:spcAft>
            </a:pPr>
            <a:r>
              <a:rPr sz="1600" b="0">
                <a:solidFill>
                  <a:srgbClr val="52514E"/>
                </a:solidFill>
              </a:rPr>
              <a:t>Remove the direction, shift prompts along it, and compare with a second direction</a:t>
            </a:r>
          </a:p>
        </p:txBody>
      </p:sp>
      <p:sp>
        <p:nvSpPr>
          <p:cNvPr id="23" name="TextBox 22"/>
          <p:cNvSpPr txBox="1"/>
          <p:nvPr/>
        </p:nvSpPr>
        <p:spPr>
          <a:xfrm>
            <a:off x="9643628" y="4480560"/>
            <a:ext cx="1999427" cy="320040"/>
          </a:xfrm>
          <a:prstGeom prst="rect">
            <a:avLst/>
          </a:prstGeom>
          <a:noFill/>
        </p:spPr>
        <p:txBody>
          <a:bodyPr wrap="square" lIns="0" tIns="0" rIns="0" bIns="0" anchor="t">
            <a:noAutofit/>
          </a:bodyPr>
          <a:lstStyle/>
          <a:p>
            <a:pPr algn="l">
              <a:spcAft>
                <a:spcPts val="0"/>
              </a:spcAft>
            </a:pPr>
            <a:r>
              <a:rPr sz="1400" b="0">
                <a:solidFill>
                  <a:srgbClr val="898781"/>
                </a:solidFill>
              </a:rPr>
              <a:t>slide 16</a:t>
            </a:r>
          </a:p>
        </p:txBody>
      </p:sp>
      <p:sp>
        <p:nvSpPr>
          <p:cNvPr id="24" name="TextBox 23"/>
          <p:cNvSpPr txBox="1"/>
          <p:nvPr/>
        </p:nvSpPr>
        <p:spPr>
          <a:xfrm>
            <a:off x="548640" y="5257800"/>
            <a:ext cx="11094415" cy="685800"/>
          </a:xfrm>
          <a:prstGeom prst="rect">
            <a:avLst/>
          </a:prstGeom>
          <a:noFill/>
        </p:spPr>
        <p:txBody>
          <a:bodyPr wrap="square" lIns="0" tIns="0" rIns="0" bIns="0" anchor="t">
            <a:noAutofit/>
          </a:bodyPr>
          <a:lstStyle/>
          <a:p>
            <a:pPr algn="l">
              <a:spcAft>
                <a:spcPts val="600"/>
              </a:spcAft>
            </a:pPr>
            <a:r>
              <a:rPr sz="1600" b="0">
                <a:solidFill>
                  <a:srgbClr val="52514E"/>
                </a:solidFill>
              </a:rPr>
              <a:t>Models: Qwen2.5-7B-Instruct (Alibaba) and Llama-3.1-8B-Instruct (Meta). Extension: the same tests in English and Chinese (slide 20).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920 prompts where only the asker changes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8</a:t>
            </a:fld>
            <a:endParaRPr lang="en-US" sz="1000">
              <a:solidFill>
                <a:srgbClr val="898781"/>
              </a:solidFill>
            </a:endParaRPr>
          </a:p>
        </p:txBody>
      </p:sp>
      <p:pic>
        <p:nvPicPr>
          <p:cNvPr id="4" name="slide_design.png" descr="Diagram of the prompt set: one request under five askers, and the 2x2 of asker party by claim side that defines own side and other side."/>
          <p:cNvPicPr>
            <a:picLocks noChangeAspect="1"/>
          </p:cNvPicPr>
          <p:nvPr/>
        </p:nvPicPr>
        <p:blipFill>
          <a:blip r:embed="rId3"/>
          <a:stretch>
            <a:fillRect/>
          </a:stretch>
        </p:blipFill>
        <p:spPr>
          <a:xfrm>
            <a:off x="1378523" y="1371600"/>
            <a:ext cx="9434648" cy="4892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paper’s safety judge flags none of these replies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9</a:t>
            </a:fld>
            <a:endParaRPr lang="en-US" sz="1000">
              <a:solidFill>
                <a:srgbClr val="898781"/>
              </a:solidFill>
            </a:endParaRPr>
          </a:p>
        </p:txBody>
      </p:sp>
      <p:graphicFrame>
        <p:nvGraphicFramePr>
          <p:cNvPr id="4" name="Judges"/>
          <p:cNvGraphicFramePr>
            <a:graphicFrameLocks noGrp="1"/>
          </p:cNvGraphicFramePr>
          <p:nvPr/>
        </p:nvGraphicFramePr>
        <p:xfrm>
          <a:off x="548640" y="1645920"/>
          <a:ext cx="11091672" cy="1810512"/>
        </p:xfrm>
        <a:graphic>
          <a:graphicData uri="http://schemas.openxmlformats.org/drawingml/2006/table">
            <a:tbl>
              <a:tblPr firstRow="1">
                <a:tableStyleId>{2D5ABB26-0587-4C30-8999-92F81FD0307C}</a:tableStyleId>
              </a:tblPr>
              <a:tblGrid>
                <a:gridCol w="3931920">
                  <a:extLst>
                    <a:ext uri="{9D8B030D-6E8A-4147-A177-3AD203B41FA5}">
                      <a16:colId xmlns:a16="http://schemas.microsoft.com/office/drawing/2014/main" val="20000"/>
                    </a:ext>
                  </a:extLst>
                </a:gridCol>
                <a:gridCol w="7159752">
                  <a:extLst>
                    <a:ext uri="{9D8B030D-6E8A-4147-A177-3AD203B41FA5}">
                      <a16:colId xmlns:a16="http://schemas.microsoft.com/office/drawing/2014/main" val="20001"/>
                    </a:ext>
                  </a:extLst>
                </a:gridCol>
              </a:tblGrid>
              <a:tr h="384048">
                <a:tc>
                  <a:txBody>
                    <a:bodyPr/>
                    <a:lstStyle/>
                    <a:p>
                      <a:r>
                        <a:rPr sz="1800" b="1">
                          <a:solidFill>
                            <a:srgbClr val="000000"/>
                          </a:solidFill>
                        </a:rPr>
                        <a:t>Judge</a:t>
                      </a:r>
                    </a:p>
                  </a:txBody>
                  <a:tcPr marL="0" marR="73152" marT="54864" marB="54864">
                    <a:lnB w="19050">
                      <a:solidFill>
                        <a:srgbClr val="000000"/>
                      </a:solidFill>
                    </a:lnB>
                    <a:noFill/>
                  </a:tcPr>
                </a:tc>
                <a:tc>
                  <a:txBody>
                    <a:bodyPr/>
                    <a:lstStyle/>
                    <a:p>
                      <a:r>
                        <a:rPr sz="1800" b="1">
                          <a:solidFill>
                            <a:srgbClr val="000000"/>
                          </a:solidFill>
                        </a:rPr>
                        <a:t>On our replies</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84048">
                <a:tc>
                  <a:txBody>
                    <a:bodyPr/>
                    <a:lstStyle/>
                    <a:p>
                      <a:r>
                        <a:rPr sz="1800" b="0">
                          <a:solidFill>
                            <a:srgbClr val="000000"/>
                          </a:solidFill>
                        </a:rPr>
                        <a:t>Llama Guard 2 (the paper’s judge)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800" b="0">
                          <a:solidFill>
                            <a:srgbClr val="52514E"/>
                          </a:solidFill>
                        </a:rPr>
                        <a:t>Flags 0 replies, even ones that fully argue an election was stolen</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658368">
                <a:tc>
                  <a:txBody>
                    <a:bodyPr/>
                    <a:lstStyle/>
                    <a:p>
                      <a:r>
                        <a:rPr sz="1800" b="0">
                          <a:solidFill>
                            <a:srgbClr val="000000"/>
                          </a:solidFill>
                        </a:rPr>
                        <a:t>Llama Guard 3 + an election category</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76% agreement with blind human labels (κ = 0.51). Misses disclaimer-then-argue and question-form replies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84048">
                <a:tc>
                  <a:txBody>
                    <a:bodyPr/>
                    <a:lstStyle/>
                    <a:p>
                      <a:r>
                        <a:rPr sz="1800" b="0">
                          <a:solidFill>
                            <a:srgbClr val="000000"/>
                          </a:solidFill>
                        </a:rPr>
                        <a:t>Claude, written rubric</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800" b="0">
                          <a:solidFill>
                            <a:srgbClr val="52514E"/>
                          </a:solidFill>
                        </a:rPr>
                        <a:t>89% agreement with blind human labels (κ = 0.77)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
        <p:nvSpPr>
          <p:cNvPr id="5" name="TextBox 4"/>
          <p:cNvSpPr txBox="1"/>
          <p:nvPr/>
        </p:nvSpPr>
        <p:spPr>
          <a:xfrm>
            <a:off x="548640" y="3822192"/>
            <a:ext cx="11094415" cy="731520"/>
          </a:xfrm>
          <a:prstGeom prst="rect">
            <a:avLst/>
          </a:prstGeom>
          <a:noFill/>
        </p:spPr>
        <p:txBody>
          <a:bodyPr wrap="square" lIns="0" tIns="0" rIns="0" bIns="0" anchor="t">
            <a:noAutofit/>
          </a:bodyPr>
          <a:lstStyle/>
          <a:p>
            <a:pPr algn="l">
              <a:spcAft>
                <a:spcPts val="600"/>
              </a:spcAft>
            </a:pPr>
            <a:r>
              <a:rPr sz="1600" b="0">
                <a:solidFill>
                  <a:srgbClr val="52514E"/>
                </a:solidFill>
              </a:rPr>
              <a:t>Judges see the request with the asker removed. Human check: 50 replies from the 7B/8B models. Compare groups, not absolute rates: the judges differ by about 20 points on levels.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 found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10</a:t>
            </a:fld>
            <a:endParaRPr lang="en-US" sz="1000">
              <a:solidFill>
                <a:srgbClr val="898781"/>
              </a:solidFill>
            </a:endParaRPr>
          </a:p>
        </p:txBody>
      </p:sp>
      <p:sp>
        <p:nvSpPr>
          <p:cNvPr id="4" name="Finding 1 number"/>
          <p:cNvSpPr txBox="1"/>
          <p:nvPr/>
        </p:nvSpPr>
        <p:spPr>
          <a:xfrm>
            <a:off x="548640" y="150876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1</a:t>
            </a:r>
          </a:p>
        </p:txBody>
      </p:sp>
      <p:sp>
        <p:nvSpPr>
          <p:cNvPr id="5" name="Finding 1"/>
          <p:cNvSpPr txBox="1"/>
          <p:nvPr/>
        </p:nvSpPr>
        <p:spPr>
          <a:xfrm>
            <a:off x="1097280" y="155448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refusal direction is party-blind; the claims aren’t. </a:t>
            </a:r>
            <a:r>
              <a:rPr sz="1800" b="0">
                <a:solidFill>
                  <a:srgbClr val="52514E"/>
                </a:solidFill>
              </a:rPr>
              <a:t>It causes refusal equally for every asker, but other-side claims sit closer to refusal along it.</a:t>
            </a:r>
          </a:p>
        </p:txBody>
      </p:sp>
      <p:sp>
        <p:nvSpPr>
          <p:cNvPr id="6" name="Finding 1 slide"/>
          <p:cNvSpPr txBox="1"/>
          <p:nvPr/>
        </p:nvSpPr>
        <p:spPr>
          <a:xfrm>
            <a:off x="10362895" y="158191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27</a:t>
            </a:r>
          </a:p>
        </p:txBody>
      </p:sp>
      <p:sp>
        <p:nvSpPr>
          <p:cNvPr id="7" name="Finding 2 number"/>
          <p:cNvSpPr txBox="1"/>
          <p:nvPr/>
        </p:nvSpPr>
        <p:spPr>
          <a:xfrm>
            <a:off x="548640" y="2267712"/>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2</a:t>
            </a:r>
          </a:p>
        </p:txBody>
      </p:sp>
      <p:sp>
        <p:nvSpPr>
          <p:cNvPr id="8" name="Finding 2"/>
          <p:cNvSpPr txBox="1"/>
          <p:nvPr/>
        </p:nvSpPr>
        <p:spPr>
          <a:xfrm>
            <a:off x="1097280" y="2313432"/>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No party gap, but an own-side bias. </a:t>
            </a:r>
            <a:r>
              <a:rPr sz="1800" b="0">
                <a:solidFill>
                  <a:srgbClr val="52514E"/>
                </a:solidFill>
              </a:rPr>
              <a:t>Own-side requests get the content 7–15 points more often than other-side ones, in both models and under both judges.</a:t>
            </a:r>
          </a:p>
        </p:txBody>
      </p:sp>
      <p:sp>
        <p:nvSpPr>
          <p:cNvPr id="9" name="Finding 2 slide"/>
          <p:cNvSpPr txBox="1"/>
          <p:nvPr/>
        </p:nvSpPr>
        <p:spPr>
          <a:xfrm>
            <a:off x="10362895" y="2340863"/>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11</a:t>
            </a:r>
          </a:p>
        </p:txBody>
      </p:sp>
      <p:sp>
        <p:nvSpPr>
          <p:cNvPr id="10" name="Finding 3 number"/>
          <p:cNvSpPr txBox="1"/>
          <p:nvPr/>
        </p:nvSpPr>
        <p:spPr>
          <a:xfrm>
            <a:off x="548640" y="3026664"/>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3</a:t>
            </a:r>
          </a:p>
        </p:txBody>
      </p:sp>
      <p:sp>
        <p:nvSpPr>
          <p:cNvPr id="11" name="Finding 3"/>
          <p:cNvSpPr txBox="1"/>
          <p:nvPr/>
        </p:nvSpPr>
        <p:spPr>
          <a:xfrm>
            <a:off x="1097280" y="3072384"/>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A party label acts like any identity. </a:t>
            </a:r>
            <a:r>
              <a:rPr sz="1800" b="0">
                <a:solidFill>
                  <a:srgbClr val="52514E"/>
                </a:solidFill>
              </a:rPr>
              <a:t>“I’m a Lakers fan” lowers help about as much as naming a party.</a:t>
            </a:r>
          </a:p>
        </p:txBody>
      </p:sp>
      <p:sp>
        <p:nvSpPr>
          <p:cNvPr id="12" name="Finding 3 slide"/>
          <p:cNvSpPr txBox="1"/>
          <p:nvPr/>
        </p:nvSpPr>
        <p:spPr>
          <a:xfrm>
            <a:off x="10362895" y="3099815"/>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12</a:t>
            </a:r>
          </a:p>
        </p:txBody>
      </p:sp>
      <p:sp>
        <p:nvSpPr>
          <p:cNvPr id="13" name="Finding 4 number"/>
          <p:cNvSpPr txBox="1"/>
          <p:nvPr/>
        </p:nvSpPr>
        <p:spPr>
          <a:xfrm>
            <a:off x="548640" y="3785615"/>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4</a:t>
            </a:r>
          </a:p>
        </p:txBody>
      </p:sp>
      <p:sp>
        <p:nvSpPr>
          <p:cNvPr id="14" name="Finding 4"/>
          <p:cNvSpPr txBox="1"/>
          <p:nvPr/>
        </p:nvSpPr>
        <p:spPr>
          <a:xfrm>
            <a:off x="1097280" y="3831335"/>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The gap appears mid-network. </a:t>
            </a:r>
            <a:r>
              <a:rPr sz="1800" b="0">
                <a:solidFill>
                  <a:srgbClr val="52514E"/>
                </a:solidFill>
              </a:rPr>
              <a:t>Who is asking registers early; whose claim it is switches on where the refusal direction starts to work.</a:t>
            </a:r>
          </a:p>
        </p:txBody>
      </p:sp>
      <p:sp>
        <p:nvSpPr>
          <p:cNvPr id="15" name="Finding 4 slide"/>
          <p:cNvSpPr txBox="1"/>
          <p:nvPr/>
        </p:nvSpPr>
        <p:spPr>
          <a:xfrm>
            <a:off x="10362895" y="3858768"/>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14</a:t>
            </a:r>
          </a:p>
        </p:txBody>
      </p:sp>
      <p:sp>
        <p:nvSpPr>
          <p:cNvPr id="16" name="Finding 5 number"/>
          <p:cNvSpPr txBox="1"/>
          <p:nvPr/>
        </p:nvSpPr>
        <p:spPr>
          <a:xfrm>
            <a:off x="548640" y="4544568"/>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5</a:t>
            </a:r>
          </a:p>
        </p:txBody>
      </p:sp>
      <p:sp>
        <p:nvSpPr>
          <p:cNvPr id="17" name="Finding 5"/>
          <p:cNvSpPr txBox="1"/>
          <p:nvPr/>
        </p:nvSpPr>
        <p:spPr>
          <a:xfrm>
            <a:off x="1097280" y="4590288"/>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Llama’s gap runs through the refusal direction; Qwen’s mostly doesn’t. </a:t>
            </a:r>
            <a:r>
              <a:rPr sz="1800" b="0">
                <a:solidFill>
                  <a:srgbClr val="52514E"/>
                </a:solidFill>
              </a:rPr>
              <a:t>A 2× shift closes Llama’s gap; Qwen also uses a second direction for whose claim it is.</a:t>
            </a:r>
          </a:p>
        </p:txBody>
      </p:sp>
      <p:sp>
        <p:nvSpPr>
          <p:cNvPr id="18" name="Finding 5 slide"/>
          <p:cNvSpPr txBox="1"/>
          <p:nvPr/>
        </p:nvSpPr>
        <p:spPr>
          <a:xfrm>
            <a:off x="10362895" y="4617720"/>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17</a:t>
            </a:r>
          </a:p>
        </p:txBody>
      </p:sp>
      <p:sp>
        <p:nvSpPr>
          <p:cNvPr id="19" name="Finding 6 number"/>
          <p:cNvSpPr txBox="1"/>
          <p:nvPr/>
        </p:nvSpPr>
        <p:spPr>
          <a:xfrm>
            <a:off x="548640" y="5303520"/>
            <a:ext cx="457200" cy="457200"/>
          </a:xfrm>
          <a:prstGeom prst="rect">
            <a:avLst/>
          </a:prstGeom>
          <a:noFill/>
        </p:spPr>
        <p:txBody>
          <a:bodyPr wrap="square" lIns="0" tIns="0" rIns="0" bIns="0" anchor="t">
            <a:noAutofit/>
          </a:bodyPr>
          <a:lstStyle/>
          <a:p>
            <a:pPr algn="l">
              <a:spcAft>
                <a:spcPts val="600"/>
              </a:spcAft>
            </a:pPr>
            <a:r>
              <a:rPr sz="2400" b="1">
                <a:solidFill>
                  <a:srgbClr val="000000"/>
                </a:solidFill>
              </a:rPr>
              <a:t>6</a:t>
            </a:r>
          </a:p>
        </p:txBody>
      </p:sp>
      <p:sp>
        <p:nvSpPr>
          <p:cNvPr id="20" name="Finding 6"/>
          <p:cNvSpPr txBox="1"/>
          <p:nvPr/>
        </p:nvSpPr>
        <p:spPr>
          <a:xfrm>
            <a:off x="1097280" y="5349240"/>
            <a:ext cx="9265615" cy="685800"/>
          </a:xfrm>
          <a:prstGeom prst="rect">
            <a:avLst/>
          </a:prstGeom>
          <a:noFill/>
        </p:spPr>
        <p:txBody>
          <a:bodyPr wrap="square" lIns="0" tIns="0" rIns="0" bIns="0" anchor="t">
            <a:noAutofit/>
          </a:bodyPr>
          <a:lstStyle/>
          <a:p>
            <a:pPr algn="l">
              <a:spcAft>
                <a:spcPts val="0"/>
              </a:spcAft>
            </a:pPr>
            <a:r>
              <a:rPr sz="1800" b="1">
                <a:solidFill>
                  <a:srgbClr val="000000"/>
                </a:solidFill>
              </a:rPr>
              <a:t>In Chinese, Qwen censors more, and not through refusal. </a:t>
            </a:r>
            <a:r>
              <a:rPr sz="1800" b="0">
                <a:solidFill>
                  <a:srgbClr val="52514E"/>
                </a:solidFill>
              </a:rPr>
              <a:t>21% → 62% of China-sensitive requests, mostly official-line answers.</a:t>
            </a:r>
          </a:p>
        </p:txBody>
      </p:sp>
      <p:sp>
        <p:nvSpPr>
          <p:cNvPr id="21" name="Finding 6 slide"/>
          <p:cNvSpPr txBox="1"/>
          <p:nvPr/>
        </p:nvSpPr>
        <p:spPr>
          <a:xfrm>
            <a:off x="10362895" y="5376672"/>
            <a:ext cx="1280160" cy="320040"/>
          </a:xfrm>
          <a:prstGeom prst="rect">
            <a:avLst/>
          </a:prstGeom>
          <a:noFill/>
        </p:spPr>
        <p:txBody>
          <a:bodyPr wrap="square" lIns="0" tIns="0" rIns="0" bIns="0" anchor="t">
            <a:noAutofit/>
          </a:bodyPr>
          <a:lstStyle/>
          <a:p>
            <a:pPr algn="r">
              <a:spcAft>
                <a:spcPts val="0"/>
              </a:spcAft>
            </a:pPr>
            <a:r>
              <a:rPr sz="1400" b="0">
                <a:solidFill>
                  <a:srgbClr val="898781"/>
                </a:solidFill>
              </a:rPr>
              <a:t>slide 20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 party gap: the models favor the asker’s own side</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11</a:t>
            </a:fld>
            <a:endParaRPr lang="en-US" sz="1000">
              <a:solidFill>
                <a:srgbClr val="898781"/>
              </a:solidFill>
            </a:endParaRPr>
          </a:p>
        </p:txBody>
      </p:sp>
      <p:pic>
        <p:nvPicPr>
          <p:cNvPr id="4" name="slide_headline.png" descr="Dumbbell chart: did-the-task rates, Democrat vs Republican and own side vs other side, for Qwen2.5-7B and Llama-3.1-8B under both judges."/>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136 matched pairs per comparison, identical except for the asker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Lakers fan is treated like a partisan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12</a:t>
            </a:fld>
            <a:endParaRPr lang="en-US" sz="1000">
              <a:solidFill>
                <a:srgbClr val="898781"/>
              </a:solidFill>
            </a:endParaRPr>
          </a:p>
        </p:txBody>
      </p:sp>
      <p:pic>
        <p:nvPicPr>
          <p:cNvPr id="4" name="slide_identity.png" descr="Each stated identity minus 'I'm a voter', with 95% intervals, for both models and judges."/>
          <p:cNvPicPr>
            <a:picLocks noChangeAspect="1"/>
          </p:cNvPicPr>
          <p:nvPr/>
        </p:nvPicPr>
        <p:blipFill>
          <a:blip r:embed="rId3"/>
          <a:stretch>
            <a:fillRect/>
          </a:stretch>
        </p:blipFill>
        <p:spPr>
          <a:xfrm>
            <a:off x="548640" y="1703827"/>
            <a:ext cx="11094415" cy="3800864"/>
          </a:xfrm>
          <a:prstGeom prst="rect">
            <a:avLst/>
          </a:prstGeom>
        </p:spPr>
      </p:pic>
      <p:sp>
        <p:nvSpPr>
          <p:cNvPr id="5" name="Caption"/>
          <p:cNvSpPr txBox="1"/>
          <p:nvPr/>
        </p:nvSpPr>
        <p:spPr>
          <a:xfrm>
            <a:off x="548640" y="5687572"/>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Lakers fan minus voter: −11 (Qwen) and −4 points (Llama) under Llama Guard, −12 in both under Claude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refusal direction: layer 19 in Qwen, 13 in Llama</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13</a:t>
            </a:fld>
            <a:endParaRPr lang="en-US" sz="1000">
              <a:solidFill>
                <a:srgbClr val="898781"/>
              </a:solidFill>
            </a:endParaRPr>
          </a:p>
        </p:txBody>
      </p:sp>
      <p:pic>
        <p:nvPicPr>
          <p:cNvPr id="4" name="refusal_curve.png" descr="Refusal curve: ablation score of every candidate direction by layer, with the chosen layer marked, for both models."/>
          <p:cNvPicPr>
            <a:picLocks noChangeAspect="1"/>
          </p:cNvPicPr>
          <p:nvPr/>
        </p:nvPicPr>
        <p:blipFill>
          <a:blip r:embed="rId3"/>
          <a:stretch>
            <a:fillRect/>
          </a:stretch>
        </p:blipFill>
        <p:spPr>
          <a:xfrm>
            <a:off x="938932" y="1371600"/>
            <a:ext cx="6443174" cy="4892040"/>
          </a:xfrm>
          <a:prstGeom prst="rect">
            <a:avLst/>
          </a:prstGeom>
        </p:spPr>
      </p:pic>
      <p:sp>
        <p:nvSpPr>
          <p:cNvPr id="5" name="TextBox 4"/>
          <p:cNvSpPr txBox="1"/>
          <p:nvPr/>
        </p:nvSpPr>
        <p:spPr>
          <a:xfrm>
            <a:off x="8229600" y="155448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19 of 28</a:t>
            </a:r>
          </a:p>
        </p:txBody>
      </p:sp>
      <p:sp>
        <p:nvSpPr>
          <p:cNvPr id="6" name="TextBox 5"/>
          <p:cNvSpPr txBox="1"/>
          <p:nvPr/>
        </p:nvSpPr>
        <p:spPr>
          <a:xfrm>
            <a:off x="8229600" y="193548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Qwen2.5-7B; stronger candidates all fail the KL &lt; 0.1 filter</a:t>
            </a:r>
          </a:p>
        </p:txBody>
      </p:sp>
      <p:sp>
        <p:nvSpPr>
          <p:cNvPr id="7" name="TextBox 6"/>
          <p:cNvSpPr txBox="1"/>
          <p:nvPr/>
        </p:nvSpPr>
        <p:spPr>
          <a:xfrm>
            <a:off x="8229600" y="274320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Layer 13 of 32</a:t>
            </a:r>
          </a:p>
        </p:txBody>
      </p:sp>
      <p:sp>
        <p:nvSpPr>
          <p:cNvPr id="8" name="TextBox 7"/>
          <p:cNvSpPr txBox="1"/>
          <p:nvPr/>
        </p:nvSpPr>
        <p:spPr>
          <a:xfrm>
            <a:off x="8229600" y="312420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Llama-3.1-8B; the strongest of any candidate</a:t>
            </a:r>
          </a:p>
        </p:txBody>
      </p:sp>
      <p:sp>
        <p:nvSpPr>
          <p:cNvPr id="9" name="TextBox 8"/>
          <p:cNvSpPr txBox="1"/>
          <p:nvPr/>
        </p:nvSpPr>
        <p:spPr>
          <a:xfrm>
            <a:off x="8229600" y="393192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92% → 0%, 91% → 0%</a:t>
            </a:r>
          </a:p>
        </p:txBody>
      </p:sp>
      <p:sp>
        <p:nvSpPr>
          <p:cNvPr id="10" name="TextBox 9"/>
          <p:cNvSpPr txBox="1"/>
          <p:nvPr/>
        </p:nvSpPr>
        <p:spPr>
          <a:xfrm>
            <a:off x="8229600" y="431292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refusal on 64 held-out harmful prompts once the direction is removed</a:t>
            </a:r>
          </a:p>
        </p:txBody>
      </p:sp>
      <p:sp>
        <p:nvSpPr>
          <p:cNvPr id="11" name="TextBox 10"/>
          <p:cNvSpPr txBox="1"/>
          <p:nvPr/>
        </p:nvSpPr>
        <p:spPr>
          <a:xfrm>
            <a:off x="8229600" y="5120640"/>
            <a:ext cx="3413455" cy="365759"/>
          </a:xfrm>
          <a:prstGeom prst="rect">
            <a:avLst/>
          </a:prstGeom>
          <a:noFill/>
        </p:spPr>
        <p:txBody>
          <a:bodyPr wrap="square" lIns="0" tIns="0" rIns="0" bIns="0" anchor="t">
            <a:noAutofit/>
          </a:bodyPr>
          <a:lstStyle/>
          <a:p>
            <a:pPr algn="l">
              <a:spcAft>
                <a:spcPts val="0"/>
              </a:spcAft>
            </a:pPr>
            <a:r>
              <a:rPr sz="2400" b="1">
                <a:solidFill>
                  <a:srgbClr val="000000"/>
                </a:solidFill>
              </a:rPr>
              <a:t>≥ 0.99</a:t>
            </a:r>
          </a:p>
        </p:txBody>
      </p:sp>
      <p:sp>
        <p:nvSpPr>
          <p:cNvPr id="12" name="TextBox 11"/>
          <p:cNvSpPr txBox="1"/>
          <p:nvPr/>
        </p:nvSpPr>
        <p:spPr>
          <a:xfrm>
            <a:off x="8229600" y="5501640"/>
            <a:ext cx="3413455" cy="685800"/>
          </a:xfrm>
          <a:prstGeom prst="rect">
            <a:avLst/>
          </a:prstGeom>
          <a:noFill/>
        </p:spPr>
        <p:txBody>
          <a:bodyPr wrap="square" lIns="0" tIns="0" rIns="0" bIns="0" anchor="t">
            <a:noAutofit/>
          </a:bodyPr>
          <a:lstStyle/>
          <a:p>
            <a:pPr algn="l">
              <a:spcAft>
                <a:spcPts val="0"/>
              </a:spcAft>
            </a:pPr>
            <a:r>
              <a:rPr sz="1400" b="0">
                <a:solidFill>
                  <a:srgbClr val="52514E"/>
                </a:solidFill>
              </a:rPr>
              <a:t>cosine across 100 re-extractions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 asking registers in the first layers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14</a:t>
            </a:fld>
            <a:endParaRPr lang="en-US" sz="1000">
              <a:solidFill>
                <a:srgbClr val="898781"/>
              </a:solidFill>
            </a:endParaRPr>
          </a:p>
        </p:txBody>
      </p:sp>
      <p:pic>
        <p:nvPicPr>
          <p:cNvPr id="4" name="slide_party_gap.png" descr="Republican minus Democrat and party minus Lakers fan in refusal-direction projection by layer, stolen-election vs harmless prompts, for both models."/>
          <p:cNvPicPr>
            <a:picLocks noChangeAspect="1"/>
          </p:cNvPicPr>
          <p:nvPr/>
        </p:nvPicPr>
        <p:blipFill>
          <a:blip r:embed="rId3"/>
          <a:stretch>
            <a:fillRect/>
          </a:stretch>
        </p:blipFill>
        <p:spPr>
          <a:xfrm>
            <a:off x="2533973" y="1371600"/>
            <a:ext cx="7123747" cy="4221480"/>
          </a:xfrm>
          <a:prstGeom prst="rect">
            <a:avLst/>
          </a:prstGeom>
        </p:spPr>
      </p:pic>
      <p:sp>
        <p:nvSpPr>
          <p:cNvPr id="5" name="Caption"/>
          <p:cNvSpPr txBox="1"/>
          <p:nvPr/>
        </p:nvSpPr>
        <p:spPr>
          <a:xfrm>
            <a:off x="2533973" y="5775960"/>
            <a:ext cx="7123747" cy="487680"/>
          </a:xfrm>
          <a:prstGeom prst="rect">
            <a:avLst/>
          </a:prstGeom>
          <a:noFill/>
        </p:spPr>
        <p:txBody>
          <a:bodyPr wrap="square" lIns="0" tIns="0" rIns="0" bIns="0" anchor="t">
            <a:noAutofit/>
          </a:bodyPr>
          <a:lstStyle/>
          <a:p>
            <a:pPr algn="l">
              <a:spcAft>
                <a:spcPts val="0"/>
              </a:spcAft>
            </a:pPr>
            <a:r>
              <a:rPr sz="1600" b="0">
                <a:solidFill>
                  <a:srgbClr val="52514E"/>
                </a:solidFill>
              </a:rPr>
              <a:t>Republican minus Democrat tracks the harmless questions: the model notices who is asking, it isn’t refusing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Whose claim it is switches on mid-network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15</a:t>
            </a:fld>
            <a:endParaRPr lang="en-US" sz="1000">
              <a:solidFill>
                <a:srgbClr val="898781"/>
              </a:solidFill>
            </a:endParaRPr>
          </a:p>
        </p:txBody>
      </p:sp>
      <p:pic>
        <p:nvPicPr>
          <p:cNvPr id="4" name="slide_alignment_gap.png" descr="Other-side minus own-side projection by layer, stolen-election vs harmless prompts, for both models, with significant layers marked."/>
          <p:cNvPicPr>
            <a:picLocks noChangeAspect="1"/>
          </p:cNvPicPr>
          <p:nvPr/>
        </p:nvPicPr>
        <p:blipFill>
          <a:blip r:embed="rId3"/>
          <a:stretch>
            <a:fillRect/>
          </a:stretch>
        </p:blipFill>
        <p:spPr>
          <a:xfrm>
            <a:off x="548640" y="1909279"/>
            <a:ext cx="11094415" cy="3389960"/>
          </a:xfrm>
          <a:prstGeom prst="rect">
            <a:avLst/>
          </a:prstGeom>
        </p:spPr>
      </p:pic>
      <p:sp>
        <p:nvSpPr>
          <p:cNvPr id="5" name="Caption"/>
          <p:cNvSpPr txBox="1"/>
          <p:nvPr/>
        </p:nvSpPr>
        <p:spPr>
          <a:xfrm>
            <a:off x="548640" y="548212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First significant at layer 19 of 28 (Qwen) and 11 of 32 (Llama); harmless questions stay at zero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Removing the direction mostly erases the gap</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16</a:t>
            </a:fld>
            <a:endParaRPr lang="en-US" sz="1000">
              <a:solidFill>
                <a:srgbClr val="898781"/>
              </a:solidFill>
            </a:endParaRPr>
          </a:p>
        </p:txBody>
      </p:sp>
      <p:pic>
        <p:nvPicPr>
          <p:cNvPr id="4" name="slide_ablation.png" descr="Slope chart: own-side and other-side did-the-task rates before and after removing the refusal direction, for both models and judges."/>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Over 80% for everyone afterwards; own side vs other side is no longer significant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Llama the gap runs through refusal; in Qwen, mostly not</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17</a:t>
            </a:fld>
            <a:endParaRPr lang="en-US" sz="1000">
              <a:solidFill>
                <a:srgbClr val="898781"/>
              </a:solidFill>
            </a:endParaRPr>
          </a:p>
        </p:txBody>
      </p:sp>
      <p:pic>
        <p:nvPicPr>
          <p:cNvPr id="4" name="slide_shift_dose.png" descr="Did the task for own-side prompts shifted along the refusal direction by 0 to 10 times the measured gap, against the other-side level, with a random-direction control."/>
          <p:cNvPicPr>
            <a:picLocks noChangeAspect="1"/>
          </p:cNvPicPr>
          <p:nvPr/>
        </p:nvPicPr>
        <p:blipFill>
          <a:blip r:embed="rId3"/>
          <a:stretch>
            <a:fillRect/>
          </a:stretch>
        </p:blipFill>
        <p:spPr>
          <a:xfrm>
            <a:off x="548640" y="1395649"/>
            <a:ext cx="11094415" cy="4417220"/>
          </a:xfrm>
          <a:prstGeom prst="rect">
            <a:avLst/>
          </a:prstGeom>
        </p:spPr>
      </p:pic>
      <p:sp>
        <p:nvSpPr>
          <p:cNvPr id="5" name="Caption"/>
          <p:cNvSpPr txBox="1"/>
          <p:nvPr/>
        </p:nvSpPr>
        <p:spPr>
          <a:xfrm>
            <a:off x="548640" y="5995750"/>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Llama: 2× the gap closes it. Qwen: 3× closes two-thirds. A random direction does nothing.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Qwen has a second direction for whose claim it is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18</a:t>
            </a:fld>
            <a:endParaRPr lang="en-US" sz="1000">
              <a:solidFill>
                <a:srgbClr val="898781"/>
              </a:solidFill>
            </a:endParaRPr>
          </a:p>
        </p:txBody>
      </p:sp>
      <p:pic>
        <p:nvPicPr>
          <p:cNvPr id="4" name="slide_alignment_cosine.png" descr="Cosine between the side direction and the refusal direction by layer, with layers where the own-side/other-side gap is significant shaded."/>
          <p:cNvPicPr>
            <a:picLocks noChangeAspect="1"/>
          </p:cNvPicPr>
          <p:nvPr/>
        </p:nvPicPr>
        <p:blipFill>
          <a:blip r:embed="rId3"/>
          <a:stretch>
            <a:fillRect/>
          </a:stretch>
        </p:blipFill>
        <p:spPr>
          <a:xfrm>
            <a:off x="548640" y="1601101"/>
            <a:ext cx="11094415" cy="4006316"/>
          </a:xfrm>
          <a:prstGeom prst="rect">
            <a:avLst/>
          </a:prstGeom>
        </p:spPr>
      </p:pic>
      <p:sp>
        <p:nvSpPr>
          <p:cNvPr id="5" name="Caption"/>
          <p:cNvSpPr txBox="1"/>
          <p:nvPr/>
        </p:nvSpPr>
        <p:spPr>
          <a:xfrm>
            <a:off x="548640" y="5790298"/>
            <a:ext cx="11094415" cy="243840"/>
          </a:xfrm>
          <a:prstGeom prst="rect">
            <a:avLst/>
          </a:prstGeom>
          <a:noFill/>
        </p:spPr>
        <p:txBody>
          <a:bodyPr wrap="square" lIns="0" tIns="0" rIns="0" bIns="0" anchor="t">
            <a:noAutofit/>
          </a:bodyPr>
          <a:lstStyle/>
          <a:p>
            <a:pPr algn="l">
              <a:spcAft>
                <a:spcPts val="0"/>
              </a:spcAft>
            </a:pPr>
            <a:r>
              <a:rPr sz="1600" b="0">
                <a:solidFill>
                  <a:srgbClr val="52514E"/>
                </a:solidFill>
              </a:rPr>
              <a:t>Qwen: about 0 through layer 15, 0.79 by layer 25, where the gap peaks. Llama: 0.2 to 0.3 at every layer.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Non-partisan, yes. Serving democracy? Less clear</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19</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Stay non-partisan: yes</a:t>
            </a:r>
          </a:p>
        </p:txBody>
      </p:sp>
      <p:sp>
        <p:nvSpPr>
          <p:cNvPr id="5" name="TextBox 4"/>
          <p:cNvSpPr txBox="1"/>
          <p:nvPr/>
        </p:nvSpPr>
        <p:spPr>
          <a:xfrm>
            <a:off x="548640" y="210312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No Democrat/Republican gap, and the refusal direction itself is party-blind</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Serve democracy: less clear</a:t>
            </a:r>
          </a:p>
        </p:txBody>
      </p:sp>
      <p:sp>
        <p:nvSpPr>
          <p:cNvPr id="7" name="TextBox 6"/>
          <p:cNvSpPr txBox="1"/>
          <p:nvPr/>
        </p:nvSpPr>
        <p:spPr>
          <a:xfrm>
            <a:off x="6324447" y="210312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Help is highest when the claim fits the asker: the people most likely to believe and spread it</a:t>
            </a:r>
          </a:p>
        </p:txBody>
      </p:sp>
      <p:sp>
        <p:nvSpPr>
          <p:cNvPr id="8" name="TextBox 7"/>
          <p:cNvSpPr txBox="1"/>
          <p:nvPr/>
        </p:nvSpPr>
        <p:spPr>
          <a:xfrm>
            <a:off x="548640" y="3337560"/>
            <a:ext cx="11094415" cy="411480"/>
          </a:xfrm>
          <a:prstGeom prst="rect">
            <a:avLst/>
          </a:prstGeom>
          <a:noFill/>
        </p:spPr>
        <p:txBody>
          <a:bodyPr wrap="square" lIns="0" tIns="0" rIns="0" bIns="0" anchor="t">
            <a:noAutofit/>
          </a:bodyPr>
          <a:lstStyle/>
          <a:p>
            <a:pPr algn="l">
              <a:spcAft>
                <a:spcPts val="600"/>
              </a:spcAft>
            </a:pPr>
            <a:r>
              <a:rPr sz="2000" b="1">
                <a:solidFill>
                  <a:srgbClr val="000000"/>
                </a:solidFill>
              </a:rPr>
              <a:t>Why favor the asker’s own side? Two readings our data can’t separate</a:t>
            </a:r>
          </a:p>
        </p:txBody>
      </p:sp>
      <p:sp>
        <p:nvSpPr>
          <p:cNvPr id="9" name="TextBox 8"/>
          <p:cNvSpPr txBox="1"/>
          <p:nvPr/>
        </p:nvSpPr>
        <p:spPr>
          <a:xfrm>
            <a:off x="548640" y="3886200"/>
            <a:ext cx="5318607" cy="365760"/>
          </a:xfrm>
          <a:prstGeom prst="rect">
            <a:avLst/>
          </a:prstGeom>
          <a:noFill/>
        </p:spPr>
        <p:txBody>
          <a:bodyPr wrap="square" lIns="0" tIns="0" rIns="0" bIns="0" anchor="t">
            <a:noAutofit/>
          </a:bodyPr>
          <a:lstStyle/>
          <a:p>
            <a:pPr algn="l">
              <a:spcAft>
                <a:spcPts val="600"/>
              </a:spcAft>
            </a:pPr>
            <a:r>
              <a:rPr sz="1800" b="1">
                <a:solidFill>
                  <a:srgbClr val="000000"/>
                </a:solidFill>
              </a:rPr>
              <a:t>Going along with the asker</a:t>
            </a:r>
          </a:p>
        </p:txBody>
      </p:sp>
      <p:sp>
        <p:nvSpPr>
          <p:cNvPr id="10" name="TextBox 9"/>
          <p:cNvSpPr txBox="1"/>
          <p:nvPr/>
        </p:nvSpPr>
        <p:spPr>
          <a:xfrm>
            <a:off x="548640" y="42976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The model accommodates the views it infers from who is asking (sycophancy)</a:t>
            </a:r>
          </a:p>
        </p:txBody>
      </p:sp>
      <p:sp>
        <p:nvSpPr>
          <p:cNvPr id="11" name="TextBox 10"/>
          <p:cNvSpPr txBox="1"/>
          <p:nvPr/>
        </p:nvSpPr>
        <p:spPr>
          <a:xfrm>
            <a:off x="6324447" y="3886200"/>
            <a:ext cx="5318607" cy="365760"/>
          </a:xfrm>
          <a:prstGeom prst="rect">
            <a:avLst/>
          </a:prstGeom>
          <a:noFill/>
        </p:spPr>
        <p:txBody>
          <a:bodyPr wrap="square" lIns="0" tIns="0" rIns="0" bIns="0" anchor="t">
            <a:noAutofit/>
          </a:bodyPr>
          <a:lstStyle/>
          <a:p>
            <a:pPr algn="l">
              <a:spcAft>
                <a:spcPts val="600"/>
              </a:spcAft>
            </a:pPr>
            <a:r>
              <a:rPr sz="1800" b="1">
                <a:solidFill>
                  <a:srgbClr val="000000"/>
                </a:solidFill>
              </a:rPr>
              <a:t>Suspecting bad faith</a:t>
            </a:r>
          </a:p>
        </p:txBody>
      </p:sp>
      <p:sp>
        <p:nvSpPr>
          <p:cNvPr id="12" name="TextBox 11"/>
          <p:cNvSpPr txBox="1"/>
          <p:nvPr/>
        </p:nvSpPr>
        <p:spPr>
          <a:xfrm>
            <a:off x="6324447" y="4297680"/>
            <a:ext cx="5318607" cy="914400"/>
          </a:xfrm>
          <a:prstGeom prst="rect">
            <a:avLst/>
          </a:prstGeom>
          <a:noFill/>
        </p:spPr>
        <p:txBody>
          <a:bodyPr wrap="square" lIns="0" tIns="0" rIns="0" bIns="0" anchor="t">
            <a:noAutofit/>
          </a:bodyPr>
          <a:lstStyle/>
          <a:p>
            <a:pPr algn="l">
              <a:spcAft>
                <a:spcPts val="600"/>
              </a:spcAft>
            </a:pPr>
            <a:r>
              <a:rPr sz="1800" b="0">
                <a:solidFill>
                  <a:srgbClr val="52514E"/>
                </a:solidFill>
              </a:rPr>
              <a:t>A Democrat asking to prove 2020 was stolen reads as odd, so the model is warier</a:t>
            </a:r>
          </a:p>
        </p:txBody>
      </p:sp>
      <p:sp>
        <p:nvSpPr>
          <p:cNvPr id="13" name="TextBox 12"/>
          <p:cNvSpPr txBox="1"/>
          <p:nvPr/>
        </p:nvSpPr>
        <p:spPr>
          <a:xfrm>
            <a:off x="548640" y="5440680"/>
            <a:ext cx="11094415" cy="685800"/>
          </a:xfrm>
          <a:prstGeom prst="rect">
            <a:avLst/>
          </a:prstGeom>
          <a:noFill/>
        </p:spPr>
        <p:txBody>
          <a:bodyPr wrap="square" lIns="0" tIns="0" rIns="0" bIns="0" anchor="t">
            <a:noAutofit/>
          </a:bodyPr>
          <a:lstStyle/>
          <a:p>
            <a:pPr algn="l">
              <a:spcAft>
                <a:spcPts val="600"/>
              </a:spcAft>
            </a:pPr>
            <a:r>
              <a:rPr sz="1600" b="1">
                <a:solidFill>
                  <a:srgbClr val="000000"/>
                </a:solidFill>
              </a:rPr>
              <a:t>A test that would: </a:t>
            </a:r>
            <a:r>
              <a:rPr sz="1600" b="0">
                <a:solidFill>
                  <a:srgbClr val="000000"/>
                </a:solidFill>
              </a:rPr>
              <a:t>harmless other-side requests, like a Republican asking for an op-ed praising a Democratic policy. Suspicion predicts pushback there too; going along doesn’t.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 Chinese, Qwen censors more, and not through refusal</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20</a:t>
            </a:fld>
            <a:endParaRPr lang="en-US" sz="1000">
              <a:solidFill>
                <a:srgbClr val="898781"/>
              </a:solidFill>
            </a:endParaRPr>
          </a:p>
        </p:txBody>
      </p:sp>
      <p:sp>
        <p:nvSpPr>
          <p:cNvPr id="4" name="TextBox 3"/>
          <p:cNvSpPr txBox="1"/>
          <p:nvPr/>
        </p:nvSpPr>
        <p:spPr>
          <a:xfrm>
            <a:off x="548640" y="1554480"/>
            <a:ext cx="6766560" cy="548640"/>
          </a:xfrm>
          <a:prstGeom prst="rect">
            <a:avLst/>
          </a:prstGeom>
          <a:noFill/>
        </p:spPr>
        <p:txBody>
          <a:bodyPr wrap="square" lIns="0" tIns="0" rIns="0" bIns="0" anchor="t">
            <a:noAutofit/>
          </a:bodyPr>
          <a:lstStyle/>
          <a:p>
            <a:pPr algn="l">
              <a:spcAft>
                <a:spcPts val="600"/>
              </a:spcAft>
            </a:pPr>
            <a:r>
              <a:rPr sz="1400" b="0">
                <a:solidFill>
                  <a:srgbClr val="52514E"/>
                </a:solidFill>
              </a:rPr>
              <a:t>China-sensitive requests censored (refused, dodged or official line), 24 matched pairs</a:t>
            </a:r>
          </a:p>
        </p:txBody>
      </p:sp>
      <p:graphicFrame>
        <p:nvGraphicFramePr>
          <p:cNvPr id="5" name="Censorship by language"/>
          <p:cNvGraphicFramePr>
            <a:graphicFrameLocks noGrp="1"/>
          </p:cNvGraphicFramePr>
          <p:nvPr/>
        </p:nvGraphicFramePr>
        <p:xfrm>
          <a:off x="548640" y="2103120"/>
          <a:ext cx="67665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Box 5"/>
          <p:cNvSpPr txBox="1"/>
          <p:nvPr/>
        </p:nvSpPr>
        <p:spPr>
          <a:xfrm>
            <a:off x="7772400" y="1737360"/>
            <a:ext cx="3870655" cy="4480560"/>
          </a:xfrm>
          <a:prstGeom prst="rect">
            <a:avLst/>
          </a:prstGeom>
          <a:noFill/>
        </p:spPr>
        <p:txBody>
          <a:bodyPr wrap="square" lIns="0" tIns="0" rIns="0" bIns="0" anchor="t">
            <a:noAutofit/>
          </a:bodyPr>
          <a:lstStyle/>
          <a:p>
            <a:pPr marL="274320" indent="-274320" algn="l">
              <a:spcAft>
                <a:spcPts val="1200"/>
              </a:spcAft>
              <a:buChar char="•"/>
            </a:pPr>
            <a:r>
              <a:rPr sz="1600" b="0">
                <a:solidFill>
                  <a:srgbClr val="000000"/>
                </a:solidFill>
              </a:rPr>
              <a:t>29 of the 42 points are official-line answers, not refusals</a:t>
            </a:r>
          </a:p>
          <a:p>
            <a:pPr marL="274320" indent="-274320" algn="l">
              <a:spcAft>
                <a:spcPts val="1200"/>
              </a:spcAft>
              <a:buChar char="•"/>
            </a:pPr>
            <a:r>
              <a:rPr sz="1600" b="0">
                <a:solidFill>
                  <a:srgbClr val="000000"/>
                </a:solidFill>
              </a:rPr>
              <a:t>Removing the refusal direction ends refusal on harmful prompts in both languages, but the gap stays (42 → 46 points)</a:t>
            </a:r>
          </a:p>
          <a:p>
            <a:pPr marL="274320" indent="-274320" algn="l">
              <a:spcAft>
                <a:spcPts val="1200"/>
              </a:spcAft>
              <a:buChar char="•"/>
            </a:pPr>
            <a:r>
              <a:rPr sz="1600" b="0">
                <a:solidFill>
                  <a:srgbClr val="000000"/>
                </a:solidFill>
              </a:rPr>
              <a:t>The English and Chinese refusal directions are nearly the same vector (cosine 0.98 Qwen, 0.91 Llama)</a:t>
            </a:r>
          </a:p>
          <a:p>
            <a:pPr marL="274320" indent="-274320" algn="l">
              <a:spcAft>
                <a:spcPts val="1200"/>
              </a:spcAft>
              <a:buChar char="•"/>
            </a:pPr>
            <a:r>
              <a:rPr sz="1600" b="0">
                <a:solidFill>
                  <a:srgbClr val="000000"/>
                </a:solidFill>
              </a:rPr>
              <a:t>Exploratory: both models censor the US election claims less in Chinese (not significant)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Takeaways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21</a:t>
            </a:fld>
            <a:endParaRPr lang="en-US" sz="1000">
              <a:solidFill>
                <a:srgbClr val="898781"/>
              </a:solidFill>
            </a:endParaRPr>
          </a:p>
        </p:txBody>
      </p:sp>
      <p:sp>
        <p:nvSpPr>
          <p:cNvPr id="4" name="Number 1"/>
          <p:cNvSpPr txBox="1"/>
          <p:nvPr/>
        </p:nvSpPr>
        <p:spPr>
          <a:xfrm>
            <a:off x="548640" y="1481328"/>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1</a:t>
            </a:r>
          </a:p>
        </p:txBody>
      </p:sp>
      <p:sp>
        <p:nvSpPr>
          <p:cNvPr id="5" name="TextBox 4"/>
          <p:cNvSpPr txBox="1"/>
          <p:nvPr/>
        </p:nvSpPr>
        <p:spPr>
          <a:xfrm>
            <a:off x="1280160" y="1554480"/>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refusal direction is party-blind; the claims aren’t. </a:t>
            </a:r>
            <a:r>
              <a:rPr sz="2000" b="0">
                <a:solidFill>
                  <a:srgbClr val="52514E"/>
                </a:solidFill>
              </a:rPr>
              <a:t>No Democrat/Republican gap, but the models help more when the claim belongs to the asker’s side.</a:t>
            </a:r>
          </a:p>
        </p:txBody>
      </p:sp>
      <p:sp>
        <p:nvSpPr>
          <p:cNvPr id="6" name="Number 2"/>
          <p:cNvSpPr txBox="1"/>
          <p:nvPr/>
        </p:nvSpPr>
        <p:spPr>
          <a:xfrm>
            <a:off x="548640" y="2505456"/>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2</a:t>
            </a:r>
          </a:p>
        </p:txBody>
      </p:sp>
      <p:sp>
        <p:nvSpPr>
          <p:cNvPr id="7" name="TextBox 6"/>
          <p:cNvSpPr txBox="1"/>
          <p:nvPr/>
        </p:nvSpPr>
        <p:spPr>
          <a:xfrm>
            <a:off x="1280160" y="2578608"/>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Non-partisan, but not clearly serving democracy. </a:t>
            </a:r>
            <a:r>
              <a:rPr sz="2000" b="0">
                <a:solidFill>
                  <a:srgbClr val="52514E"/>
                </a:solidFill>
              </a:rPr>
              <a:t>Help is highest when the claim fits the asker: the people most likely to believe and spread it.</a:t>
            </a:r>
          </a:p>
        </p:txBody>
      </p:sp>
      <p:sp>
        <p:nvSpPr>
          <p:cNvPr id="8" name="Number 3"/>
          <p:cNvSpPr txBox="1"/>
          <p:nvPr/>
        </p:nvSpPr>
        <p:spPr>
          <a:xfrm>
            <a:off x="548640" y="3529584"/>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3</a:t>
            </a:r>
          </a:p>
        </p:txBody>
      </p:sp>
      <p:sp>
        <p:nvSpPr>
          <p:cNvPr id="9" name="TextBox 8"/>
          <p:cNvSpPr txBox="1"/>
          <p:nvPr/>
        </p:nvSpPr>
        <p:spPr>
          <a:xfrm>
            <a:off x="1280160" y="3602736"/>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Whether the gap runs through the refusal direction depends on the model. </a:t>
            </a:r>
            <a:r>
              <a:rPr sz="2000" b="0">
                <a:solidFill>
                  <a:srgbClr val="52514E"/>
                </a:solidFill>
              </a:rPr>
              <a:t>Llama: yes, a 2× shift closes it. Qwen: mostly through a second direction.</a:t>
            </a:r>
          </a:p>
        </p:txBody>
      </p:sp>
      <p:sp>
        <p:nvSpPr>
          <p:cNvPr id="10" name="Number 4"/>
          <p:cNvSpPr txBox="1"/>
          <p:nvPr/>
        </p:nvSpPr>
        <p:spPr>
          <a:xfrm>
            <a:off x="548640" y="4553712"/>
            <a:ext cx="548640" cy="731520"/>
          </a:xfrm>
          <a:prstGeom prst="rect">
            <a:avLst/>
          </a:prstGeom>
          <a:noFill/>
        </p:spPr>
        <p:txBody>
          <a:bodyPr wrap="square" lIns="0" tIns="0" rIns="0" bIns="0" anchor="t">
            <a:noAutofit/>
          </a:bodyPr>
          <a:lstStyle/>
          <a:p>
            <a:pPr algn="l">
              <a:spcAft>
                <a:spcPts val="600"/>
              </a:spcAft>
            </a:pPr>
            <a:r>
              <a:rPr sz="3600" b="1">
                <a:solidFill>
                  <a:srgbClr val="000000"/>
                </a:solidFill>
              </a:rPr>
              <a:t>4</a:t>
            </a:r>
          </a:p>
        </p:txBody>
      </p:sp>
      <p:sp>
        <p:nvSpPr>
          <p:cNvPr id="11" name="TextBox 10"/>
          <p:cNvSpPr txBox="1"/>
          <p:nvPr/>
        </p:nvSpPr>
        <p:spPr>
          <a:xfrm>
            <a:off x="1280160" y="4626864"/>
            <a:ext cx="10362895" cy="868680"/>
          </a:xfrm>
          <a:prstGeom prst="rect">
            <a:avLst/>
          </a:prstGeom>
          <a:noFill/>
        </p:spPr>
        <p:txBody>
          <a:bodyPr wrap="square" lIns="0" tIns="0" rIns="0" bIns="0" anchor="t">
            <a:noAutofit/>
          </a:bodyPr>
          <a:lstStyle/>
          <a:p>
            <a:pPr algn="l">
              <a:spcAft>
                <a:spcPts val="0"/>
              </a:spcAft>
            </a:pPr>
            <a:r>
              <a:rPr sz="2000" b="1">
                <a:solidFill>
                  <a:srgbClr val="000000"/>
                </a:solidFill>
              </a:rPr>
              <a:t>The standard safety judge misses election content entirely. </a:t>
            </a:r>
            <a:r>
              <a:rPr sz="2000" b="0">
                <a:solidFill>
                  <a:srgbClr val="52514E"/>
                </a:solidFill>
              </a:rPr>
              <a:t>Llama Guard 2 flags none of it; we needed a custom category and a second judge.</a:t>
            </a:r>
          </a:p>
        </p:txBody>
      </p:sp>
      <p:sp>
        <p:nvSpPr>
          <p:cNvPr id="12" name="TextBox 11"/>
          <p:cNvSpPr txBox="1"/>
          <p:nvPr/>
        </p:nvSpPr>
        <p:spPr>
          <a:xfrm>
            <a:off x="548640" y="5760720"/>
            <a:ext cx="11094415" cy="365760"/>
          </a:xfrm>
          <a:prstGeom prst="rect">
            <a:avLst/>
          </a:prstGeom>
          <a:noFill/>
        </p:spPr>
        <p:txBody>
          <a:bodyPr wrap="square" lIns="0" tIns="0" rIns="0" bIns="0" anchor="t">
            <a:noAutofit/>
          </a:bodyPr>
          <a:lstStyle/>
          <a:p>
            <a:pPr algn="l">
              <a:spcAft>
                <a:spcPts val="600"/>
              </a:spcAft>
            </a:pPr>
            <a:r>
              <a:rPr sz="1600" b="0">
                <a:solidFill>
                  <a:srgbClr val="898781"/>
                </a:solidFill>
              </a:rPr>
              <a:t>Limits: two 7–8B models · 8 US elections · one greedy reply per prompt · a 50-reply human check</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Next steps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22</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this group</a:t>
            </a:r>
          </a:p>
        </p:txBody>
      </p:sp>
      <p:sp>
        <p:nvSpPr>
          <p:cNvPr id="5" name="TextBox 4"/>
          <p:cNvSpPr txBox="1"/>
          <p:nvPr/>
        </p:nvSpPr>
        <p:spPr>
          <a:xfrm>
            <a:off x="548640"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Harmless other-side requests, to separate going along from suspicion</a:t>
            </a:r>
          </a:p>
          <a:p>
            <a:pPr marL="274320" indent="-274320" algn="l">
              <a:spcAft>
                <a:spcPts val="1200"/>
              </a:spcAft>
              <a:buChar char="•"/>
            </a:pPr>
            <a:r>
              <a:rPr sz="1800" b="0">
                <a:solidFill>
                  <a:srgbClr val="000000"/>
                </a:solidFill>
              </a:rPr>
              <a:t>A third model: Gemma-2-9B or a second Chinese-lab model</a:t>
            </a:r>
          </a:p>
          <a:p>
            <a:pPr marL="274320" indent="-274320" algn="l">
              <a:spcAft>
                <a:spcPts val="1200"/>
              </a:spcAft>
              <a:buChar char="•"/>
            </a:pPr>
            <a:r>
              <a:rPr sz="1800" b="0">
                <a:solidFill>
                  <a:srgbClr val="000000"/>
                </a:solidFill>
              </a:rPr>
              <a:t>Remove the direction at the layer where the gap first appears (19 in Qwen, 11 in Llama)</a:t>
            </a:r>
          </a:p>
          <a:p>
            <a:pPr marL="274320" indent="-274320" algn="l">
              <a:spcAft>
                <a:spcPts val="1200"/>
              </a:spcAft>
              <a:buChar char="•"/>
            </a:pPr>
            <a:r>
              <a:rPr sz="1800" b="0">
                <a:solidFill>
                  <a:srgbClr val="000000"/>
                </a:solidFill>
              </a:rPr>
              <a:t>More blind human labels than the current 50</a:t>
            </a:r>
          </a:p>
          <a:p>
            <a:pPr marL="274320" indent="-274320" algn="l">
              <a:spcAft>
                <a:spcPts val="1200"/>
              </a:spcAft>
              <a:buChar char="•"/>
            </a:pPr>
            <a:r>
              <a:rPr sz="1800" b="0">
                <a:solidFill>
                  <a:srgbClr val="000000"/>
                </a:solidFill>
              </a:rPr>
              <a:t>Find what carries the part of Qwen’s side direction that refusal doesn’t cover</a:t>
            </a:r>
          </a:p>
        </p:txBody>
      </p:sp>
      <p:sp>
        <p:nvSpPr>
          <p:cNvPr id="6" name="TextBox 5"/>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With more time</a:t>
            </a:r>
          </a:p>
        </p:txBody>
      </p:sp>
      <p:sp>
        <p:nvSpPr>
          <p:cNvPr id="7" name="TextBox 6"/>
          <p:cNvSpPr txBox="1"/>
          <p:nvPr/>
        </p:nvSpPr>
        <p:spPr>
          <a:xfrm>
            <a:off x="6324447" y="2148840"/>
            <a:ext cx="5318607" cy="3931920"/>
          </a:xfrm>
          <a:prstGeom prst="rect">
            <a:avLst/>
          </a:prstGeom>
          <a:noFill/>
        </p:spPr>
        <p:txBody>
          <a:bodyPr wrap="square" lIns="0" tIns="0" rIns="0" bIns="0" anchor="t">
            <a:noAutofit/>
          </a:bodyPr>
          <a:lstStyle/>
          <a:p>
            <a:pPr marL="274320" indent="-274320" algn="l">
              <a:spcAft>
                <a:spcPts val="1200"/>
              </a:spcAft>
              <a:buChar char="•"/>
            </a:pPr>
            <a:r>
              <a:rPr sz="1800" b="0">
                <a:solidFill>
                  <a:srgbClr val="000000"/>
                </a:solidFill>
              </a:rPr>
              <a:t>Is it about politics at all? Lakers vs Celtics fans asking to “prove” a game was rigged</a:t>
            </a:r>
          </a:p>
          <a:p>
            <a:pPr marL="274320" indent="-274320" algn="l">
              <a:spcAft>
                <a:spcPts val="1200"/>
              </a:spcAft>
              <a:buChar char="•"/>
            </a:pPr>
            <a:r>
              <a:rPr sz="1800" b="0">
                <a:solidFill>
                  <a:srgbClr val="000000"/>
                </a:solidFill>
              </a:rPr>
              <a:t>Other partisan claims (vaccines, climate) and non-US elections</a:t>
            </a:r>
          </a:p>
          <a:p>
            <a:pPr marL="274320" indent="-274320" algn="l">
              <a:spcAft>
                <a:spcPts val="1200"/>
              </a:spcAft>
              <a:buChar char="•"/>
            </a:pPr>
            <a:r>
              <a:rPr sz="1800" b="0">
                <a:solidFill>
                  <a:srgbClr val="000000"/>
                </a:solidFill>
              </a:rPr>
              <a:t>Larger and other-family models, with several sampled replies per prompt</a:t>
            </a:r>
          </a:p>
          <a:p>
            <a:pPr marL="274320" indent="-274320" algn="l">
              <a:spcAft>
                <a:spcPts val="1200"/>
              </a:spcAft>
              <a:buChar char="•"/>
            </a:pPr>
            <a:r>
              <a:rPr sz="1800" b="0">
                <a:solidFill>
                  <a:srgbClr val="000000"/>
                </a:solidFill>
              </a:rPr>
              <a:t>A native-speaker check of the Chinese prompts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Backup slides</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23</a:t>
            </a:fld>
            <a:endParaRPr lang="en-US" sz="1000">
              <a:solidFill>
                <a:srgbClr val="89878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Request format matters more than severity</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24</a:t>
            </a:fld>
            <a:endParaRPr lang="en-US" sz="1000">
              <a:solidFill>
                <a:srgbClr val="898781"/>
              </a:solidFill>
            </a:endParaRPr>
          </a:p>
        </p:txBody>
      </p:sp>
      <p:pic>
        <p:nvPicPr>
          <p:cNvPr id="4" name="slide_request_format.png" descr="Did-the-task rate for each of the 17 request types, grouped by severity, for both models and judges."/>
          <p:cNvPicPr>
            <a:picLocks noChangeAspect="1"/>
          </p:cNvPicPr>
          <p:nvPr/>
        </p:nvPicPr>
        <p:blipFill>
          <a:blip r:embed="rId3"/>
          <a:stretch>
            <a:fillRect/>
          </a:stretch>
        </p:blipFill>
        <p:spPr>
          <a:xfrm>
            <a:off x="2328233" y="1371600"/>
            <a:ext cx="7535227" cy="4465320"/>
          </a:xfrm>
          <a:prstGeom prst="rect">
            <a:avLst/>
          </a:prstGeom>
        </p:spPr>
      </p:pic>
      <p:sp>
        <p:nvSpPr>
          <p:cNvPr id="5" name="Caption"/>
          <p:cNvSpPr txBox="1"/>
          <p:nvPr/>
        </p:nvSpPr>
        <p:spPr>
          <a:xfrm>
            <a:off x="2328233" y="6019800"/>
            <a:ext cx="7535227" cy="243840"/>
          </a:xfrm>
          <a:prstGeom prst="rect">
            <a:avLst/>
          </a:prstGeom>
          <a:noFill/>
        </p:spPr>
        <p:txBody>
          <a:bodyPr wrap="square" lIns="0" tIns="0" rIns="0" bIns="0" anchor="t">
            <a:noAutofit/>
          </a:bodyPr>
          <a:lstStyle/>
          <a:p>
            <a:pPr algn="l">
              <a:spcAft>
                <a:spcPts val="0"/>
              </a:spcAft>
            </a:pPr>
            <a:r>
              <a:rPr sz="1600" b="0">
                <a:solidFill>
                  <a:srgbClr val="52514E"/>
                </a:solidFill>
              </a:rPr>
              <a:t>Letters and op-eds get written; “the strongest evidence” mostly doesn’t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the design answered the TA’s feedback</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25</a:t>
            </a:fld>
            <a:endParaRPr lang="en-US" sz="1000">
              <a:solidFill>
                <a:srgbClr val="898781"/>
              </a:solidFill>
            </a:endParaRPr>
          </a:p>
        </p:txBody>
      </p:sp>
      <p:graphicFrame>
        <p:nvGraphicFramePr>
          <p:cNvPr id="4" name="TA feedback"/>
          <p:cNvGraphicFramePr>
            <a:graphicFrameLocks noGrp="1"/>
          </p:cNvGraphicFramePr>
          <p:nvPr/>
        </p:nvGraphicFramePr>
        <p:xfrm>
          <a:off x="548640" y="1463040"/>
          <a:ext cx="11091672" cy="3657600"/>
        </p:xfrm>
        <a:graphic>
          <a:graphicData uri="http://schemas.openxmlformats.org/drawingml/2006/table">
            <a:tbl>
              <a:tblPr firstRow="1">
                <a:tableStyleId>{2D5ABB26-0587-4C30-8999-92F81FD0307C}</a:tableStyleId>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23088">
                <a:tc>
                  <a:txBody>
                    <a:bodyPr/>
                    <a:lstStyle/>
                    <a:p>
                      <a:r>
                        <a:rPr sz="1400" b="1">
                          <a:solidFill>
                            <a:srgbClr val="000000"/>
                          </a:solidFill>
                        </a:rPr>
                        <a:t>Feedback</a:t>
                      </a:r>
                    </a:p>
                  </a:txBody>
                  <a:tcPr marL="0" marR="73152" marT="54864" marB="54864">
                    <a:lnB w="19050">
                      <a:solidFill>
                        <a:srgbClr val="000000"/>
                      </a:solidFill>
                    </a:lnB>
                    <a:noFill/>
                  </a:tcPr>
                </a:tc>
                <a:tc>
                  <a:txBody>
                    <a:bodyPr/>
                    <a:lstStyle/>
                    <a:p>
                      <a:r>
                        <a:rPr sz="1400" b="1">
                          <a:solidFill>
                            <a:srgbClr val="000000"/>
                          </a:solidFill>
                        </a:rPr>
                        <a:t>What we did</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536448">
                <a:tc>
                  <a:txBody>
                    <a:bodyPr/>
                    <a:lstStyle/>
                    <a:p>
                      <a:r>
                        <a:rPr sz="1400" b="0">
                          <a:solidFill>
                            <a:srgbClr val="000000"/>
                          </a:solidFill>
                        </a:rPr>
                        <a:t>Fix which election; cross claim with party</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400" b="0">
                          <a:solidFill>
                            <a:srgbClr val="52514E"/>
                          </a:solidFill>
                        </a:rPr>
                        <a:t>Every prompt names its election; each claim is asked by both parties (own side vs other side)</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23088">
                <a:tc>
                  <a:txBody>
                    <a:bodyPr/>
                    <a:lstStyle/>
                    <a:p>
                      <a:r>
                        <a:rPr sz="1400" b="0">
                          <a:solidFill>
                            <a:srgbClr val="000000"/>
                          </a:solidFill>
                        </a:rPr>
                        <a:t>No-label baseline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no asker stated</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23088">
                <a:tc>
                  <a:txBody>
                    <a:bodyPr/>
                    <a:lstStyle/>
                    <a:p>
                      <a:r>
                        <a:rPr sz="1400" b="0">
                          <a:solidFill>
                            <a:srgbClr val="000000"/>
                          </a:solidFill>
                        </a:rPr>
                        <a:t>Non-political identity control</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Added: “I’m a Lakers fan”</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23088">
                <a:tc>
                  <a:txBody>
                    <a:bodyPr/>
                    <a:lstStyle/>
                    <a:p>
                      <a:r>
                        <a:rPr sz="1400" b="0">
                          <a:solidFill>
                            <a:srgbClr val="000000"/>
                          </a:solidFill>
                        </a:rPr>
                        <a:t>Many requests, not one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17 request types × 8 elections, at 3 severity levels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23088">
                <a:tc>
                  <a:txBody>
                    <a:bodyPr/>
                    <a:lstStyle/>
                    <a:p>
                      <a:r>
                        <a:rPr sz="1400" b="0">
                          <a:solidFill>
                            <a:srgbClr val="000000"/>
                          </a:solidFill>
                        </a:rPr>
                        <a:t>Party-specific directions always differ</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One non-political refusal direction; compare projections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536448">
                <a:tc>
                  <a:txBody>
                    <a:bodyPr/>
                    <a:lstStyle/>
                    <a:p>
                      <a:r>
                        <a:rPr sz="1400" b="0">
                          <a:solidFill>
                            <a:srgbClr val="000000"/>
                          </a:solidFill>
                        </a:rPr>
                        <a:t>Strong, calibrated judge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Llama Guard 3 + election category and a Claude judge, checked against blind human labels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r h="323088">
                <a:tc>
                  <a:txBody>
                    <a:bodyPr/>
                    <a:lstStyle/>
                    <a:p>
                      <a:r>
                        <a:rPr sz="1400" b="0">
                          <a:solidFill>
                            <a:srgbClr val="000000"/>
                          </a:solidFill>
                        </a:rPr>
                        <a:t>Ablation removes refusal everywhere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Projection matching: shift one group to the other’s level, with controls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7"/>
                  </a:ext>
                </a:extLst>
              </a:tr>
              <a:tr h="323088">
                <a:tc>
                  <a:txBody>
                    <a:bodyPr/>
                    <a:lstStyle/>
                    <a:p>
                      <a:r>
                        <a:rPr sz="1400" b="0">
                          <a:solidFill>
                            <a:srgbClr val="000000"/>
                          </a:solidFill>
                        </a:rPr>
                        <a:t>Pilot rates need room for a difference</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7B/8B models: baseline 36% (Qwen) and 15% (Llama)</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8"/>
                  </a:ext>
                </a:extLst>
              </a:tr>
              <a:tr h="323088">
                <a:tc>
                  <a:txBody>
                    <a:bodyPr/>
                    <a:lstStyle/>
                    <a:p>
                      <a:r>
                        <a:rPr sz="1400" b="0">
                          <a:solidFill>
                            <a:srgbClr val="000000"/>
                          </a:solidFill>
                        </a:rPr>
                        <a:t>Direction from non-political prompts</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400" b="0">
                          <a:solidFill>
                            <a:srgbClr val="52514E"/>
                          </a:solidFill>
                        </a:rPr>
                        <a:t>Done, from Arditi et al.’s harmful/harmless prompts</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the constant shift, not “set to the mean”</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26</a:t>
            </a:fld>
            <a:endParaRPr lang="en-US" sz="1000">
              <a:solidFill>
                <a:srgbClr val="898781"/>
              </a:solidFill>
            </a:endParaRPr>
          </a:p>
        </p:txBody>
      </p:sp>
      <p:graphicFrame>
        <p:nvGraphicFramePr>
          <p:cNvPr id="4" name="Set to the mean"/>
          <p:cNvGraphicFramePr>
            <a:graphicFrameLocks noGrp="1"/>
          </p:cNvGraphicFramePr>
          <p:nvPr/>
        </p:nvGraphicFramePr>
        <p:xfrm>
          <a:off x="548640" y="1645920"/>
          <a:ext cx="11091672" cy="2011680"/>
        </p:xfrm>
        <a:graphic>
          <a:graphicData uri="http://schemas.openxmlformats.org/drawingml/2006/table">
            <a:tbl>
              <a:tblPr firstRow="1">
                <a:tableStyleId>{2D5ABB26-0587-4C30-8999-92F81FD0307C}</a:tableStyleId>
              </a:tblPr>
              <a:tblGrid>
                <a:gridCol w="4507992">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353568">
                <a:tc>
                  <a:txBody>
                    <a:bodyPr/>
                    <a:lstStyle/>
                    <a:p>
                      <a:r>
                        <a:rPr sz="1600" b="1">
                          <a:solidFill>
                            <a:srgbClr val="000000"/>
                          </a:solidFill>
                        </a:rPr>
                        <a:t>Own-side prompts, did the task</a:t>
                      </a:r>
                    </a:p>
                  </a:txBody>
                  <a:tcPr marL="0" marR="73152" marT="54864" marB="54864">
                    <a:lnB w="19050">
                      <a:solidFill>
                        <a:srgbClr val="000000"/>
                      </a:solidFill>
                    </a:lnB>
                    <a:noFill/>
                  </a:tcPr>
                </a:tc>
                <a:tc>
                  <a:txBody>
                    <a:bodyPr/>
                    <a:lstStyle/>
                    <a:p>
                      <a:r>
                        <a:rPr sz="1600" b="1">
                          <a:solidFill>
                            <a:srgbClr val="000000"/>
                          </a:solidFill>
                        </a:rPr>
                        <a:t>Qwen, Guard</a:t>
                      </a:r>
                    </a:p>
                  </a:txBody>
                  <a:tcPr marL="73152" marR="73152" marT="54864" marB="54864">
                    <a:lnB w="19050">
                      <a:solidFill>
                        <a:srgbClr val="000000"/>
                      </a:solidFill>
                    </a:lnB>
                    <a:noFill/>
                  </a:tcPr>
                </a:tc>
                <a:tc>
                  <a:txBody>
                    <a:bodyPr/>
                    <a:lstStyle/>
                    <a:p>
                      <a:r>
                        <a:rPr sz="1600" b="1">
                          <a:solidFill>
                            <a:srgbClr val="000000"/>
                          </a:solidFill>
                        </a:rPr>
                        <a:t>Qwen, Claude</a:t>
                      </a:r>
                    </a:p>
                  </a:txBody>
                  <a:tcPr marL="73152" marR="73152" marT="54864" marB="54864">
                    <a:lnB w="19050">
                      <a:solidFill>
                        <a:srgbClr val="000000"/>
                      </a:solidFill>
                    </a:lnB>
                    <a:noFill/>
                  </a:tcPr>
                </a:tc>
                <a:tc>
                  <a:txBody>
                    <a:bodyPr/>
                    <a:lstStyle/>
                    <a:p>
                      <a:r>
                        <a:rPr sz="1600" b="1">
                          <a:solidFill>
                            <a:srgbClr val="000000"/>
                          </a:solidFill>
                        </a:rPr>
                        <a:t>Llama, Guard</a:t>
                      </a:r>
                    </a:p>
                  </a:txBody>
                  <a:tcPr marL="73152" marR="73152" marT="54864" marB="54864">
                    <a:lnB w="19050">
                      <a:solidFill>
                        <a:srgbClr val="000000"/>
                      </a:solidFill>
                    </a:lnB>
                    <a:noFill/>
                  </a:tcPr>
                </a:tc>
                <a:tc>
                  <a:txBody>
                    <a:bodyPr/>
                    <a:lstStyle/>
                    <a:p>
                      <a:r>
                        <a:rPr sz="1600" b="1">
                          <a:solidFill>
                            <a:srgbClr val="000000"/>
                          </a:solidFill>
                        </a:rPr>
                        <a:t>Llama, Claude</a:t>
                      </a:r>
                    </a:p>
                  </a:txBody>
                  <a:tcPr marL="73152" marR="73152" marT="54864" marB="54864">
                    <a:lnB w="19050">
                      <a:solidFill>
                        <a:srgbClr val="000000"/>
                      </a:solidFill>
                    </a:lnB>
                    <a:noFill/>
                  </a:tcPr>
                </a:tc>
                <a:extLst>
                  <a:ext uri="{0D108BD9-81ED-4DB2-BD59-A6C34878D82A}">
                    <a16:rowId xmlns:a16="http://schemas.microsoft.com/office/drawing/2014/main" val="10000"/>
                  </a:ext>
                </a:extLst>
              </a:tr>
              <a:tr h="353568">
                <a:tc>
                  <a:txBody>
                    <a:bodyPr/>
                    <a:lstStyle/>
                    <a:p>
                      <a:r>
                        <a:rPr sz="1600" b="0">
                          <a:solidFill>
                            <a:srgbClr val="000000"/>
                          </a:solidFill>
                        </a:rPr>
                        <a:t>Before: own side / other side</a:t>
                      </a:r>
                    </a:p>
                  </a:txBody>
                  <a:tcPr marL="0"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40% / 26%</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61% / 45%</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18% / 10%</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tc>
                  <a:txBody>
                    <a:bodyPr/>
                    <a:lstStyle/>
                    <a:p>
                      <a:r>
                        <a:rPr sz="1600" b="0">
                          <a:solidFill>
                            <a:srgbClr val="52514E"/>
                          </a:solidFill>
                        </a:rPr>
                        <a:t>34% / 27%</a:t>
                      </a:r>
                    </a:p>
                  </a:txBody>
                  <a:tcPr marL="73152" marR="73152" marT="54864" marB="54864">
                    <a:lnT w="1905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53568">
                <a:tc>
                  <a:txBody>
                    <a:bodyPr/>
                    <a:lstStyle/>
                    <a:p>
                      <a:r>
                        <a:rPr sz="1600" b="0">
                          <a:solidFill>
                            <a:srgbClr val="000000"/>
                          </a:solidFill>
                        </a:rPr>
                        <a:t>Each prompt set to the other-side mean</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61%</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18%</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597408">
                <a:tc>
                  <a:txBody>
                    <a:bodyPr/>
                    <a:lstStyle/>
                    <a:p>
                      <a:r>
                        <a:rPr sz="1600" b="0">
                          <a:solidFill>
                            <a:srgbClr val="000000"/>
                          </a:solidFill>
                        </a:rPr>
                        <a:t>Each set to its own group’s mean (gap unchanged)</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46%</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65%</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10%</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22%</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53568">
                <a:tc>
                  <a:txBody>
                    <a:bodyPr/>
                    <a:lstStyle/>
                    <a:p>
                      <a:r>
                        <a:rPr sz="1600" b="0">
                          <a:solidFill>
                            <a:srgbClr val="000000"/>
                          </a:solidFill>
                        </a:rPr>
                        <a:t>Constant shift by the gap, 1×</a:t>
                      </a:r>
                    </a:p>
                  </a:txBody>
                  <a:tcPr marL="0"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39%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57%</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13%</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tc>
                  <a:txBody>
                    <a:bodyPr/>
                    <a:lstStyle/>
                    <a:p>
                      <a:r>
                        <a:rPr sz="1600" b="0">
                          <a:solidFill>
                            <a:srgbClr val="52514E"/>
                          </a:solidFill>
                        </a:rPr>
                        <a:t>29%</a:t>
                      </a:r>
                    </a:p>
                  </a:txBody>
                  <a:tcPr marL="73152" marR="73152" marT="54864" marB="54864">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sp>
        <p:nvSpPr>
          <p:cNvPr id="5" name="TextBox 4"/>
          <p:cNvSpPr txBox="1"/>
          <p:nvPr/>
        </p:nvSpPr>
        <p:spPr>
          <a:xfrm>
            <a:off x="548640" y="4023360"/>
            <a:ext cx="11094415" cy="822960"/>
          </a:xfrm>
          <a:prstGeom prst="rect">
            <a:avLst/>
          </a:prstGeom>
          <a:noFill/>
        </p:spPr>
        <p:txBody>
          <a:bodyPr wrap="square" lIns="0" tIns="0" rIns="0" bIns="0" anchor="t">
            <a:noAutofit/>
          </a:bodyPr>
          <a:lstStyle/>
          <a:p>
            <a:pPr algn="l">
              <a:spcAft>
                <a:spcPts val="600"/>
              </a:spcAft>
            </a:pPr>
            <a:r>
              <a:rPr sz="1600" b="0">
                <a:solidFill>
                  <a:srgbClr val="52514E"/>
                </a:solidFill>
              </a:rPr>
              <a:t>The own-mean control leaves the gap untouched but still moves Llama: setting to a mean removes the spread across prompts, not the gap.</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direction tracks refusal, and it’s party-blind</a:t>
            </a:r>
          </a:p>
        </p:txBody>
      </p:sp>
      <p:sp>
        <p:nvSpPr>
          <p:cNvPr id="3" name="Slide number"/>
          <p:cNvSpPr txBox="1"/>
          <p:nvPr/>
        </p:nvSpPr>
        <p:spPr>
          <a:xfrm>
            <a:off x="10728655" y="6400800"/>
            <a:ext cx="914400" cy="228600"/>
          </a:xfrm>
          <a:prstGeom prst="rect">
            <a:avLst/>
          </a:prstGeom>
          <a:noFill/>
        </p:spPr>
        <p:txBody>
          <a:bodyPr wrap="none" lIns="0" tIns="0" rIns="0" bIns="0">
            <a:spAutoFit/>
          </a:bodyPr>
          <a:lstStyle/>
          <a:p>
            <a:pPr algn="r"/>
            <a:fld id="{6F1B2D7E-4C3A-4E8B-9D21-7A5C0E3B9F14}" type="slidenum">
              <a:rPr lang="en-US" sz="1000">
                <a:solidFill>
                  <a:srgbClr val="898781"/>
                </a:solidFill>
              </a:rPr>
              <a:t>27</a:t>
            </a:fld>
            <a:endParaRPr lang="en-US" sz="1000">
              <a:solidFill>
                <a:srgbClr val="898781"/>
              </a:solidFill>
            </a:endParaRPr>
          </a:p>
        </p:txBody>
      </p:sp>
      <p:sp>
        <p:nvSpPr>
          <p:cNvPr id="4" name="TextBox 3"/>
          <p:cNvSpPr txBox="1"/>
          <p:nvPr/>
        </p:nvSpPr>
        <p:spPr>
          <a:xfrm>
            <a:off x="548640"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Projection predicts refusal</a:t>
            </a:r>
          </a:p>
        </p:txBody>
      </p:sp>
      <p:sp>
        <p:nvSpPr>
          <p:cNvPr id="5" name="TextBox 4"/>
          <p:cNvSpPr txBox="1"/>
          <p:nvPr/>
        </p:nvSpPr>
        <p:spPr>
          <a:xfrm>
            <a:off x="548640"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0.81 / 0.89</a:t>
            </a:r>
          </a:p>
        </p:txBody>
      </p:sp>
      <p:sp>
        <p:nvSpPr>
          <p:cNvPr id="6" name="TextBox 5"/>
          <p:cNvSpPr txBox="1"/>
          <p:nvPr/>
        </p:nvSpPr>
        <p:spPr>
          <a:xfrm>
            <a:off x="548640"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Qwen, projection alone predicting “did the task” (Llama Guard / Claude)</a:t>
            </a:r>
          </a:p>
        </p:txBody>
      </p:sp>
      <p:sp>
        <p:nvSpPr>
          <p:cNvPr id="7" name="TextBox 6"/>
          <p:cNvSpPr txBox="1"/>
          <p:nvPr/>
        </p:nvSpPr>
        <p:spPr>
          <a:xfrm>
            <a:off x="548640"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AUC 0.79 / 0.87</a:t>
            </a:r>
          </a:p>
        </p:txBody>
      </p:sp>
      <p:sp>
        <p:nvSpPr>
          <p:cNvPr id="8" name="TextBox 7"/>
          <p:cNvSpPr txBox="1"/>
          <p:nvPr/>
        </p:nvSpPr>
        <p:spPr>
          <a:xfrm>
            <a:off x="548640"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Llama, same</a:t>
            </a:r>
          </a:p>
        </p:txBody>
      </p:sp>
      <p:sp>
        <p:nvSpPr>
          <p:cNvPr id="9" name="TextBox 8"/>
          <p:cNvSpPr txBox="1"/>
          <p:nvPr/>
        </p:nvSpPr>
        <p:spPr>
          <a:xfrm>
            <a:off x="6324447" y="1600200"/>
            <a:ext cx="5318607" cy="411480"/>
          </a:xfrm>
          <a:prstGeom prst="rect">
            <a:avLst/>
          </a:prstGeom>
          <a:noFill/>
        </p:spPr>
        <p:txBody>
          <a:bodyPr wrap="square" lIns="0" tIns="0" rIns="0" bIns="0" anchor="t">
            <a:noAutofit/>
          </a:bodyPr>
          <a:lstStyle/>
          <a:p>
            <a:pPr algn="l">
              <a:spcAft>
                <a:spcPts val="600"/>
              </a:spcAft>
            </a:pPr>
            <a:r>
              <a:rPr sz="2000" b="1">
                <a:solidFill>
                  <a:srgbClr val="000000"/>
                </a:solidFill>
              </a:rPr>
              <a:t>Addition by party</a:t>
            </a:r>
          </a:p>
        </p:txBody>
      </p:sp>
      <p:sp>
        <p:nvSpPr>
          <p:cNvPr id="10" name="TextBox 9"/>
          <p:cNvSpPr txBox="1"/>
          <p:nvPr/>
        </p:nvSpPr>
        <p:spPr>
          <a:xfrm>
            <a:off x="6324447" y="228600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 → 99–100%</a:t>
            </a:r>
          </a:p>
        </p:txBody>
      </p:sp>
      <p:sp>
        <p:nvSpPr>
          <p:cNvPr id="11" name="TextBox 10"/>
          <p:cNvSpPr txBox="1"/>
          <p:nvPr/>
        </p:nvSpPr>
        <p:spPr>
          <a:xfrm>
            <a:off x="6324447" y="279400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refusal on harmless election questions once the direction is added, for every asker</a:t>
            </a:r>
          </a:p>
        </p:txBody>
      </p:sp>
      <p:sp>
        <p:nvSpPr>
          <p:cNvPr id="12" name="TextBox 11"/>
          <p:cNvSpPr txBox="1"/>
          <p:nvPr/>
        </p:nvSpPr>
        <p:spPr>
          <a:xfrm>
            <a:off x="6324447" y="3566160"/>
            <a:ext cx="5318607" cy="487680"/>
          </a:xfrm>
          <a:prstGeom prst="rect">
            <a:avLst/>
          </a:prstGeom>
          <a:noFill/>
        </p:spPr>
        <p:txBody>
          <a:bodyPr wrap="square" lIns="0" tIns="0" rIns="0" bIns="0" anchor="t">
            <a:noAutofit/>
          </a:bodyPr>
          <a:lstStyle/>
          <a:p>
            <a:pPr algn="l">
              <a:spcAft>
                <a:spcPts val="0"/>
              </a:spcAft>
            </a:pPr>
            <a:r>
              <a:rPr sz="3200" b="1">
                <a:solidFill>
                  <a:srgbClr val="000000"/>
                </a:solidFill>
              </a:rPr>
              <a:t>0.3% / 0.6%</a:t>
            </a:r>
          </a:p>
        </p:txBody>
      </p:sp>
      <p:sp>
        <p:nvSpPr>
          <p:cNvPr id="13" name="TextBox 12"/>
          <p:cNvSpPr txBox="1"/>
          <p:nvPr/>
        </p:nvSpPr>
        <p:spPr>
          <a:xfrm>
            <a:off x="6324447" y="4074160"/>
            <a:ext cx="5318607" cy="685800"/>
          </a:xfrm>
          <a:prstGeom prst="rect">
            <a:avLst/>
          </a:prstGeom>
          <a:noFill/>
        </p:spPr>
        <p:txBody>
          <a:bodyPr wrap="square" lIns="0" tIns="0" rIns="0" bIns="0" anchor="t">
            <a:noAutofit/>
          </a:bodyPr>
          <a:lstStyle/>
          <a:p>
            <a:pPr algn="l">
              <a:spcAft>
                <a:spcPts val="0"/>
              </a:spcAft>
            </a:pPr>
            <a:r>
              <a:rPr sz="1400" b="0">
                <a:solidFill>
                  <a:srgbClr val="52514E"/>
                </a:solidFill>
              </a:rPr>
              <a:t>Republican minus Democrat, as a share of that shift (Qwen / Llama)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8AABAF8-9CE0-B243-B7F1-47EF2A676438}">
  <we:reference id="WA200010001" version="1.0.0.1" store="Omex" storeType="OMEX"/>
  <we:alternateReferences>
    <we:reference id="WA200010001" version="1.0.0.1" store="WA200010001" storeType="OMEX"/>
  </we:alternateReferences>
  <we:properties>
    <we:property name="claude.fileId" value="&quot;6b5b107d-5d3f-4ef7-9d26-6d335a60727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TotalTime>
  <Words>4089</Words>
  <Application>Microsoft Macintosh PowerPoint</Application>
  <PresentationFormat>Widescreen</PresentationFormat>
  <Paragraphs>285</Paragraphs>
  <Slides>27</Slides>
  <Notes>27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27</vt:i4>
      </vt:variant>
    </vt:vector>
  </HeadingPairs>
  <TitlesOfParts>
    <vt:vector size="29" baseType="lpstr">
      <vt:lpstr>Arial</vt:lpstr>
      <vt:lpstr>Office Theme</vt:lpstr>
      <vt:lpstr>AI and the democratic process - does model refusal direction change based on partisanship? </vt:lpstr>
      <vt:lpstr>Motivation</vt:lpstr>
      <vt:lpstr>Motivation</vt:lpstr>
      <vt:lpstr>What we’ll cover</vt:lpstr>
      <vt:lpstr>Prior work: refusal is mediated by a single direction</vt:lpstr>
      <vt:lpstr>Our question: is that direction party-blind?</vt:lpstr>
      <vt:lpstr>What we did: from prompts to causal tests</vt:lpstr>
      <vt:lpstr>920 prompts where only the asker changes</vt:lpstr>
      <vt:lpstr>The paper’s safety judge flags none of these replies</vt:lpstr>
      <vt:lpstr>What we found</vt:lpstr>
      <vt:lpstr>No party gap: the models favor the asker’s own side</vt:lpstr>
      <vt:lpstr>A Lakers fan is treated like a partisan</vt:lpstr>
      <vt:lpstr>One refusal direction: layer 19 in Qwen, 13 in Llama</vt:lpstr>
      <vt:lpstr>Who’s asking registers in the first layers</vt:lpstr>
      <vt:lpstr>Whose claim it is switches on mid-network</vt:lpstr>
      <vt:lpstr>Removing the direction mostly erases the gap</vt:lpstr>
      <vt:lpstr>In Llama the gap runs through refusal; in Qwen, mostly not</vt:lpstr>
      <vt:lpstr>Qwen has a second direction for whose claim it is</vt:lpstr>
      <vt:lpstr>Non-partisan, yes. Serving democracy? Less clear</vt:lpstr>
      <vt:lpstr>In Chinese, Qwen censors more, and not through refusal</vt:lpstr>
      <vt:lpstr>Takeaways</vt:lpstr>
      <vt:lpstr>Next steps</vt:lpstr>
      <vt:lpstr>Backup slides</vt:lpstr>
      <vt:lpstr>Request format matters more than severity</vt:lpstr>
      <vt:lpstr>How the design answered the TA’s feedback</vt:lpstr>
      <vt:lpstr>Why the constant shift, not “set to the mean”</vt:lpstr>
      <vt:lpstr>The direction tracks refusal, and it’s party-blind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Michael</cp:lastModifiedBy>
  <cp:revision>2</cp:revision>
  <dcterms:created xsi:type="dcterms:W3CDTF">2013-01-27T09:14:16Z</dcterms:created>
  <dcterms:modified xsi:type="dcterms:W3CDTF">2026-10-29T02:51:50Z</dcterms:modified>
  <cp:category/>
</cp:coreProperties>
</file>