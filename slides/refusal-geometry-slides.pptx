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67" r:id="rId13"/>
    <p:sldId id="270" r:id="rId16"/>
    <p:sldId id="272" r:id="rId18"/>
    <p:sldId id="300" r:id="rId50"/>
    <p:sldId id="295" r:id="rId45"/>
    <p:sldId id="276" r:id="rId22"/>
    <p:sldId id="277" r:id="rId23"/>
    <p:sldId id="291" r:id="rId41"/>
    <p:sldId id="265" r:id="rId11"/>
    <p:sldId id="268" r:id="rId14"/>
    <p:sldId id="269" r:id="rId15"/>
    <p:sldId id="271" r:id="rId17"/>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 id="299" r:id="rId49"/>
    <p:sldId id="274" r:id="rId20"/>
    <p:sldId id="301" r:id="rId51"/>
    <p:sldId id="302" r:id="rId52"/>
    <p:sldId id="303"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5.xml"/><Relationship Id="rId12" Type="http://schemas.openxmlformats.org/officeDocument/2006/relationships/slide" Target="slides/slide40.xml"/><Relationship Id="rId13" Type="http://schemas.openxmlformats.org/officeDocument/2006/relationships/slide" Target="slides/slide17.xml"/><Relationship Id="rId14" Type="http://schemas.openxmlformats.org/officeDocument/2006/relationships/slide" Target="slides/slide26.xml"/><Relationship Id="rId15" Type="http://schemas.openxmlformats.org/officeDocument/2006/relationships/slide" Target="slides/slide27.xml"/><Relationship Id="rId16" Type="http://schemas.openxmlformats.org/officeDocument/2006/relationships/slide" Target="slides/slide18.xml"/><Relationship Id="rId17" Type="http://schemas.openxmlformats.org/officeDocument/2006/relationships/slide" Target="slides/slide28.xml"/><Relationship Id="rId18" Type="http://schemas.openxmlformats.org/officeDocument/2006/relationships/slide" Target="slides/slide19.xml"/><Relationship Id="rId19" Type="http://schemas.openxmlformats.org/officeDocument/2006/relationships/slide" Target="slides/slide29.xml"/><Relationship Id="rId20" Type="http://schemas.openxmlformats.org/officeDocument/2006/relationships/slide" Target="slides/slide44.xml"/><Relationship Id="rId21" Type="http://schemas.openxmlformats.org/officeDocument/2006/relationships/slide" Target="slides/slide3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4.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21.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20.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causal test. Inside the model, other-side requests sit a little higher on the refusal direction than own-side ones; that difference is what the x-axis counts in (0.14 units in Llama, 1.56 in Qwen). We push every own-side prompt up the refusal direction by that amount (1x), or two or three times it, at the chosen layer, and see how often the model still does the task. If the internal difference is why other-side requests get less help, the blue line should fall to the orange one. Llama: 18% to 13% at 1x, 11% at 2x, and onto the 10% line by 3x. Qwen: 40% to 39% at 1x and still 31% at 3x, above the 26% line. A much bigger push (10x) does cut Qwen to 15%, so the direction works in Qwen too, but the difference is too small to explain its gap. If asked: this chart uses Llama Guard 3, the only judge run at every push size; the Claude judge agrees (Llama 34% to 24% at 2x, against 26% for the other side). The same push in a random direction does nothing (Llama 2x: 34% under Claude). Qwen wasn't run at 2x. The original chart with both judges, the random control and 10x is the last slide of Appendix C.</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Previous text version of slide 20 (four rows). To use it, move it into place as slide 20.</a:t>
            </a:r>
          </a:p>
          <a:p/>
          <a:p>
            <a:r>
              <a:t>Back to the motivation. The models don't tend to show party-based bias: Democrats and Republicans get about the same help. Interestingly, they do favor the asker's own side. They help more when the claim matches the asker's party,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20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the gaps-only and simple-dumbbell versions, an academic version with error bars, the earlier text version of the implications slide (slide 20), options A and B for the slide 19 chart, and the original slide 19 chart (last slide). Slide 16 uses the bar version; slide 19 uses option C.</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next three slides back it up: it isn't about party, where in the model the gap appears, and how Llama and Qwen differ.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Academic version of the punchline chart (slide 16): same numbers, with 95% Wilson intervals on each bar and the paired significance test as brackets. If asked why the intervals overlap while the test is significant: each bar's interval ignores the pairing, while McNemar's test compares the same 136 prompts asked both ways, which removes most of the prompt-to-prompt variation. To use it, move this slide into place as slide 16.</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 to the motivation. Left: by party there's no gap. Democrats and Republicans get about the same help, 1 to 4 points apart and not significant. Right: interestingly, the models do favor the asker's own side. Own-side requests get the content 7 to 15 points more often,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A for the slide 19 chart: bars, Claude judge only. Own side before the push, after a push of exactly the measured gap (1×), and the other side. The push closes 70% of Llama's gap and 26% of Qwen's; 2× closes Llama's fully. Slide 19 uses option C.</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slide 19 chart: one number per test, the share of the own-side gap the push closes, Claude judge only. The gray row is the control: the same 2× push in a random direction closes none of it. Slide 19 uses option C.</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original slide 19 chart: both judges (solid Claude, dashed Llama Guard), the random-direction control (gray dots) and the 10x push. Kept as backup for questions; slide 19 uses the one-judge version (option 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 Id="rId3" Type="http://schemas.openxmlformats.org/officeDocument/2006/relationships/image" Target="../media/image18.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the evidence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24</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
        <p:nvSpPr>
          <p:cNvPr id="8" name="What they found"/>
          <p:cNvSpPr txBox="1"/>
          <p:nvPr/>
        </p:nvSpPr>
        <p:spPr>
          <a:xfrm>
            <a:off x="548640" y="4389120"/>
            <a:ext cx="11094415" cy="960120"/>
          </a:xfrm>
          <a:prstGeom prst="rect">
            <a:avLst/>
          </a:prstGeom>
          <a:noFill/>
        </p:spPr>
        <p:txBody>
          <a:bodyPr wrap="square" anchor="t" lIns="0" rIns="0" tIns="0" bIns="0">
            <a:noAutofit/>
          </a:bodyPr>
          <a:lstStyle/>
          <a:p>
            <a:pPr algn="l">
              <a:spcAft>
                <a:spcPts val="0"/>
              </a:spcAft>
            </a:pPr>
            <a:r>
              <a:rPr sz="1800" b="1">
                <a:solidFill>
                  <a:srgbClr val="000000"/>
                </a:solidFill>
              </a:rPr>
              <a:t>What they found: </a:t>
            </a:r>
            <a:r>
              <a:rPr sz="1800" b="0">
                <a:solidFill>
                  <a:srgbClr val="52514E"/>
                </a:solidFill>
              </a:rPr>
              <a:t>in 13 open chat models, one direction in the model’s activations controls refusal. Remove it and the model answers harmful requests; add it and it refuses harmless ones. So the refusal that safety training adds is simple, and easy to strip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Prompting</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Generating and judging</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Finding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Looking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Causal testing</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Judging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Looking inside and causal testing</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Other-side claims drift toward refusal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
        <p:nvSpPr>
          <p:cNvPr id="6" name="Footnote"/>
          <p:cNvSpPr txBox="1"/>
          <p:nvPr/>
        </p:nvSpPr>
        <p:spPr>
          <a:xfrm>
            <a:off x="548640" y="5943600"/>
            <a:ext cx="11094415" cy="365759"/>
          </a:xfrm>
          <a:prstGeom prst="rect">
            <a:avLst/>
          </a:prstGeom>
          <a:noFill/>
        </p:spPr>
        <p:txBody>
          <a:bodyPr wrap="square" anchor="t" lIns="0" rIns="0" tIns="0" bIns="0">
            <a:noAutofit/>
          </a:bodyPr>
          <a:lstStyle/>
          <a:p>
            <a:pPr algn="l">
              <a:spcAft>
                <a:spcPts val="0"/>
              </a:spcAft>
            </a:pPr>
            <a:r>
              <a:rPr sz="1200" b="1">
                <a:solidFill>
                  <a:srgbClr val="898781"/>
                </a:solidFill>
              </a:rPr>
              <a:t>How the % is calculated: </a:t>
            </a:r>
            <a:r>
              <a:rPr sz="1200" b="0">
                <a:solidFill>
                  <a:srgbClr val="898781"/>
                </a:solidFill>
              </a:rPr>
              <a:t>at each layer, a prompt’s score is its projection onto that layer’s refusal direction. Plotted value = mean over matched pairs of (other-side score − own-side score) ÷ (mean stolen-election score − mean harmless-question score) × 100.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Pushing along the refusal direction closes Llama’s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Footnote"/>
          <p:cNvSpPr txBox="1"/>
          <p:nvPr/>
        </p:nvSpPr>
        <p:spPr>
          <a:xfrm>
            <a:off x="548640" y="5760720"/>
            <a:ext cx="11094415" cy="548640"/>
          </a:xfrm>
          <a:prstGeom prst="rect">
            <a:avLst/>
          </a:prstGeom>
          <a:noFill/>
        </p:spPr>
        <p:txBody>
          <a:bodyPr wrap="square" anchor="t" lIns="0" rIns="0" tIns="0" bIns="0">
            <a:noAutofit/>
          </a:bodyPr>
          <a:lstStyle/>
          <a:p>
            <a:pPr algn="l">
              <a:spcAft>
                <a:spcPts val="0"/>
              </a:spcAft>
            </a:pPr>
            <a:r>
              <a:rPr sz="1200" b="1">
                <a:solidFill>
                  <a:srgbClr val="898781"/>
                </a:solidFill>
              </a:rPr>
              <a:t>How it’s calculated: </a:t>
            </a:r>
            <a:r>
              <a:rPr sz="1200" b="0">
                <a:solidFill>
                  <a:srgbClr val="898781"/>
                </a:solidFill>
              </a:rPr>
              <a:t>the gap inside the model, Δ = mean projection of other-side prompts − mean projection of own-side prompts on the refusal direction u, at the chosen layer (Qwen 19, Llama 13). Each own-side prompt’s activations x become x + k·Δ·u at every token, for k = 1, 2 or 3. Did the task = % of the 136 replies that produce the requested content, per Llama Guard 3.</a:t>
            </a:r>
          </a:p>
        </p:txBody>
      </p:sp>
      <p:pic>
        <p:nvPicPr>
          <p:cNvPr id="5" name="slide_shift_dose_c.png" descr="Own-side did-the-task rate as the push grows from none to 3×, against the other side's level, Llama Guard 3 judge, for Qwen2.5-7B and Llama-3.1-8B."/>
          <p:cNvPicPr>
            <a:picLocks noChangeAspect="1"/>
          </p:cNvPicPr>
          <p:nvPr/>
        </p:nvPicPr>
        <p:blipFill>
          <a:blip r:embed="rId4"/>
          <a:stretch>
            <a:fillRect/>
          </a:stretch>
        </p:blipFill>
        <p:spPr>
          <a:xfrm>
            <a:off x="1491190" y="1371599"/>
            <a:ext cx="9209314" cy="3581400"/>
          </a:xfrm>
          <a:prstGeom prst="rect">
            <a:avLst/>
          </a:prstGeom>
        </p:spPr>
      </p:pic>
      <p:sp>
        <p:nvSpPr>
          <p:cNvPr id="6" name="Caption"/>
          <p:cNvSpPr txBox="1"/>
          <p:nvPr/>
        </p:nvSpPr>
        <p:spPr>
          <a:xfrm>
            <a:off x="1491190" y="5135880"/>
            <a:ext cx="9209314" cy="487680"/>
          </a:xfrm>
          <a:prstGeom prst="rect">
            <a:avLst/>
          </a:prstGeom>
          <a:noFill/>
        </p:spPr>
        <p:txBody>
          <a:bodyPr wrap="square" anchor="t" lIns="0" rIns="0" tIns="0" bIns="0">
            <a:noAutofit/>
          </a:bodyPr>
          <a:lstStyle/>
          <a:p>
            <a:pPr algn="l">
              <a:spcAft>
                <a:spcPts val="0"/>
              </a:spcAft>
            </a:pPr>
            <a:r>
              <a:rPr sz="1600" b="0">
                <a:solidFill>
                  <a:srgbClr val="52514E"/>
                </a:solidFill>
              </a:rPr>
              <a:t>1× raises own-side prompts to where other-side prompts sit on the refusal direction. Llama falls to the other side’s level by 2–3×; Qwen is still above it at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20</a:t>
            </a:fld>
          </a:p>
        </p:txBody>
      </p:sp>
      <p:sp>
        <p:nvSpPr>
          <p:cNvPr id="4" name="Column 1 label"/>
          <p:cNvSpPr txBox="1"/>
          <p:nvPr/>
        </p:nvSpPr>
        <p:spPr>
          <a:xfrm>
            <a:off x="548640" y="1691640"/>
            <a:ext cx="5318607" cy="320040"/>
          </a:xfrm>
          <a:prstGeom prst="rect">
            <a:avLst/>
          </a:prstGeom>
          <a:noFill/>
        </p:spPr>
        <p:txBody>
          <a:bodyPr wrap="square" anchor="t" lIns="0" rIns="0" tIns="0" bIns="0">
            <a:noAutofit/>
          </a:bodyPr>
          <a:lstStyle/>
          <a:p>
            <a:pPr algn="l">
              <a:spcAft>
                <a:spcPts val="0"/>
              </a:spcAft>
            </a:pPr>
            <a:r>
              <a:rPr sz="1600" b="1">
                <a:solidFill>
                  <a:srgbClr val="898781"/>
                </a:solidFill>
              </a:rPr>
              <a:t>Democrat vs Republican</a:t>
            </a:r>
          </a:p>
        </p:txBody>
      </p:sp>
      <p:sp>
        <p:nvSpPr>
          <p:cNvPr id="5" name="Column 1 value"/>
          <p:cNvSpPr txBox="1"/>
          <p:nvPr/>
        </p:nvSpPr>
        <p:spPr>
          <a:xfrm>
            <a:off x="548640" y="2103120"/>
            <a:ext cx="5318607" cy="731520"/>
          </a:xfrm>
          <a:prstGeom prst="rect">
            <a:avLst/>
          </a:prstGeom>
          <a:noFill/>
        </p:spPr>
        <p:txBody>
          <a:bodyPr wrap="square" anchor="t" lIns="0" rIns="0" tIns="0" bIns="0">
            <a:noAutofit/>
          </a:bodyPr>
          <a:lstStyle/>
          <a:p>
            <a:pPr algn="l">
              <a:spcAft>
                <a:spcPts val="0"/>
              </a:spcAft>
            </a:pPr>
            <a:r>
              <a:rPr sz="4400" b="1">
                <a:solidFill>
                  <a:srgbClr val="000000"/>
                </a:solidFill>
              </a:rPr>
              <a:t>No gap</a:t>
            </a:r>
          </a:p>
        </p:txBody>
      </p:sp>
      <p:sp>
        <p:nvSpPr>
          <p:cNvPr id="6" name="Column 1 text"/>
          <p:cNvSpPr txBox="1"/>
          <p:nvPr/>
        </p:nvSpPr>
        <p:spPr>
          <a:xfrm>
            <a:off x="548640" y="2926080"/>
            <a:ext cx="5318607" cy="822960"/>
          </a:xfrm>
          <a:prstGeom prst="rect">
            <a:avLst/>
          </a:prstGeom>
          <a:noFill/>
        </p:spPr>
        <p:txBody>
          <a:bodyPr wrap="square" anchor="t" lIns="0" rIns="0" tIns="0" bIns="0">
            <a:noAutofit/>
          </a:bodyPr>
          <a:lstStyle/>
          <a:p>
            <a:pPr algn="l">
              <a:spcAft>
                <a:spcPts val="0"/>
              </a:spcAft>
            </a:pPr>
            <a:r>
              <a:rPr sz="1800" b="0">
                <a:solidFill>
                  <a:srgbClr val="52514E"/>
                </a:solidFill>
              </a:rPr>
              <a:t>No party-based bias: both parties get about the same help (1–4 points apart, not significant).</a:t>
            </a:r>
          </a:p>
        </p:txBody>
      </p:sp>
      <p:sp>
        <p:nvSpPr>
          <p:cNvPr id="7" name="Column 2 label"/>
          <p:cNvSpPr txBox="1"/>
          <p:nvPr/>
        </p:nvSpPr>
        <p:spPr>
          <a:xfrm>
            <a:off x="6324447" y="1691640"/>
            <a:ext cx="5318607" cy="320040"/>
          </a:xfrm>
          <a:prstGeom prst="rect">
            <a:avLst/>
          </a:prstGeom>
          <a:noFill/>
        </p:spPr>
        <p:txBody>
          <a:bodyPr wrap="square" anchor="t" lIns="0" rIns="0" tIns="0" bIns="0">
            <a:noAutofit/>
          </a:bodyPr>
          <a:lstStyle/>
          <a:p>
            <a:pPr algn="l">
              <a:spcAft>
                <a:spcPts val="0"/>
              </a:spcAft>
            </a:pPr>
            <a:r>
              <a:rPr sz="1600" b="1">
                <a:solidFill>
                  <a:srgbClr val="898781"/>
                </a:solidFill>
              </a:rPr>
              <a:t>Own side vs other side</a:t>
            </a:r>
          </a:p>
        </p:txBody>
      </p:sp>
      <p:sp>
        <p:nvSpPr>
          <p:cNvPr id="8" name="Column 2 value"/>
          <p:cNvSpPr txBox="1"/>
          <p:nvPr/>
        </p:nvSpPr>
        <p:spPr>
          <a:xfrm>
            <a:off x="6324447" y="2103120"/>
            <a:ext cx="5318607" cy="731520"/>
          </a:xfrm>
          <a:prstGeom prst="rect">
            <a:avLst/>
          </a:prstGeom>
          <a:noFill/>
        </p:spPr>
        <p:txBody>
          <a:bodyPr wrap="square" anchor="t" lIns="0" rIns="0" tIns="0" bIns="0">
            <a:noAutofit/>
          </a:bodyPr>
          <a:lstStyle/>
          <a:p>
            <a:pPr algn="l">
              <a:spcAft>
                <a:spcPts val="0"/>
              </a:spcAft>
            </a:pPr>
            <a:r>
              <a:rPr sz="4400" b="1">
                <a:solidFill>
                  <a:srgbClr val="000000"/>
                </a:solidFill>
              </a:rPr>
              <a:t>+7–15 points</a:t>
            </a:r>
          </a:p>
        </p:txBody>
      </p:sp>
      <p:sp>
        <p:nvSpPr>
          <p:cNvPr id="9" name="Column 2 text"/>
          <p:cNvSpPr txBox="1"/>
          <p:nvPr/>
        </p:nvSpPr>
        <p:spPr>
          <a:xfrm>
            <a:off x="6324447" y="2926080"/>
            <a:ext cx="5318607" cy="822960"/>
          </a:xfrm>
          <a:prstGeom prst="rect">
            <a:avLst/>
          </a:prstGeom>
          <a:noFill/>
        </p:spPr>
        <p:txBody>
          <a:bodyPr wrap="square" anchor="t" lIns="0" rIns="0" tIns="0" bIns="0">
            <a:noAutofit/>
          </a:bodyPr>
          <a:lstStyle/>
          <a:p>
            <a:pPr algn="l">
              <a:spcAft>
                <a:spcPts val="0"/>
              </a:spcAft>
            </a:pPr>
            <a:r>
              <a:rPr sz="1800" b="0">
                <a:solidFill>
                  <a:srgbClr val="52514E"/>
                </a:solidFill>
              </a:rPr>
              <a:t>Interestingly, the models help more when the claim belongs to the asker’s own side.</a:t>
            </a:r>
          </a:p>
        </p:txBody>
      </p:sp>
      <p:cxnSp>
        <p:nvCxnSpPr>
          <p:cNvPr id="10" name="Rule"/>
          <p:cNvCxnSpPr/>
          <p:nvPr/>
        </p:nvCxnSpPr>
        <p:spPr>
          <a:xfrm>
            <a:off x="548640" y="4069080"/>
            <a:ext cx="11094415"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Implication"/>
          <p:cNvSpPr txBox="1"/>
          <p:nvPr/>
        </p:nvSpPr>
        <p:spPr>
          <a:xfrm>
            <a:off x="548640" y="4343400"/>
            <a:ext cx="11094415" cy="822960"/>
          </a:xfrm>
          <a:prstGeom prst="rect">
            <a:avLst/>
          </a:prstGeom>
          <a:noFill/>
        </p:spPr>
        <p:txBody>
          <a:bodyPr wrap="square" anchor="t" lIns="0" rIns="0" tIns="0" bIns="0">
            <a:noAutofit/>
          </a:bodyPr>
          <a:lstStyle/>
          <a:p>
            <a:pPr algn="l">
              <a:spcAft>
                <a:spcPts val="0"/>
              </a:spcAft>
            </a:pPr>
            <a:r>
              <a:rPr sz="2200" b="1">
                <a:solidFill>
                  <a:srgbClr val="000000"/>
                </a:solidFill>
              </a:rPr>
              <a:t>Potentially concerning. </a:t>
            </a:r>
            <a:r>
              <a:rPr sz="2200" b="0">
                <a:solidFill>
                  <a:srgbClr val="52514E"/>
                </a:solidFill>
              </a:rPr>
              <a:t>It looks like sycophancy: the model affirms the user’s own bias, building an echo chamber.</a:t>
            </a:r>
          </a:p>
        </p:txBody>
      </p:sp>
      <p:sp>
        <p:nvSpPr>
          <p:cNvPr id="12" name="Open question"/>
          <p:cNvSpPr txBox="1"/>
          <p:nvPr/>
        </p:nvSpPr>
        <p:spPr>
          <a:xfrm>
            <a:off x="548640" y="5440680"/>
            <a:ext cx="11094415" cy="365760"/>
          </a:xfrm>
          <a:prstGeom prst="rect">
            <a:avLst/>
          </a:prstGeom>
          <a:noFill/>
        </p:spPr>
        <p:txBody>
          <a:bodyPr wrap="square" anchor="t" lIns="0" rIns="0" tIns="0" bIns="0">
            <a:noAutofit/>
          </a:bodyPr>
          <a:lstStyle/>
          <a:p>
            <a:pPr algn="l">
              <a:spcAft>
                <a:spcPts val="0"/>
              </a:spcAft>
            </a:pPr>
            <a:r>
              <a:rPr sz="1600" b="0">
                <a:solidFill>
                  <a:srgbClr val="898781"/>
                </a:solidFill>
              </a:rPr>
              <a:t>Still open: is it sycophancy, or does a mismatched request just look suspicious to the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18</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9718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43</a:t>
            </a:fld>
          </a:p>
        </p:txBody>
      </p:sp>
      <p:pic>
        <p:nvPicPr>
          <p:cNvPr id="4" name="slide_headline_academic.png" descr="Did-the-task rates with 95% intervals and McNemar significance brackets: Democrat vs Republican and own side vs other side, for Qwen2.5-7B and Llama-3.1-8B."/>
          <p:cNvPicPr>
            <a:picLocks noChangeAspect="1"/>
          </p:cNvPicPr>
          <p:nvPr/>
        </p:nvPicPr>
        <p:blipFill>
          <a:blip r:embed="rId3"/>
          <a:stretch>
            <a:fillRect/>
          </a:stretch>
        </p:blipFill>
        <p:spPr>
          <a:xfrm>
            <a:off x="615682" y="1371600"/>
            <a:ext cx="10960330" cy="4465320"/>
          </a:xfrm>
          <a:prstGeom prst="rect">
            <a:avLst/>
          </a:prstGeom>
        </p:spPr>
      </p:pic>
      <p:sp>
        <p:nvSpPr>
          <p:cNvPr id="5" name="Caption"/>
          <p:cNvSpPr txBox="1"/>
          <p:nvPr/>
        </p:nvSpPr>
        <p:spPr>
          <a:xfrm>
            <a:off x="615682" y="6019800"/>
            <a:ext cx="10960330"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44</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Models don’t tend to show party-based bias.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Interestingly, they do favor the asker’s own side. </a:t>
            </a:r>
            <a:r>
              <a:rPr sz="2100" b="0">
                <a:solidFill>
                  <a:srgbClr val="52514E"/>
                </a:solidFill>
              </a:rPr>
              <a:t>They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is potentially concerning. </a:t>
            </a:r>
            <a:r>
              <a:rPr sz="2100" b="0">
                <a:solidFill>
                  <a:srgbClr val="52514E"/>
                </a:solidFill>
              </a:rPr>
              <a:t>It looks like sycophancy: the model affirms the user’s own bias, which builds an echo chamber.</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It may be sycophancy, or a mismatched request may simply look suspicious to the model.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Pushing along the refusal direction closes Llama’s gap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45</a:t>
            </a:fld>
          </a:p>
        </p:txBody>
      </p:sp>
      <p:pic>
        <p:nvPicPr>
          <p:cNvPr id="4" name="slide_shift_dose_a.png" descr="Did the task, Claude judge: own side, own side pushed 1× along the refusal direction, and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Pushing by exactly the gap closes 70% of Llama’s gap but only 26% of Qwen’s. 2× closes Llama’s fully.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Pushing along the refusal direction closes Llama’s gap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46</a:t>
            </a:fld>
          </a:p>
        </p:txBody>
      </p:sp>
      <p:pic>
        <p:nvPicPr>
          <p:cNvPr id="4" name="slide_shift_dose_b.png" descr="Share of the own-side gap closed: Llama 1× 70%, Llama 2× 130%, Qwen 1× 26%, random-direction control 0%."/>
          <p:cNvPicPr>
            <a:picLocks noChangeAspect="1"/>
          </p:cNvPicPr>
          <p:nvPr/>
        </p:nvPicPr>
        <p:blipFill>
          <a:blip r:embed="rId3"/>
          <a:stretch>
            <a:fillRect/>
          </a:stretch>
        </p:blipFill>
        <p:spPr>
          <a:xfrm>
            <a:off x="548640" y="1755190"/>
            <a:ext cx="11094415" cy="3698138"/>
          </a:xfrm>
          <a:prstGeom prst="rect">
            <a:avLst/>
          </a:prstGeom>
        </p:spPr>
      </p:pic>
      <p:sp>
        <p:nvSpPr>
          <p:cNvPr id="5" name="Caption"/>
          <p:cNvSpPr txBox="1"/>
          <p:nvPr/>
        </p:nvSpPr>
        <p:spPr>
          <a:xfrm>
            <a:off x="548640" y="5636209"/>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1× closes 70% of the gap, 2× all of it. Qwen: 1× closes 26%. A random direction closes none.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Pushing along the refusal direction closes Llama’s gap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47</a:t>
            </a:fld>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4"/>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