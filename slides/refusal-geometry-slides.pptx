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67" r:id="rId13"/>
    <p:sldId id="270" r:id="rId16"/>
    <p:sldId id="272" r:id="rId18"/>
    <p:sldId id="274" r:id="rId20"/>
    <p:sldId id="295" r:id="rId45"/>
    <p:sldId id="276" r:id="rId22"/>
    <p:sldId id="277" r:id="rId23"/>
    <p:sldId id="291" r:id="rId41"/>
    <p:sldId id="265" r:id="rId11"/>
    <p:sldId id="268" r:id="rId14"/>
    <p:sldId id="269" r:id="rId15"/>
    <p:sldId id="271" r:id="rId17"/>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 id="299"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5.xml"/><Relationship Id="rId12" Type="http://schemas.openxmlformats.org/officeDocument/2006/relationships/slide" Target="slides/slide40.xml"/><Relationship Id="rId13" Type="http://schemas.openxmlformats.org/officeDocument/2006/relationships/slide" Target="slides/slide17.xml"/><Relationship Id="rId14" Type="http://schemas.openxmlformats.org/officeDocument/2006/relationships/slide" Target="slides/slide26.xml"/><Relationship Id="rId15" Type="http://schemas.openxmlformats.org/officeDocument/2006/relationships/slide" Target="slides/slide27.xml"/><Relationship Id="rId16" Type="http://schemas.openxmlformats.org/officeDocument/2006/relationships/slide" Target="slides/slide18.xml"/><Relationship Id="rId17" Type="http://schemas.openxmlformats.org/officeDocument/2006/relationships/slide" Target="slides/slide28.xml"/><Relationship Id="rId18" Type="http://schemas.openxmlformats.org/officeDocument/2006/relationships/slide" Target="slides/slide19.xml"/><Relationship Id="rId19" Type="http://schemas.openxmlformats.org/officeDocument/2006/relationships/slide" Target="slides/slide29.xml"/><Relationship Id="rId20" Type="http://schemas.openxmlformats.org/officeDocument/2006/relationships/slide" Target="slides/slide20.xml"/><Relationship Id="rId21" Type="http://schemas.openxmlformats.org/officeDocument/2006/relationships/slide" Target="slides/slide3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4.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21.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to the motivation. The models pass the simple fairness test: Democrats and Republicans get about the same help. But they help more when the claim matches the asker's party, so a Republican asking to prove 2020 was stolen, or a Democrat asking about 2016, gets more help than someone asking about the other side's claim. Those are the people most likely to believe the claim and pass it on, which works against the goal of supporting democracy. We can't yet say why. One reading is that the model goes along with views it infers from the asker. The other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20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the gaps-only and simple-dumbbell versions, and an academic version with error bars (last slide). Slide 16 uses the bar version.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next three slides back it up: it isn't about party, where in the model the gap appears, and how Llama and Qwen differ.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Academic version of the punchline chart (slide 16): same numbers, with 95% Wilson intervals on each bar and the paired significance test as brackets. If asked why the intervals overlap while the test is significant: each bar's interval ignores the pairing, while McNemar's test compares the same 136 prompts asked both ways, which removes most of the prompt-to-prompt variation. To use it, move this slide into place as slide 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the evidence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24</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
        <p:nvSpPr>
          <p:cNvPr id="8" name="What they found"/>
          <p:cNvSpPr txBox="1"/>
          <p:nvPr/>
        </p:nvSpPr>
        <p:spPr>
          <a:xfrm>
            <a:off x="548640" y="4389120"/>
            <a:ext cx="11094415" cy="960120"/>
          </a:xfrm>
          <a:prstGeom prst="rect">
            <a:avLst/>
          </a:prstGeom>
          <a:noFill/>
        </p:spPr>
        <p:txBody>
          <a:bodyPr wrap="square" anchor="t" lIns="0" rIns="0" tIns="0" bIns="0">
            <a:noAutofit/>
          </a:bodyPr>
          <a:lstStyle/>
          <a:p>
            <a:pPr algn="l">
              <a:spcAft>
                <a:spcPts val="0"/>
              </a:spcAft>
            </a:pPr>
            <a:r>
              <a:rPr sz="1800" b="1">
                <a:solidFill>
                  <a:srgbClr val="000000"/>
                </a:solidFill>
              </a:rPr>
              <a:t>What they found: </a:t>
            </a:r>
            <a:r>
              <a:rPr sz="1800" b="0">
                <a:solidFill>
                  <a:srgbClr val="52514E"/>
                </a:solidFill>
              </a:rPr>
              <a:t>in 13 open chat models, one direction in the model’s activations controls refusal. Remove it and the model answers harmful requests; add it and it refuses harmless ones. So the refusal that safety training adds is simple, and easy to strip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Prompting</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Generating and judging</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Finding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Looking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Causal testing</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Judging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Looking inside and causal testing</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Whose claim it is switches on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Llama the gap runs through refusal; in Qwen, mostly not</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this means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20</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Fair to both parties.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But not to every claim. </a:t>
            </a:r>
            <a:r>
              <a:rPr sz="2100" b="0">
                <a:solidFill>
                  <a:srgbClr val="52514E"/>
                </a:solidFill>
              </a:rPr>
              <a:t>The models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works against the democracy goal. </a:t>
            </a:r>
            <a:r>
              <a:rPr sz="2100" b="0">
                <a:solidFill>
                  <a:srgbClr val="52514E"/>
                </a:solidFill>
              </a:rPr>
              <a:t>The people most likely to believe and spread a stolen-election claim get the most help with it.</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The model may be going along with the asker, or a mismatched request may look suspicious to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18</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9718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43</a:t>
            </a:fld>
          </a:p>
        </p:txBody>
      </p:sp>
      <p:pic>
        <p:nvPicPr>
          <p:cNvPr id="4" name="slide_headline_academic.png" descr="Did-the-task rates with 95% intervals and McNemar significance brackets: Democrat vs Republican and own side vs other side, for Qwen2.5-7B and Llama-3.1-8B."/>
          <p:cNvPicPr>
            <a:picLocks noChangeAspect="1"/>
          </p:cNvPicPr>
          <p:nvPr/>
        </p:nvPicPr>
        <p:blipFill>
          <a:blip r:embed="rId3"/>
          <a:stretch>
            <a:fillRect/>
          </a:stretch>
        </p:blipFill>
        <p:spPr>
          <a:xfrm>
            <a:off x="615682" y="1371600"/>
            <a:ext cx="10960330" cy="4465320"/>
          </a:xfrm>
          <a:prstGeom prst="rect">
            <a:avLst/>
          </a:prstGeom>
        </p:spPr>
      </p:pic>
      <p:sp>
        <p:nvSpPr>
          <p:cNvPr id="5" name="Caption"/>
          <p:cNvSpPr txBox="1"/>
          <p:nvPr/>
        </p:nvSpPr>
        <p:spPr>
          <a:xfrm>
            <a:off x="615682" y="6019800"/>
            <a:ext cx="10960330"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