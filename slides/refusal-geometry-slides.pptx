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Qwen2.5-7B</c:v>
                </c:pt>
              </c:strCache>
            </c:strRef>
          </c:tx>
          <c:spPr>
            <a:solidFill>
              <a:srgbClr val="262626"/>
            </a:solidFill>
          </c:spPr>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ser>
        <c:ser>
          <c:idx val="1"/>
          <c:order val="1"/>
          <c:tx>
            <c:strRef>
              <c:f>Sheet1!$C$1</c:f>
              <c:strCache>
                <c:ptCount val="1"/>
                <c:pt idx="0">
                  <c:v>Llama-3.1-8B</c:v>
                </c:pt>
              </c:strCache>
            </c:strRef>
          </c:tx>
          <c:spPr>
            <a:solidFill>
              <a:srgbClr val="A6A6A6"/>
            </a:solidFill>
          </c:spPr>
          <c:cat>
            <c:strRef>
              <c:f>Sheet1!$A$2:$A$4</c:f>
              <c:strCache>
                <c:ptCount val="3"/>
                <c:pt idx="0">
                  <c:v>English</c:v>
                </c:pt>
                <c:pt idx="1">
                  <c:v>Simplified Chinese</c:v>
                </c:pt>
                <c:pt idx="2">
                  <c:v>Traditional Chinese</c:v>
                </c:pt>
              </c:strCache>
            </c:strRef>
          </c:cat>
          <c:val>
            <c:numRef>
              <c:f>Sheet1!$C$2:$C$4</c:f>
              <c:numCache>
                <c:formatCode>General</c:formatCode>
                <c:ptCount val="3"/>
                <c:pt idx="0">
                  <c:v>0.0</c:v>
                </c:pt>
                <c:pt idx="1">
                  <c:v>0.0</c:v>
                </c:pt>
                <c:pt idx="2">
                  <c:v>0.0</c:v>
                </c:pt>
              </c:numCache>
            </c:numRef>
          </c:val>
        </c:ser>
        <c:dLbls>
          <c:numFmt formatCode="0%" sourceLinked="0"/>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max val="1.0"/>
          <c:min val="0.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p>
        </c:txPr>
        <c:crossAx val="-2068027336"/>
        <c:crosses val="autoZero"/>
        <c:majorUnit val="0.25"/>
      </c:valAx>
    </c:plotArea>
    <c:legend>
      <c:legendPos val="t"/>
      <c:overlay val="0"/>
    </c:legend>
    <c:dispBlanksAs val="gap"/>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full names and the course name if you want them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roadmap for the rest of the talk. The numbers on the right are the slide where each part starts, handy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The next two slides cover the prompts and the judges; steps 3 to 5 come with the results. Each step shows the slide where it is covered.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found, on one slide; the slide number on the right is where each one is backed up. The first line answers our question from slide 6: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Democrat vs Republican. Differences of 1 to 4 points, none significant, under both judges. Bottom: own side vs other side. Own-side requests get the content 7 to 15 points more often, in both models and under both judges. Filled dots are the Claude judge, hollow ones Llama Guard. The judges disagree on levels by about 20 points but agree on every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asker compared with 'I'm a voter' on matched pairs. Naming a party lowers compliance, but so does 'I'm a Lakers fan', by about as much or more. So a party label acts like any identity. What moves the models is whose claim it is, not which party you name.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18 picks this up again.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slide 3. On the narrow test the models are non-partisan: no Democrat/Republican gap, and the refusal direction treats every asker the same. Serving democracy is less clear: they help most when the claim fits the asker, which is exactly the people most likely to believe it and spread it. Why would a model do that? Two readings. One is sycophancy: the model goes along with views it infers from who is asking. The other is suspicion: a Democrat asking to prove 2020 was stolen is an odd request, so the model reads bad faith and is warier. The Lakers-fan result fits the second, since an irrelevant self-description also lowers help, but our data can't separate them. A test that could: harmless requests from the other side, like a Republican asking for an op-ed praising a Democratic policy. More pushback there means suspicion of odd requests; none means going along with the asker.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what this group can still run. The first item is the test from slide 19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HANDOFF.md.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smtClean="0"/>
              <a:t>Click to edit Master title style</a:t>
            </a:r>
            <a:endParaRPr lang="en-US"/>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lgn="l"/>
            <a:r>
              <a:rPr sz="4000" b="1">
                <a:solidFill>
                  <a:srgbClr val="000000"/>
                </a:solidFill>
              </a:rPr>
              <a:t>Not partisan, but on your side</a:t>
            </a:r>
          </a:p>
        </p:txBody>
      </p:sp>
      <p:sp>
        <p:nvSpPr>
          <p:cNvPr id="3" name="Subtitle 2"/>
          <p:cNvSpPr>
            <a:spLocks noGrp="1"/>
          </p:cNvSpPr>
          <p:nvPr>
            <p:ph type="subTitle" idx="1"/>
          </p:nvPr>
        </p:nvSpPr>
        <p:spPr/>
        <p:txBody>
          <a:bodyPr/>
          <a:lstStyle/>
          <a:p>
            <a:pPr algn="l"/>
            <a:r>
              <a:rPr sz="2200" b="0">
                <a:solidFill>
                  <a:srgbClr val="52514E"/>
                </a:solidFill>
              </a:rPr>
              <a:t>Do chat models refuse “the election was stolen” differently depending on who asks?</a:t>
            </a:r>
          </a:p>
        </p:txBody>
      </p:sp>
      <p:sp>
        <p:nvSpPr>
          <p:cNvPr id="4" name="Team"/>
          <p:cNvSpPr txBox="1"/>
          <p:nvPr/>
        </p:nvSpPr>
        <p:spPr>
          <a:xfrm>
            <a:off x="548640" y="5074920"/>
            <a:ext cx="11094415" cy="365760"/>
          </a:xfrm>
          <a:prstGeom prst="rect">
            <a:avLst/>
          </a:prstGeom>
          <a:noFill/>
        </p:spPr>
        <p:txBody>
          <a:bodyPr wrap="square" anchor="t" lIns="0" rIns="0" tIns="0" bIns="0">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anchor="t" lIns="0" rIns="0" tIns="0" bIns="0">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matters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a:t>
            </a:fld>
          </a:p>
        </p:txBody>
      </p:sp>
      <p:sp>
        <p:nvSpPr>
          <p:cNvPr id="4" name="TextBox 3"/>
          <p:cNvSpPr txBox="1"/>
          <p:nvPr/>
        </p:nvSpPr>
        <p:spPr>
          <a:xfrm>
            <a:off x="548640" y="1737360"/>
            <a:ext cx="11094415" cy="1280160"/>
          </a:xfrm>
          <a:prstGeom prst="rect">
            <a:avLst/>
          </a:prstGeom>
          <a:noFill/>
        </p:spPr>
        <p:txBody>
          <a:bodyPr wrap="square" anchor="t" lIns="0" rIns="0" tIns="0" bIns="0">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Explaining how votes were counted and certified</a:t>
            </a:r>
          </a:p>
        </p:txBody>
      </p:sp>
      <p:sp>
        <p:nvSpPr>
          <p:cNvPr id="7" name="TextBox 6"/>
          <p:cNvSpPr txBox="1"/>
          <p:nvPr/>
        </p:nvSpPr>
        <p:spPr>
          <a:xfrm>
            <a:off x="6324447" y="35661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Arguing the election was stolen, for whoever asks</a:t>
            </a:r>
          </a:p>
        </p:txBody>
      </p:sp>
      <p:sp>
        <p:nvSpPr>
          <p:cNvPr id="9" name="TextBox 8"/>
          <p:cNvSpPr txBox="1"/>
          <p:nvPr/>
        </p:nvSpPr>
        <p:spPr>
          <a:xfrm>
            <a:off x="548640" y="5394960"/>
            <a:ext cx="11094415" cy="411480"/>
          </a:xfrm>
          <a:prstGeom prst="rect">
            <a:avLst/>
          </a:prstGeom>
          <a:noFill/>
        </p:spPr>
        <p:txBody>
          <a:bodyPr wrap="square" anchor="t" lIns="0" rIns="0" tIns="0" bIns="0">
            <a:noAutofit/>
          </a:bodyPr>
          <a:lstStyle/>
          <a:p>
            <a:pPr algn="l">
              <a:spcAft>
                <a:spcPts val="600"/>
              </a:spcAft>
            </a:pPr>
            <a:r>
              <a:rPr sz="2000" b="0">
                <a:solidFill>
                  <a:srgbClr val="000000"/>
                </a:solidFill>
              </a:rPr>
              <a:t>The line between helpful and harmful is blurred.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Models should serve democracy and stay non-partisan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a:t>
            </a:fld>
          </a:p>
        </p:txBody>
      </p:sp>
      <p:sp>
        <p:nvSpPr>
          <p:cNvPr id="4" name="TextBox 3"/>
          <p:cNvSpPr txBox="1"/>
          <p:nvPr/>
        </p:nvSpPr>
        <p:spPr>
          <a:xfrm>
            <a:off x="548640" y="1600200"/>
            <a:ext cx="11094415" cy="822960"/>
          </a:xfrm>
          <a:prstGeom prst="rect">
            <a:avLst/>
          </a:prstGeom>
          <a:noFill/>
        </p:spPr>
        <p:txBody>
          <a:bodyPr wrap="square" anchor="t" lIns="0" rIns="0" tIns="0" bIns="0">
            <a:noAutofit/>
          </a:bodyPr>
          <a:lstStyle/>
          <a:p>
            <a:pPr algn="l" marL="274320" indent="-274320">
              <a:spcAft>
                <a:spcPts val="800"/>
              </a:spcAft>
              <a:buChar char="•"/>
            </a:pPr>
            <a:r>
              <a:rPr sz="2000" b="0">
                <a:solidFill>
                  <a:srgbClr val="000000"/>
                </a:solidFill>
              </a:rPr>
              <a:t>Political polarization is increasingly relevant in today’s society</a:t>
            </a:r>
          </a:p>
          <a:p>
            <a:pPr algn="l" marL="274320" indent="-274320">
              <a:spcAft>
                <a:spcPts val="800"/>
              </a:spcAft>
              <a:buChar char="•"/>
            </a:pPr>
            <a:r>
              <a:rPr sz="2000" b="0">
                <a:solidFill>
                  <a:srgbClr val="000000"/>
                </a:solidFill>
              </a:rPr>
              <a:t>Model bias is under scrutiny</a:t>
            </a:r>
          </a:p>
        </p:txBody>
      </p:sp>
      <p:sp>
        <p:nvSpPr>
          <p:cNvPr id="5" name="TextBox 4"/>
          <p:cNvSpPr txBox="1"/>
          <p:nvPr/>
        </p:nvSpPr>
        <p:spPr>
          <a:xfrm>
            <a:off x="548640" y="2697480"/>
            <a:ext cx="11094415" cy="822960"/>
          </a:xfrm>
          <a:prstGeom prst="rect">
            <a:avLst/>
          </a:prstGeom>
          <a:noFill/>
        </p:spPr>
        <p:txBody>
          <a:bodyPr wrap="square" anchor="t" lIns="0" rIns="0" tIns="0" bIns="0">
            <a:noAutofit/>
          </a:bodyPr>
          <a:lstStyle/>
          <a:p>
            <a:pPr algn="l">
              <a:spcAft>
                <a:spcPts val="0"/>
              </a:spcAft>
            </a:pPr>
            <a:r>
              <a:rPr sz="2600" b="1">
                <a:solidFill>
                  <a:srgbClr val="000000"/>
                </a:solidFill>
              </a:rPr>
              <a:t>We argue models should work to serve democracy while remaining non-partisan.</a:t>
            </a:r>
          </a:p>
        </p:txBody>
      </p:sp>
      <p:sp>
        <p:nvSpPr>
          <p:cNvPr id="6" name="TextBox 5"/>
          <p:cNvSpPr txBox="1"/>
          <p:nvPr/>
        </p:nvSpPr>
        <p:spPr>
          <a:xfrm>
            <a:off x="548640" y="37947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Serve democracy</a:t>
            </a:r>
          </a:p>
        </p:txBody>
      </p:sp>
      <p:sp>
        <p:nvSpPr>
          <p:cNvPr id="7" name="TextBox 6"/>
          <p:cNvSpPr txBox="1"/>
          <p:nvPr/>
        </p:nvSpPr>
        <p:spPr>
          <a:xfrm>
            <a:off x="548640" y="4297680"/>
            <a:ext cx="5318607" cy="822960"/>
          </a:xfrm>
          <a:prstGeom prst="rect">
            <a:avLst/>
          </a:prstGeom>
          <a:noFill/>
        </p:spPr>
        <p:txBody>
          <a:bodyPr wrap="square" anchor="t" lIns="0" rIns="0" tIns="0" bIns="0">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79476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Stay non-partisan</a:t>
            </a:r>
          </a:p>
        </p:txBody>
      </p:sp>
      <p:sp>
        <p:nvSpPr>
          <p:cNvPr id="9" name="TextBox 8"/>
          <p:cNvSpPr txBox="1"/>
          <p:nvPr/>
        </p:nvSpPr>
        <p:spPr>
          <a:xfrm>
            <a:off x="6324447" y="4297680"/>
            <a:ext cx="5318607" cy="822960"/>
          </a:xfrm>
          <a:prstGeom prst="rect">
            <a:avLst/>
          </a:prstGeom>
          <a:noFill/>
        </p:spPr>
        <p:txBody>
          <a:bodyPr wrap="square" anchor="t" lIns="0" rIns="0" tIns="0" bIns="0">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685800"/>
          </a:xfrm>
          <a:prstGeom prst="rect">
            <a:avLst/>
          </a:prstGeom>
          <a:noFill/>
        </p:spPr>
        <p:txBody>
          <a:bodyPr wrap="square" anchor="t" lIns="0" rIns="0" tIns="0" bIns="0">
            <a:noAutofit/>
          </a:bodyPr>
          <a:lstStyle/>
          <a:p>
            <a:pPr algn="l">
              <a:spcAft>
                <a:spcPts val="600"/>
              </a:spcAft>
            </a:pPr>
            <a:r>
              <a:rPr sz="1800" b="1">
                <a:solidFill>
                  <a:srgbClr val="000000"/>
                </a:solidFill>
              </a:rPr>
              <a:t>The tension: </a:t>
            </a:r>
            <a:r>
              <a:rPr sz="1800" b="0">
                <a:solidFill>
                  <a:srgbClr val="000000"/>
                </a:solidFill>
              </a:rPr>
              <a:t>each party has its own “stolen election” story, so pushing back can look partisan.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a:t>
            </a:fld>
          </a:p>
        </p:txBody>
      </p:sp>
      <p:sp>
        <p:nvSpPr>
          <p:cNvPr id="4" name="Part 1 number"/>
          <p:cNvSpPr txBox="1"/>
          <p:nvPr/>
        </p:nvSpPr>
        <p:spPr>
          <a:xfrm>
            <a:off x="548640" y="160020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1</a:t>
            </a:r>
          </a:p>
        </p:txBody>
      </p:sp>
      <p:sp>
        <p:nvSpPr>
          <p:cNvPr id="5" name="Part 1"/>
          <p:cNvSpPr txBox="1"/>
          <p:nvPr/>
        </p:nvSpPr>
        <p:spPr>
          <a:xfrm>
            <a:off x="1188719" y="160020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Prior work: refusal runs through one direction</a:t>
            </a:r>
          </a:p>
        </p:txBody>
      </p:sp>
      <p:sp>
        <p:nvSpPr>
          <p:cNvPr id="6" name="Part 1 slide"/>
          <p:cNvSpPr txBox="1"/>
          <p:nvPr/>
        </p:nvSpPr>
        <p:spPr>
          <a:xfrm>
            <a:off x="10271455" y="163677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5</a:t>
            </a:r>
          </a:p>
        </p:txBody>
      </p:sp>
      <p:sp>
        <p:nvSpPr>
          <p:cNvPr id="7" name="Part 2 number"/>
          <p:cNvSpPr txBox="1"/>
          <p:nvPr/>
        </p:nvSpPr>
        <p:spPr>
          <a:xfrm>
            <a:off x="548640" y="214884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2</a:t>
            </a:r>
          </a:p>
        </p:txBody>
      </p:sp>
      <p:sp>
        <p:nvSpPr>
          <p:cNvPr id="8" name="Part 2"/>
          <p:cNvSpPr txBox="1"/>
          <p:nvPr/>
        </p:nvSpPr>
        <p:spPr>
          <a:xfrm>
            <a:off x="1188719" y="214884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Our question and what we did</a:t>
            </a:r>
          </a:p>
        </p:txBody>
      </p:sp>
      <p:sp>
        <p:nvSpPr>
          <p:cNvPr id="9" name="Part 2 slide"/>
          <p:cNvSpPr txBox="1"/>
          <p:nvPr/>
        </p:nvSpPr>
        <p:spPr>
          <a:xfrm>
            <a:off x="10271455" y="218541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6</a:t>
            </a:r>
          </a:p>
        </p:txBody>
      </p:sp>
      <p:sp>
        <p:nvSpPr>
          <p:cNvPr id="10" name="Part 3 number"/>
          <p:cNvSpPr txBox="1"/>
          <p:nvPr/>
        </p:nvSpPr>
        <p:spPr>
          <a:xfrm>
            <a:off x="548640" y="269748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3</a:t>
            </a:r>
          </a:p>
        </p:txBody>
      </p:sp>
      <p:sp>
        <p:nvSpPr>
          <p:cNvPr id="11" name="Part 3"/>
          <p:cNvSpPr txBox="1"/>
          <p:nvPr/>
        </p:nvSpPr>
        <p:spPr>
          <a:xfrm>
            <a:off x="1188719" y="269748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Setup: 920 prompts, two judges</a:t>
            </a:r>
          </a:p>
        </p:txBody>
      </p:sp>
      <p:sp>
        <p:nvSpPr>
          <p:cNvPr id="12" name="Part 3 slide"/>
          <p:cNvSpPr txBox="1"/>
          <p:nvPr/>
        </p:nvSpPr>
        <p:spPr>
          <a:xfrm>
            <a:off x="10271455" y="273405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8</a:t>
            </a:r>
          </a:p>
        </p:txBody>
      </p:sp>
      <p:sp>
        <p:nvSpPr>
          <p:cNvPr id="13" name="Part 4 number"/>
          <p:cNvSpPr txBox="1"/>
          <p:nvPr/>
        </p:nvSpPr>
        <p:spPr>
          <a:xfrm>
            <a:off x="548640" y="324612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4</a:t>
            </a:r>
          </a:p>
        </p:txBody>
      </p:sp>
      <p:sp>
        <p:nvSpPr>
          <p:cNvPr id="14" name="Part 4"/>
          <p:cNvSpPr txBox="1"/>
          <p:nvPr/>
        </p:nvSpPr>
        <p:spPr>
          <a:xfrm>
            <a:off x="1188719" y="324612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What we found, at a glance</a:t>
            </a:r>
          </a:p>
        </p:txBody>
      </p:sp>
      <p:sp>
        <p:nvSpPr>
          <p:cNvPr id="15" name="Part 4 slide"/>
          <p:cNvSpPr txBox="1"/>
          <p:nvPr/>
        </p:nvSpPr>
        <p:spPr>
          <a:xfrm>
            <a:off x="10271455" y="328269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10</a:t>
            </a:r>
          </a:p>
        </p:txBody>
      </p:sp>
      <p:sp>
        <p:nvSpPr>
          <p:cNvPr id="16" name="Part 5 number"/>
          <p:cNvSpPr txBox="1"/>
          <p:nvPr/>
        </p:nvSpPr>
        <p:spPr>
          <a:xfrm>
            <a:off x="548640" y="379476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5</a:t>
            </a:r>
          </a:p>
        </p:txBody>
      </p:sp>
      <p:sp>
        <p:nvSpPr>
          <p:cNvPr id="17" name="Part 5"/>
          <p:cNvSpPr txBox="1"/>
          <p:nvPr/>
        </p:nvSpPr>
        <p:spPr>
          <a:xfrm>
            <a:off x="1188719" y="379476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What the models do: own side, not party</a:t>
            </a:r>
          </a:p>
        </p:txBody>
      </p:sp>
      <p:sp>
        <p:nvSpPr>
          <p:cNvPr id="18" name="Part 5 slide"/>
          <p:cNvSpPr txBox="1"/>
          <p:nvPr/>
        </p:nvSpPr>
        <p:spPr>
          <a:xfrm>
            <a:off x="10271455" y="383133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11</a:t>
            </a:r>
          </a:p>
        </p:txBody>
      </p:sp>
      <p:sp>
        <p:nvSpPr>
          <p:cNvPr id="19" name="Part 6 number"/>
          <p:cNvSpPr txBox="1"/>
          <p:nvPr/>
        </p:nvSpPr>
        <p:spPr>
          <a:xfrm>
            <a:off x="548640" y="434340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6</a:t>
            </a:r>
          </a:p>
        </p:txBody>
      </p:sp>
      <p:sp>
        <p:nvSpPr>
          <p:cNvPr id="20" name="Part 6"/>
          <p:cNvSpPr txBox="1"/>
          <p:nvPr/>
        </p:nvSpPr>
        <p:spPr>
          <a:xfrm>
            <a:off x="1188719" y="434340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Inside the model: where the gap appears and what carries it</a:t>
            </a:r>
          </a:p>
        </p:txBody>
      </p:sp>
      <p:sp>
        <p:nvSpPr>
          <p:cNvPr id="21" name="Part 6 slide"/>
          <p:cNvSpPr txBox="1"/>
          <p:nvPr/>
        </p:nvSpPr>
        <p:spPr>
          <a:xfrm>
            <a:off x="10271455" y="437997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13</a:t>
            </a:r>
          </a:p>
        </p:txBody>
      </p:sp>
      <p:sp>
        <p:nvSpPr>
          <p:cNvPr id="22" name="Part 7 number"/>
          <p:cNvSpPr txBox="1"/>
          <p:nvPr/>
        </p:nvSpPr>
        <p:spPr>
          <a:xfrm>
            <a:off x="548640" y="489204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7</a:t>
            </a:r>
          </a:p>
        </p:txBody>
      </p:sp>
      <p:sp>
        <p:nvSpPr>
          <p:cNvPr id="23" name="Part 7"/>
          <p:cNvSpPr txBox="1"/>
          <p:nvPr/>
        </p:nvSpPr>
        <p:spPr>
          <a:xfrm>
            <a:off x="1188719" y="489204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Extension: language and censorship</a:t>
            </a:r>
          </a:p>
        </p:txBody>
      </p:sp>
      <p:sp>
        <p:nvSpPr>
          <p:cNvPr id="24" name="Part 7 slide"/>
          <p:cNvSpPr txBox="1"/>
          <p:nvPr/>
        </p:nvSpPr>
        <p:spPr>
          <a:xfrm>
            <a:off x="10271455" y="492861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20</a:t>
            </a:r>
          </a:p>
        </p:txBody>
      </p:sp>
      <p:sp>
        <p:nvSpPr>
          <p:cNvPr id="25" name="Part 8 number"/>
          <p:cNvSpPr txBox="1"/>
          <p:nvPr/>
        </p:nvSpPr>
        <p:spPr>
          <a:xfrm>
            <a:off x="548640" y="5440680"/>
            <a:ext cx="548640" cy="411480"/>
          </a:xfrm>
          <a:prstGeom prst="rect">
            <a:avLst/>
          </a:prstGeom>
          <a:noFill/>
        </p:spPr>
        <p:txBody>
          <a:bodyPr wrap="square" anchor="t" lIns="0" rIns="0" tIns="0" bIns="0">
            <a:noAutofit/>
          </a:bodyPr>
          <a:lstStyle/>
          <a:p>
            <a:pPr algn="l">
              <a:spcAft>
                <a:spcPts val="600"/>
              </a:spcAft>
            </a:pPr>
            <a:r>
              <a:rPr sz="2200" b="1">
                <a:solidFill>
                  <a:srgbClr val="000000"/>
                </a:solidFill>
              </a:rPr>
              <a:t>8</a:t>
            </a:r>
          </a:p>
        </p:txBody>
      </p:sp>
      <p:sp>
        <p:nvSpPr>
          <p:cNvPr id="26" name="Part 8"/>
          <p:cNvSpPr txBox="1"/>
          <p:nvPr/>
        </p:nvSpPr>
        <p:spPr>
          <a:xfrm>
            <a:off x="1188719" y="5440680"/>
            <a:ext cx="9265615" cy="411480"/>
          </a:xfrm>
          <a:prstGeom prst="rect">
            <a:avLst/>
          </a:prstGeom>
          <a:noFill/>
        </p:spPr>
        <p:txBody>
          <a:bodyPr wrap="square" anchor="t" lIns="0" rIns="0" tIns="0" bIns="0">
            <a:noAutofit/>
          </a:bodyPr>
          <a:lstStyle/>
          <a:p>
            <a:pPr algn="l">
              <a:spcAft>
                <a:spcPts val="600"/>
              </a:spcAft>
            </a:pPr>
            <a:r>
              <a:rPr sz="2200" b="0">
                <a:solidFill>
                  <a:srgbClr val="000000"/>
                </a:solidFill>
              </a:rPr>
              <a:t>Takeaways and next steps</a:t>
            </a:r>
          </a:p>
        </p:txBody>
      </p:sp>
      <p:sp>
        <p:nvSpPr>
          <p:cNvPr id="27" name="Part 8 slide"/>
          <p:cNvSpPr txBox="1"/>
          <p:nvPr/>
        </p:nvSpPr>
        <p:spPr>
          <a:xfrm>
            <a:off x="10271455" y="5477256"/>
            <a:ext cx="1371600" cy="365760"/>
          </a:xfrm>
          <a:prstGeom prst="rect">
            <a:avLst/>
          </a:prstGeom>
          <a:noFill/>
        </p:spPr>
        <p:txBody>
          <a:bodyPr wrap="square" anchor="t" lIns="0" rIns="0" tIns="0" bIns="0">
            <a:noAutofit/>
          </a:bodyPr>
          <a:lstStyle/>
          <a:p>
            <a:pPr algn="r">
              <a:spcAft>
                <a:spcPts val="600"/>
              </a:spcAft>
            </a:pPr>
            <a:r>
              <a:rPr sz="1600" b="0">
                <a:solidFill>
                  <a:srgbClr val="898781"/>
                </a:solidFill>
              </a:rPr>
              <a:t>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6" name="TextBox 5"/>
          <p:cNvSpPr txBox="1"/>
          <p:nvPr/>
        </p:nvSpPr>
        <p:spPr>
          <a:xfrm>
            <a:off x="548640" y="4434840"/>
            <a:ext cx="11094415" cy="777240"/>
          </a:xfrm>
          <a:prstGeom prst="rect">
            <a:avLst/>
          </a:prstGeom>
          <a:noFill/>
        </p:spPr>
        <p:txBody>
          <a:bodyPr wrap="square" anchor="t" lIns="0" rIns="0" tIns="0" bIns="0">
            <a:noAutofit/>
          </a:bodyPr>
          <a:lstStyle/>
          <a:p>
            <a:pPr algn="l" marL="274320" indent="-274320">
              <a:spcAft>
                <a:spcPts val="800"/>
              </a:spcAft>
              <a:buChar char="•"/>
            </a:pPr>
            <a:r>
              <a:rPr sz="1800" b="0">
                <a:solidFill>
                  <a:srgbClr val="000000"/>
                </a:solidFill>
              </a:rPr>
              <a:t>The same holds in 13 open-source chat models, up to 72B parameters</a:t>
            </a:r>
          </a:p>
          <a:p>
            <a:pPr algn="l" marL="274320" indent="-274320">
              <a:spcAft>
                <a:spcPts val="800"/>
              </a:spcAft>
              <a:buChar char="•"/>
            </a:pPr>
            <a:r>
              <a:rPr sz="1800" b="0">
                <a:solidFill>
                  <a:srgbClr val="000000"/>
                </a:solidFill>
              </a:rPr>
              <a:t>Editing it out of the weights is a jailbreak: safety fine-tuning is brittle</a:t>
            </a:r>
          </a:p>
        </p:txBody>
      </p:sp>
      <p:sp>
        <p:nvSpPr>
          <p:cNvPr id="7" name="TextBox 6"/>
          <p:cNvSpPr txBox="1"/>
          <p:nvPr/>
        </p:nvSpPr>
        <p:spPr>
          <a:xfrm>
            <a:off x="548640" y="5486400"/>
            <a:ext cx="11094415" cy="365760"/>
          </a:xfrm>
          <a:prstGeom prst="rect">
            <a:avLst/>
          </a:prstGeom>
          <a:noFill/>
        </p:spPr>
        <p:txBody>
          <a:bodyPr wrap="square" anchor="t" lIns="0" rIns="0" tIns="0" bIns="0">
            <a:noAutofit/>
          </a:bodyPr>
          <a:lstStyle/>
          <a:p>
            <a:pPr algn="l">
              <a:spcAft>
                <a:spcPts val="600"/>
              </a:spcAft>
            </a:pPr>
            <a:r>
              <a:rPr sz="1600" b="0">
                <a:solidFill>
                  <a:srgbClr val="52514E"/>
                </a:solidFill>
              </a:rPr>
              <a:t>We reuse their method and prompts unchanged, then ask whether the direction treats askers differently.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6</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anchor="t" lIns="0" rIns="0" tIns="0" bIns="0">
            <a:noAutofit/>
          </a:bodyPr>
          <a:lstStyle/>
          <a:p>
            <a:pPr algn="l" marL="274320" indent="-274320">
              <a:spcAft>
                <a:spcPts val="1200"/>
              </a:spcAft>
              <a:buChar char="•"/>
            </a:pPr>
            <a:r>
              <a:rPr sz="1800" b="0">
                <a:solidFill>
                  <a:srgbClr val="000000"/>
                </a:solidFill>
              </a:rPr>
              <a:t>People ask chat models about elections</a:t>
            </a:r>
          </a:p>
          <a:p>
            <a:pPr algn="l" marL="274320" indent="-274320">
              <a:spcAft>
                <a:spcPts val="1200"/>
              </a:spcAft>
              <a:buChar char="•"/>
            </a:pPr>
            <a:r>
              <a:rPr sz="1800" b="0">
                <a:solidFill>
                  <a:srgbClr val="000000"/>
                </a:solidFill>
              </a:rPr>
              <a:t>If refusals depend on who is asking, safety behavior is uneven by group</a:t>
            </a:r>
          </a:p>
          <a:p>
            <a:pPr algn="l" marL="274320" indent="-274320">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anchor="t" lIns="0" rIns="0" tIns="0" bIns="0">
            <a:noAutofit/>
          </a:bodyPr>
          <a:lstStyle/>
          <a:p>
            <a:pPr algn="l" marL="274320" indent="-274320">
              <a:spcAft>
                <a:spcPts val="1200"/>
              </a:spcAft>
              <a:buChar char="•"/>
            </a:pPr>
            <a:r>
              <a:rPr sz="1800" b="1">
                <a:solidFill>
                  <a:srgbClr val="000000"/>
                </a:solidFill>
              </a:rPr>
              <a:t>Arditi et al. 2024: </a:t>
            </a:r>
            <a:r>
              <a:rPr sz="1800" b="0">
                <a:solidFill>
                  <a:srgbClr val="000000"/>
                </a:solidFill>
              </a:rPr>
              <a:t>their method and harmful/harmless prompts, used unchanged</a:t>
            </a:r>
          </a:p>
          <a:p>
            <a:pPr algn="l" marL="274320" indent="-274320">
              <a:spcAft>
                <a:spcPts val="1200"/>
              </a:spcAft>
              <a:buChar char="•"/>
            </a:pPr>
            <a:r>
              <a:rPr sz="1800" b="1">
                <a:solidFill>
                  <a:srgbClr val="000000"/>
                </a:solidFill>
              </a:rPr>
              <a:t>“There Is More to Refusal than a Single Direction” </a:t>
            </a:r>
            <a:r>
              <a:rPr sz="1800" b="0">
                <a:solidFill>
                  <a:srgbClr val="000000"/>
                </a:solidFill>
              </a:rPr>
              <a:t>(arXiv 2602.02132)</a:t>
            </a:r>
          </a:p>
          <a:p>
            <a:pPr algn="l" marL="274320" indent="-274320">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did: from prompts to causal tests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7</a:t>
            </a:fld>
          </a:p>
        </p:txBody>
      </p:sp>
      <p:sp>
        <p:nvSpPr>
          <p:cNvPr id="4" name="TextBox 3"/>
          <p:cNvSpPr txBox="1"/>
          <p:nvPr/>
        </p:nvSpPr>
        <p:spPr>
          <a:xfrm>
            <a:off x="548640"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Build prompts</a:t>
            </a:r>
          </a:p>
        </p:txBody>
      </p:sp>
      <p:sp>
        <p:nvSpPr>
          <p:cNvPr id="6" name="TextBox 5"/>
          <p:cNvSpPr txBox="1"/>
          <p:nvPr/>
        </p:nvSpPr>
        <p:spPr>
          <a:xfrm>
            <a:off x="548640"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920 requests: 5 askers × 8 elections × 23 requests, so only the asker changes</a:t>
            </a:r>
          </a:p>
        </p:txBody>
      </p:sp>
      <p:sp>
        <p:nvSpPr>
          <p:cNvPr id="7" name="TextBox 6"/>
          <p:cNvSpPr txBox="1"/>
          <p:nvPr/>
        </p:nvSpPr>
        <p:spPr>
          <a:xfrm>
            <a:off x="548640"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8</a:t>
            </a:r>
          </a:p>
        </p:txBody>
      </p:sp>
      <p:sp>
        <p:nvSpPr>
          <p:cNvPr id="8" name="TextBox 7"/>
          <p:cNvSpPr txBox="1"/>
          <p:nvPr/>
        </p:nvSpPr>
        <p:spPr>
          <a:xfrm>
            <a:off x="2822387"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Generate and judge</a:t>
            </a:r>
          </a:p>
        </p:txBody>
      </p:sp>
      <p:sp>
        <p:nvSpPr>
          <p:cNvPr id="10" name="TextBox 9"/>
          <p:cNvSpPr txBox="1"/>
          <p:nvPr/>
        </p:nvSpPr>
        <p:spPr>
          <a:xfrm>
            <a:off x="2822387"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Both models reply to every prompt; two judges score whether each reply did the task</a:t>
            </a:r>
          </a:p>
        </p:txBody>
      </p:sp>
      <p:sp>
        <p:nvSpPr>
          <p:cNvPr id="11" name="TextBox 10"/>
          <p:cNvSpPr txBox="1"/>
          <p:nvPr/>
        </p:nvSpPr>
        <p:spPr>
          <a:xfrm>
            <a:off x="2822387"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9</a:t>
            </a:r>
          </a:p>
        </p:txBody>
      </p:sp>
      <p:sp>
        <p:nvSpPr>
          <p:cNvPr id="12" name="TextBox 11"/>
          <p:cNvSpPr txBox="1"/>
          <p:nvPr/>
        </p:nvSpPr>
        <p:spPr>
          <a:xfrm>
            <a:off x="5096134"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Find the refusal direction</a:t>
            </a:r>
          </a:p>
        </p:txBody>
      </p:sp>
      <p:sp>
        <p:nvSpPr>
          <p:cNvPr id="14" name="TextBox 13"/>
          <p:cNvSpPr txBox="1"/>
          <p:nvPr/>
        </p:nvSpPr>
        <p:spPr>
          <a:xfrm>
            <a:off x="5096134"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Arditi et al.’s method in each model, from non-political prompts</a:t>
            </a:r>
          </a:p>
        </p:txBody>
      </p:sp>
      <p:sp>
        <p:nvSpPr>
          <p:cNvPr id="15" name="TextBox 14"/>
          <p:cNvSpPr txBox="1"/>
          <p:nvPr/>
        </p:nvSpPr>
        <p:spPr>
          <a:xfrm>
            <a:off x="5096134"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13</a:t>
            </a:r>
          </a:p>
        </p:txBody>
      </p:sp>
      <p:sp>
        <p:nvSpPr>
          <p:cNvPr id="16" name="TextBox 15"/>
          <p:cNvSpPr txBox="1"/>
          <p:nvPr/>
        </p:nvSpPr>
        <p:spPr>
          <a:xfrm>
            <a:off x="7369881"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Look inside</a:t>
            </a:r>
          </a:p>
        </p:txBody>
      </p:sp>
      <p:sp>
        <p:nvSpPr>
          <p:cNvPr id="18" name="TextBox 17"/>
          <p:cNvSpPr txBox="1"/>
          <p:nvPr/>
        </p:nvSpPr>
        <p:spPr>
          <a:xfrm>
            <a:off x="7369881"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Project every prompt onto the direction, layer by layer</a:t>
            </a:r>
          </a:p>
        </p:txBody>
      </p:sp>
      <p:sp>
        <p:nvSpPr>
          <p:cNvPr id="19" name="TextBox 18"/>
          <p:cNvSpPr txBox="1"/>
          <p:nvPr/>
        </p:nvSpPr>
        <p:spPr>
          <a:xfrm>
            <a:off x="7369881"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14</a:t>
            </a:r>
          </a:p>
        </p:txBody>
      </p:sp>
      <p:sp>
        <p:nvSpPr>
          <p:cNvPr id="20" name="TextBox 19"/>
          <p:cNvSpPr txBox="1"/>
          <p:nvPr/>
        </p:nvSpPr>
        <p:spPr>
          <a:xfrm>
            <a:off x="9643628" y="1645920"/>
            <a:ext cx="1999427" cy="502920"/>
          </a:xfrm>
          <a:prstGeom prst="rect">
            <a:avLst/>
          </a:prstGeom>
          <a:noFill/>
        </p:spPr>
        <p:txBody>
          <a:bodyPr wrap="square" anchor="t" lIns="0" rIns="0" tIns="0" bIns="0">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anchor="t" lIns="0" rIns="0" tIns="0" bIns="0">
            <a:noAutofit/>
          </a:bodyPr>
          <a:lstStyle/>
          <a:p>
            <a:pPr algn="l">
              <a:spcAft>
                <a:spcPts val="600"/>
              </a:spcAft>
            </a:pPr>
            <a:r>
              <a:rPr sz="1800" b="1">
                <a:solidFill>
                  <a:srgbClr val="000000"/>
                </a:solidFill>
              </a:rPr>
              <a:t>Test causally</a:t>
            </a:r>
          </a:p>
        </p:txBody>
      </p:sp>
      <p:sp>
        <p:nvSpPr>
          <p:cNvPr id="22" name="TextBox 21"/>
          <p:cNvSpPr txBox="1"/>
          <p:nvPr/>
        </p:nvSpPr>
        <p:spPr>
          <a:xfrm>
            <a:off x="9643628" y="2926080"/>
            <a:ext cx="1999427" cy="1463040"/>
          </a:xfrm>
          <a:prstGeom prst="rect">
            <a:avLst/>
          </a:prstGeom>
          <a:noFill/>
        </p:spPr>
        <p:txBody>
          <a:bodyPr wrap="square" anchor="t" lIns="0" rIns="0" tIns="0" bIns="0">
            <a:noAutofit/>
          </a:bodyPr>
          <a:lstStyle/>
          <a:p>
            <a:pPr algn="l">
              <a:spcAft>
                <a:spcPts val="600"/>
              </a:spcAft>
            </a:pPr>
            <a:r>
              <a:rPr sz="1600" b="0">
                <a:solidFill>
                  <a:srgbClr val="52514E"/>
                </a:solidFill>
              </a:rPr>
              <a:t>Remove the direction, shift prompts along it, and compare with a second direction</a:t>
            </a:r>
          </a:p>
        </p:txBody>
      </p:sp>
      <p:sp>
        <p:nvSpPr>
          <p:cNvPr id="23" name="TextBox 22"/>
          <p:cNvSpPr txBox="1"/>
          <p:nvPr/>
        </p:nvSpPr>
        <p:spPr>
          <a:xfrm>
            <a:off x="9643628" y="4480560"/>
            <a:ext cx="1999427" cy="320040"/>
          </a:xfrm>
          <a:prstGeom prst="rect">
            <a:avLst/>
          </a:prstGeom>
          <a:noFill/>
        </p:spPr>
        <p:txBody>
          <a:bodyPr wrap="square" anchor="t" lIns="0" rIns="0" tIns="0" bIns="0">
            <a:noAutofit/>
          </a:bodyPr>
          <a:lstStyle/>
          <a:p>
            <a:pPr algn="l">
              <a:spcAft>
                <a:spcPts val="0"/>
              </a:spcAft>
            </a:pPr>
            <a:r>
              <a:rPr sz="1400" b="0">
                <a:solidFill>
                  <a:srgbClr val="898781"/>
                </a:solidFill>
              </a:rPr>
              <a:t>slide 16</a:t>
            </a:r>
          </a:p>
        </p:txBody>
      </p:sp>
      <p:sp>
        <p:nvSpPr>
          <p:cNvPr id="24" name="TextBox 23"/>
          <p:cNvSpPr txBox="1"/>
          <p:nvPr/>
        </p:nvSpPr>
        <p:spPr>
          <a:xfrm>
            <a:off x="548640" y="5257800"/>
            <a:ext cx="11094415" cy="685800"/>
          </a:xfrm>
          <a:prstGeom prst="rect">
            <a:avLst/>
          </a:prstGeom>
          <a:noFill/>
        </p:spPr>
        <p:txBody>
          <a:bodyPr wrap="square" anchor="t" lIns="0" rIns="0" tIns="0" bIns="0">
            <a:noAutofit/>
          </a:bodyPr>
          <a:lstStyle/>
          <a:p>
            <a:pPr algn="l">
              <a:spcAft>
                <a:spcPts val="600"/>
              </a:spcAft>
            </a:pPr>
            <a:r>
              <a:rPr sz="1600" b="0">
                <a:solidFill>
                  <a:srgbClr val="52514E"/>
                </a:solidFill>
              </a:rPr>
              <a:t>Models: Qwen2.5-7B-Instruct (Alibaba) and Llama-3.1-8B-Instruct (Meta). Extension: the same tests in English and Chinese (slide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920 prompts where only the asker changes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bandRow="0">
                <a:tableStyleId>{2D5ABB26-0587-4C30-8999-92F81FD0307C}</a:tableStyleId>
              </a:tblPr>
              <a:tblGrid>
                <a:gridCol w="3931920"/>
                <a:gridCol w="7159752"/>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tr>
              <a:tr h="384048">
                <a:tc>
                  <a:txBody>
                    <a:bodyPr/>
                    <a:lstStyle/>
                    <a:p>
                      <a:r>
                        <a:rPr sz="1800" b="0">
                          <a:solidFill>
                            <a:srgbClr val="000000"/>
                          </a:solidFill>
                        </a:rPr>
                        <a:t>Llama Guard 2 (the paper’s judge)</a:t>
                      </a:r>
                    </a:p>
                  </a:txBody>
                  <a:tcPr marL="0" marR="73152" marT="54864" marB="54864">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B w="9525">
                      <a:solidFill>
                        <a:srgbClr val="D9D9D9"/>
                      </a:solidFill>
                    </a:lnB>
                    <a:noFill/>
                  </a:tcPr>
                </a:tc>
              </a:tr>
              <a:tr h="658368">
                <a:tc>
                  <a:txBody>
                    <a:bodyPr/>
                    <a:lstStyle/>
                    <a:p>
                      <a:r>
                        <a:rPr sz="1800" b="0">
                          <a:solidFill>
                            <a:srgbClr val="000000"/>
                          </a:solidFill>
                        </a:rPr>
                        <a:t>Llama Guard 3 + an election category</a:t>
                      </a:r>
                    </a:p>
                  </a:txBody>
                  <a:tcPr marL="0" marR="73152" marT="54864" marB="54864">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B w="9525">
                      <a:solidFill>
                        <a:srgbClr val="D9D9D9"/>
                      </a:solidFill>
                    </a:lnB>
                    <a:noFill/>
                  </a:tcPr>
                </a:tc>
              </a:tr>
              <a:tr h="384048">
                <a:tc>
                  <a:txBody>
                    <a:bodyPr/>
                    <a:lstStyle/>
                    <a:p>
                      <a:r>
                        <a:rPr sz="1800" b="0">
                          <a:solidFill>
                            <a:srgbClr val="000000"/>
                          </a:solidFill>
                        </a:rPr>
                        <a:t>Claude, written rubric</a:t>
                      </a:r>
                    </a:p>
                  </a:txBody>
                  <a:tcPr marL="0" marR="73152" marT="54864" marB="54864">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B w="9525">
                      <a:solidFill>
                        <a:srgbClr val="D9D9D9"/>
                      </a:solidFill>
                    </a:lnB>
                    <a:noFill/>
                  </a:tcPr>
                </a:tc>
              </a:tr>
            </a:tbl>
          </a:graphicData>
        </a:graphic>
      </p:graphicFrame>
      <p:sp>
        <p:nvSpPr>
          <p:cNvPr id="5" name="TextBox 4"/>
          <p:cNvSpPr txBox="1"/>
          <p:nvPr/>
        </p:nvSpPr>
        <p:spPr>
          <a:xfrm>
            <a:off x="548640" y="3822192"/>
            <a:ext cx="11094415" cy="731520"/>
          </a:xfrm>
          <a:prstGeom prst="rect">
            <a:avLst/>
          </a:prstGeom>
          <a:noFill/>
        </p:spPr>
        <p:txBody>
          <a:bodyPr wrap="square" anchor="t" lIns="0" rIns="0" tIns="0" bIns="0">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10</a:t>
            </a:fld>
          </a:p>
        </p:txBody>
      </p:sp>
      <p:sp>
        <p:nvSpPr>
          <p:cNvPr id="4" name="Finding 1 number"/>
          <p:cNvSpPr txBox="1"/>
          <p:nvPr/>
        </p:nvSpPr>
        <p:spPr>
          <a:xfrm>
            <a:off x="548640" y="1508760"/>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27</a:t>
            </a:r>
          </a:p>
        </p:txBody>
      </p:sp>
      <p:sp>
        <p:nvSpPr>
          <p:cNvPr id="7" name="Finding 2 number"/>
          <p:cNvSpPr txBox="1"/>
          <p:nvPr/>
        </p:nvSpPr>
        <p:spPr>
          <a:xfrm>
            <a:off x="548640" y="2267712"/>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11</a:t>
            </a:r>
          </a:p>
        </p:txBody>
      </p:sp>
      <p:sp>
        <p:nvSpPr>
          <p:cNvPr id="10" name="Finding 3 number"/>
          <p:cNvSpPr txBox="1"/>
          <p:nvPr/>
        </p:nvSpPr>
        <p:spPr>
          <a:xfrm>
            <a:off x="548640" y="3026664"/>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12</a:t>
            </a:r>
          </a:p>
        </p:txBody>
      </p:sp>
      <p:sp>
        <p:nvSpPr>
          <p:cNvPr id="13" name="Finding 4 number"/>
          <p:cNvSpPr txBox="1"/>
          <p:nvPr/>
        </p:nvSpPr>
        <p:spPr>
          <a:xfrm>
            <a:off x="548640" y="3785615"/>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14</a:t>
            </a:r>
          </a:p>
        </p:txBody>
      </p:sp>
      <p:sp>
        <p:nvSpPr>
          <p:cNvPr id="16" name="Finding 5 number"/>
          <p:cNvSpPr txBox="1"/>
          <p:nvPr/>
        </p:nvSpPr>
        <p:spPr>
          <a:xfrm>
            <a:off x="548640" y="4544568"/>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17</a:t>
            </a:r>
          </a:p>
        </p:txBody>
      </p:sp>
      <p:sp>
        <p:nvSpPr>
          <p:cNvPr id="19" name="Finding 6 number"/>
          <p:cNvSpPr txBox="1"/>
          <p:nvPr/>
        </p:nvSpPr>
        <p:spPr>
          <a:xfrm>
            <a:off x="548640" y="5303520"/>
            <a:ext cx="457200" cy="457200"/>
          </a:xfrm>
          <a:prstGeom prst="rect">
            <a:avLst/>
          </a:prstGeom>
          <a:noFill/>
        </p:spPr>
        <p:txBody>
          <a:bodyPr wrap="square" anchor="t" lIns="0" rIns="0" tIns="0" bIns="0">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anchor="t" lIns="0" rIns="0" tIns="0" bIns="0">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anchor="t" lIns="0" rIns="0" tIns="0" bIns="0">
            <a:noAutofit/>
          </a:bodyPr>
          <a:lstStyle/>
          <a:p>
            <a:pPr algn="r">
              <a:spcAft>
                <a:spcPts val="0"/>
              </a:spcAft>
            </a:pPr>
            <a:r>
              <a:rPr sz="1400" b="0">
                <a:solidFill>
                  <a:srgbClr val="898781"/>
                </a:solidFill>
              </a:rPr>
              <a:t>slide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11</a:t>
            </a:fld>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136 matched pairs per comparison, identical except for the asker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548640" y="1703827"/>
            <a:ext cx="11094415" cy="3800864"/>
          </a:xfrm>
          <a:prstGeom prst="rect">
            <a:avLst/>
          </a:prstGeom>
        </p:spPr>
      </p:pic>
      <p:sp>
        <p:nvSpPr>
          <p:cNvPr id="5" name="Caption"/>
          <p:cNvSpPr txBox="1"/>
          <p:nvPr/>
        </p:nvSpPr>
        <p:spPr>
          <a:xfrm>
            <a:off x="548640" y="5687572"/>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Lakers fan minus voter: −11 (Qwen) and −4 points (Llama) under Llama Guard, −12 in both under Claude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anchor="t" lIns="0" rIns="0" tIns="0" bIns="0">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anchor="t" lIns="0" rIns="0" tIns="0" bIns="0">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anchor="t" lIns="0" rIns="0" tIns="0" bIns="0">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Whose claim it is switches on mid-network</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 Llama the gap runs through refusal; in Qwen, mostly not</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17</a:t>
            </a:fld>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18</a:t>
            </a:fld>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Non-partisan, yes. Serving democracy? Less clear</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Stay non-partisan: yes</a:t>
            </a:r>
          </a:p>
        </p:txBody>
      </p:sp>
      <p:sp>
        <p:nvSpPr>
          <p:cNvPr id="5" name="TextBox 4"/>
          <p:cNvSpPr txBox="1"/>
          <p:nvPr/>
        </p:nvSpPr>
        <p:spPr>
          <a:xfrm>
            <a:off x="548640" y="210312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No Democrat/Republican gap, and the refusal direction itself is party-blind</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Serve democracy: less clear</a:t>
            </a:r>
          </a:p>
        </p:txBody>
      </p:sp>
      <p:sp>
        <p:nvSpPr>
          <p:cNvPr id="7" name="TextBox 6"/>
          <p:cNvSpPr txBox="1"/>
          <p:nvPr/>
        </p:nvSpPr>
        <p:spPr>
          <a:xfrm>
            <a:off x="6324447" y="210312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Help is highest when the claim fits the asker: the people most likely to believe and spread it</a:t>
            </a:r>
          </a:p>
        </p:txBody>
      </p:sp>
      <p:sp>
        <p:nvSpPr>
          <p:cNvPr id="8" name="TextBox 7"/>
          <p:cNvSpPr txBox="1"/>
          <p:nvPr/>
        </p:nvSpPr>
        <p:spPr>
          <a:xfrm>
            <a:off x="548640" y="3337560"/>
            <a:ext cx="11094415" cy="411480"/>
          </a:xfrm>
          <a:prstGeom prst="rect">
            <a:avLst/>
          </a:prstGeom>
          <a:noFill/>
        </p:spPr>
        <p:txBody>
          <a:bodyPr wrap="square" anchor="t" lIns="0" rIns="0" tIns="0" bIns="0">
            <a:noAutofit/>
          </a:bodyPr>
          <a:lstStyle/>
          <a:p>
            <a:pPr algn="l">
              <a:spcAft>
                <a:spcPts val="600"/>
              </a:spcAft>
            </a:pPr>
            <a:r>
              <a:rPr sz="2000" b="1">
                <a:solidFill>
                  <a:srgbClr val="000000"/>
                </a:solidFill>
              </a:rPr>
              <a:t>Why favor the asker’s own side? Two readings our data can’t separate</a:t>
            </a:r>
          </a:p>
        </p:txBody>
      </p:sp>
      <p:sp>
        <p:nvSpPr>
          <p:cNvPr id="9" name="TextBox 8"/>
          <p:cNvSpPr txBox="1"/>
          <p:nvPr/>
        </p:nvSpPr>
        <p:spPr>
          <a:xfrm>
            <a:off x="548640" y="3886200"/>
            <a:ext cx="5318607" cy="365760"/>
          </a:xfrm>
          <a:prstGeom prst="rect">
            <a:avLst/>
          </a:prstGeom>
          <a:noFill/>
        </p:spPr>
        <p:txBody>
          <a:bodyPr wrap="square" anchor="t" lIns="0" rIns="0" tIns="0" bIns="0">
            <a:noAutofit/>
          </a:bodyPr>
          <a:lstStyle/>
          <a:p>
            <a:pPr algn="l">
              <a:spcAft>
                <a:spcPts val="600"/>
              </a:spcAft>
            </a:pPr>
            <a:r>
              <a:rPr sz="1800" b="1">
                <a:solidFill>
                  <a:srgbClr val="000000"/>
                </a:solidFill>
              </a:rPr>
              <a:t>Going along with the asker</a:t>
            </a:r>
          </a:p>
        </p:txBody>
      </p:sp>
      <p:sp>
        <p:nvSpPr>
          <p:cNvPr id="10" name="TextBox 9"/>
          <p:cNvSpPr txBox="1"/>
          <p:nvPr/>
        </p:nvSpPr>
        <p:spPr>
          <a:xfrm>
            <a:off x="548640" y="42976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The model accommodates the views it infers from who is asking (sycophancy)</a:t>
            </a:r>
          </a:p>
        </p:txBody>
      </p:sp>
      <p:sp>
        <p:nvSpPr>
          <p:cNvPr id="11" name="TextBox 10"/>
          <p:cNvSpPr txBox="1"/>
          <p:nvPr/>
        </p:nvSpPr>
        <p:spPr>
          <a:xfrm>
            <a:off x="6324447" y="3886200"/>
            <a:ext cx="5318607" cy="365760"/>
          </a:xfrm>
          <a:prstGeom prst="rect">
            <a:avLst/>
          </a:prstGeom>
          <a:noFill/>
        </p:spPr>
        <p:txBody>
          <a:bodyPr wrap="square" anchor="t" lIns="0" rIns="0" tIns="0" bIns="0">
            <a:noAutofit/>
          </a:bodyPr>
          <a:lstStyle/>
          <a:p>
            <a:pPr algn="l">
              <a:spcAft>
                <a:spcPts val="600"/>
              </a:spcAft>
            </a:pPr>
            <a:r>
              <a:rPr sz="1800" b="1">
                <a:solidFill>
                  <a:srgbClr val="000000"/>
                </a:solidFill>
              </a:rPr>
              <a:t>Suspecting bad faith</a:t>
            </a:r>
          </a:p>
        </p:txBody>
      </p:sp>
      <p:sp>
        <p:nvSpPr>
          <p:cNvPr id="12" name="TextBox 11"/>
          <p:cNvSpPr txBox="1"/>
          <p:nvPr/>
        </p:nvSpPr>
        <p:spPr>
          <a:xfrm>
            <a:off x="6324447" y="4297680"/>
            <a:ext cx="5318607" cy="914400"/>
          </a:xfrm>
          <a:prstGeom prst="rect">
            <a:avLst/>
          </a:prstGeom>
          <a:noFill/>
        </p:spPr>
        <p:txBody>
          <a:bodyPr wrap="square" anchor="t" lIns="0" rIns="0" tIns="0" bIns="0">
            <a:noAutofit/>
          </a:bodyPr>
          <a:lstStyle/>
          <a:p>
            <a:pPr algn="l">
              <a:spcAft>
                <a:spcPts val="600"/>
              </a:spcAft>
            </a:pPr>
            <a:r>
              <a:rPr sz="1800" b="0">
                <a:solidFill>
                  <a:srgbClr val="52514E"/>
                </a:solidFill>
              </a:rPr>
              <a:t>A Democrat asking to prove 2020 was stolen reads as odd, so the model is warier</a:t>
            </a:r>
          </a:p>
        </p:txBody>
      </p:sp>
      <p:sp>
        <p:nvSpPr>
          <p:cNvPr id="13" name="TextBox 12"/>
          <p:cNvSpPr txBox="1"/>
          <p:nvPr/>
        </p:nvSpPr>
        <p:spPr>
          <a:xfrm>
            <a:off x="548640" y="5440680"/>
            <a:ext cx="11094415" cy="685800"/>
          </a:xfrm>
          <a:prstGeom prst="rect">
            <a:avLst/>
          </a:prstGeom>
          <a:noFill/>
        </p:spPr>
        <p:txBody>
          <a:bodyPr wrap="square" anchor="t" lIns="0" rIns="0" tIns="0" bIns="0">
            <a:noAutofit/>
          </a:bodyPr>
          <a:lstStyle/>
          <a:p>
            <a:pPr algn="l">
              <a:spcAft>
                <a:spcPts val="600"/>
              </a:spcAft>
            </a:pPr>
            <a:r>
              <a:rPr sz="1600" b="1">
                <a:solidFill>
                  <a:srgbClr val="000000"/>
                </a:solidFill>
              </a:rPr>
              <a:t>A test that would: </a:t>
            </a:r>
            <a:r>
              <a:rPr sz="1600" b="0">
                <a:solidFill>
                  <a:srgbClr val="000000"/>
                </a:solidFill>
              </a:rPr>
              <a:t>harmless other-side requests, like a Republican asking for an op-ed praising a Democratic policy. Suspicion predicts pushback there too; going along doesn’t.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20</a:t>
            </a:fld>
          </a:p>
        </p:txBody>
      </p:sp>
      <p:sp>
        <p:nvSpPr>
          <p:cNvPr id="4" name="TextBox 3"/>
          <p:cNvSpPr txBox="1"/>
          <p:nvPr/>
        </p:nvSpPr>
        <p:spPr>
          <a:xfrm>
            <a:off x="548640" y="1554480"/>
            <a:ext cx="6766560" cy="548640"/>
          </a:xfrm>
          <a:prstGeom prst="rect">
            <a:avLst/>
          </a:prstGeom>
          <a:noFill/>
        </p:spPr>
        <p:txBody>
          <a:bodyPr wrap="square" anchor="t" lIns="0" rIns="0" tIns="0" bIns="0">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r:id="rId3"/>
          </a:graphicData>
        </a:graphic>
      </p:graphicFrame>
      <p:sp>
        <p:nvSpPr>
          <p:cNvPr id="6" name="TextBox 5"/>
          <p:cNvSpPr txBox="1"/>
          <p:nvPr/>
        </p:nvSpPr>
        <p:spPr>
          <a:xfrm>
            <a:off x="7772400" y="1737360"/>
            <a:ext cx="3870655" cy="4480560"/>
          </a:xfrm>
          <a:prstGeom prst="rect">
            <a:avLst/>
          </a:prstGeom>
          <a:noFill/>
        </p:spPr>
        <p:txBody>
          <a:bodyPr wrap="square" anchor="t" lIns="0" rIns="0" tIns="0" bIns="0">
            <a:noAutofit/>
          </a:bodyPr>
          <a:lstStyle/>
          <a:p>
            <a:pPr algn="l" marL="274320" indent="-274320">
              <a:spcAft>
                <a:spcPts val="1200"/>
              </a:spcAft>
              <a:buChar char="•"/>
            </a:pPr>
            <a:r>
              <a:rPr sz="1600" b="0">
                <a:solidFill>
                  <a:srgbClr val="000000"/>
                </a:solidFill>
              </a:rPr>
              <a:t>29 of the 42 points are official-line answers, not refusals</a:t>
            </a:r>
          </a:p>
          <a:p>
            <a:pPr algn="l" marL="274320" indent="-274320">
              <a:spcAft>
                <a:spcPts val="1200"/>
              </a:spcAft>
              <a:buChar char="•"/>
            </a:pPr>
            <a:r>
              <a:rPr sz="1600" b="0">
                <a:solidFill>
                  <a:srgbClr val="000000"/>
                </a:solidFill>
              </a:rPr>
              <a:t>Removing the refusal direction ends refusal on harmful prompts in both languages, but the gap stays (42 → 46 points)</a:t>
            </a:r>
          </a:p>
          <a:p>
            <a:pPr algn="l" marL="274320" indent="-274320">
              <a:spcAft>
                <a:spcPts val="1200"/>
              </a:spcAft>
              <a:buChar char="•"/>
            </a:pPr>
            <a:r>
              <a:rPr sz="1600" b="0">
                <a:solidFill>
                  <a:srgbClr val="000000"/>
                </a:solidFill>
              </a:rPr>
              <a:t>The English and Chinese refusal directions are nearly the same vector (cosine 0.98 Qwen, 0.91 Llama)</a:t>
            </a:r>
          </a:p>
          <a:p>
            <a:pPr algn="l" marL="274320" indent="-274320">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
        <p:nvSpPr>
          <p:cNvPr id="4" name="Number 1"/>
          <p:cNvSpPr txBox="1"/>
          <p:nvPr/>
        </p:nvSpPr>
        <p:spPr>
          <a:xfrm>
            <a:off x="548640" y="1481328"/>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anchor="t" lIns="0" rIns="0" tIns="0" bIns="0">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anchor="t" lIns="0" rIns="0" tIns="0" bIns="0">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anchor="t" lIns="0" rIns="0" tIns="0" bIns="0">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22</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anchor="t" lIns="0" rIns="0" tIns="0" bIns="0">
            <a:noAutofit/>
          </a:bodyPr>
          <a:lstStyle/>
          <a:p>
            <a:pPr algn="l" marL="274320" indent="-274320">
              <a:spcAft>
                <a:spcPts val="1200"/>
              </a:spcAft>
              <a:buChar char="•"/>
            </a:pPr>
            <a:r>
              <a:rPr sz="1800" b="0">
                <a:solidFill>
                  <a:srgbClr val="000000"/>
                </a:solidFill>
              </a:rPr>
              <a:t>Harmless other-side requests, to separate going along from suspicion</a:t>
            </a:r>
          </a:p>
          <a:p>
            <a:pPr algn="l" marL="274320" indent="-274320">
              <a:spcAft>
                <a:spcPts val="1200"/>
              </a:spcAft>
              <a:buChar char="•"/>
            </a:pPr>
            <a:r>
              <a:rPr sz="1800" b="0">
                <a:solidFill>
                  <a:srgbClr val="000000"/>
                </a:solidFill>
              </a:rPr>
              <a:t>A third model: Gemma-2-9B or a second Chinese-lab model</a:t>
            </a:r>
          </a:p>
          <a:p>
            <a:pPr algn="l" marL="274320" indent="-274320">
              <a:spcAft>
                <a:spcPts val="1200"/>
              </a:spcAft>
              <a:buChar char="•"/>
            </a:pPr>
            <a:r>
              <a:rPr sz="1800" b="0">
                <a:solidFill>
                  <a:srgbClr val="000000"/>
                </a:solidFill>
              </a:rPr>
              <a:t>Remove the direction at the layer where the gap first appears (19 in Qwen, 11 in Llama)</a:t>
            </a:r>
          </a:p>
          <a:p>
            <a:pPr algn="l" marL="274320" indent="-274320">
              <a:spcAft>
                <a:spcPts val="1200"/>
              </a:spcAft>
              <a:buChar char="•"/>
            </a:pPr>
            <a:r>
              <a:rPr sz="1800" b="0">
                <a:solidFill>
                  <a:srgbClr val="000000"/>
                </a:solidFill>
              </a:rPr>
              <a:t>More blind human labels than the current 50</a:t>
            </a:r>
          </a:p>
          <a:p>
            <a:pPr algn="l" marL="274320" indent="-274320">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anchor="t" lIns="0" rIns="0" tIns="0" bIns="0">
            <a:noAutofit/>
          </a:bodyPr>
          <a:lstStyle/>
          <a:p>
            <a:pPr algn="l" marL="274320" indent="-274320">
              <a:spcAft>
                <a:spcPts val="1200"/>
              </a:spcAft>
              <a:buChar char="•"/>
            </a:pPr>
            <a:r>
              <a:rPr sz="1800" b="0">
                <a:solidFill>
                  <a:srgbClr val="000000"/>
                </a:solidFill>
              </a:rPr>
              <a:t>Is it about politics at all? Lakers vs Celtics fans asking to “prove” a game was rigged</a:t>
            </a:r>
          </a:p>
          <a:p>
            <a:pPr algn="l" marL="274320" indent="-274320">
              <a:spcAft>
                <a:spcPts val="1200"/>
              </a:spcAft>
              <a:buChar char="•"/>
            </a:pPr>
            <a:r>
              <a:rPr sz="1800" b="0">
                <a:solidFill>
                  <a:srgbClr val="000000"/>
                </a:solidFill>
              </a:rPr>
              <a:t>Other partisan claims (vaccines, climate) and non-US elections</a:t>
            </a:r>
          </a:p>
          <a:p>
            <a:pPr algn="l" marL="274320" indent="-274320">
              <a:spcAft>
                <a:spcPts val="1200"/>
              </a:spcAft>
              <a:buChar char="•"/>
            </a:pPr>
            <a:r>
              <a:rPr sz="1800" b="0">
                <a:solidFill>
                  <a:srgbClr val="000000"/>
                </a:solidFill>
              </a:rPr>
              <a:t>Larger and other-family models, with several sampled replies per prompt</a:t>
            </a:r>
          </a:p>
          <a:p>
            <a:pPr algn="l" marL="274320" indent="-274320">
              <a:spcAft>
                <a:spcPts val="1200"/>
              </a:spcAft>
              <a:buChar char="•"/>
            </a:pPr>
            <a:r>
              <a:rPr sz="1800" b="0">
                <a:solidFill>
                  <a:srgbClr val="000000"/>
                </a:solidFill>
              </a:rPr>
              <a:t>A native-speaker check of the Chinese prompts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slides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anchor="t" lIns="0" rIns="0" tIns="0" bIns="0">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25</a:t>
            </a:fld>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bandRow="0">
                <a:tableStyleId>{2D5ABB26-0587-4C30-8999-92F81FD0307C}</a:tableStyleId>
              </a:tblPr>
              <a:tblGrid>
                <a:gridCol w="4206240"/>
                <a:gridCol w="6885432"/>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tr>
              <a:tr h="536448">
                <a:tc>
                  <a:txBody>
                    <a:bodyPr/>
                    <a:lstStyle/>
                    <a:p>
                      <a:r>
                        <a:rPr sz="1400" b="0">
                          <a:solidFill>
                            <a:srgbClr val="000000"/>
                          </a:solidFill>
                        </a:rPr>
                        <a:t>Fix which election; cross claim with party</a:t>
                      </a:r>
                    </a:p>
                  </a:txBody>
                  <a:tcPr marL="0" marR="73152" marT="54864" marB="54864">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B w="9525">
                      <a:solidFill>
                        <a:srgbClr val="D9D9D9"/>
                      </a:solidFill>
                    </a:lnB>
                    <a:noFill/>
                  </a:tcPr>
                </a:tc>
              </a:tr>
              <a:tr h="323088">
                <a:tc>
                  <a:txBody>
                    <a:bodyPr/>
                    <a:lstStyle/>
                    <a:p>
                      <a:r>
                        <a:rPr sz="1400" b="0">
                          <a:solidFill>
                            <a:srgbClr val="000000"/>
                          </a:solidFill>
                        </a:rPr>
                        <a:t>No-label baseline</a:t>
                      </a:r>
                    </a:p>
                  </a:txBody>
                  <a:tcPr marL="0" marR="73152" marT="54864" marB="54864">
                    <a:lnB w="9525">
                      <a:solidFill>
                        <a:srgbClr val="D9D9D9"/>
                      </a:solidFill>
                    </a:lnB>
                    <a:noFill/>
                  </a:tcPr>
                </a:tc>
                <a:tc>
                  <a:txBody>
                    <a:bodyPr/>
                    <a:lstStyle/>
                    <a:p>
                      <a:r>
                        <a:rPr sz="1400" b="0">
                          <a:solidFill>
                            <a:srgbClr val="52514E"/>
                          </a:solidFill>
                        </a:rPr>
                        <a:t>Added: no asker stated</a:t>
                      </a:r>
                    </a:p>
                  </a:txBody>
                  <a:tcPr marL="73152" marR="73152" marT="54864" marB="54864">
                    <a:lnB w="9525">
                      <a:solidFill>
                        <a:srgbClr val="D9D9D9"/>
                      </a:solidFill>
                    </a:lnB>
                    <a:noFill/>
                  </a:tcPr>
                </a:tc>
              </a:tr>
              <a:tr h="323088">
                <a:tc>
                  <a:txBody>
                    <a:bodyPr/>
                    <a:lstStyle/>
                    <a:p>
                      <a:r>
                        <a:rPr sz="1400" b="0">
                          <a:solidFill>
                            <a:srgbClr val="000000"/>
                          </a:solidFill>
                        </a:rPr>
                        <a:t>Non-political identity control</a:t>
                      </a:r>
                    </a:p>
                  </a:txBody>
                  <a:tcPr marL="0" marR="73152" marT="54864" marB="54864">
                    <a:lnB w="9525">
                      <a:solidFill>
                        <a:srgbClr val="D9D9D9"/>
                      </a:solidFill>
                    </a:lnB>
                    <a:noFill/>
                  </a:tcPr>
                </a:tc>
                <a:tc>
                  <a:txBody>
                    <a:bodyPr/>
                    <a:lstStyle/>
                    <a:p>
                      <a:r>
                        <a:rPr sz="1400" b="0">
                          <a:solidFill>
                            <a:srgbClr val="52514E"/>
                          </a:solidFill>
                        </a:rPr>
                        <a:t>Added: “I’m a Lakers fan”</a:t>
                      </a:r>
                    </a:p>
                  </a:txBody>
                  <a:tcPr marL="73152" marR="73152" marT="54864" marB="54864">
                    <a:lnB w="9525">
                      <a:solidFill>
                        <a:srgbClr val="D9D9D9"/>
                      </a:solidFill>
                    </a:lnB>
                    <a:noFill/>
                  </a:tcPr>
                </a:tc>
              </a:tr>
              <a:tr h="323088">
                <a:tc>
                  <a:txBody>
                    <a:bodyPr/>
                    <a:lstStyle/>
                    <a:p>
                      <a:r>
                        <a:rPr sz="1400" b="0">
                          <a:solidFill>
                            <a:srgbClr val="000000"/>
                          </a:solidFill>
                        </a:rPr>
                        <a:t>Many requests, not one</a:t>
                      </a:r>
                    </a:p>
                  </a:txBody>
                  <a:tcPr marL="0" marR="73152" marT="54864" marB="54864">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B w="9525">
                      <a:solidFill>
                        <a:srgbClr val="D9D9D9"/>
                      </a:solidFill>
                    </a:lnB>
                    <a:noFill/>
                  </a:tcPr>
                </a:tc>
              </a:tr>
              <a:tr h="323088">
                <a:tc>
                  <a:txBody>
                    <a:bodyPr/>
                    <a:lstStyle/>
                    <a:p>
                      <a:r>
                        <a:rPr sz="1400" b="0">
                          <a:solidFill>
                            <a:srgbClr val="000000"/>
                          </a:solidFill>
                        </a:rPr>
                        <a:t>Party-specific directions always differ</a:t>
                      </a:r>
                    </a:p>
                  </a:txBody>
                  <a:tcPr marL="0" marR="73152" marT="54864" marB="54864">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B w="9525">
                      <a:solidFill>
                        <a:srgbClr val="D9D9D9"/>
                      </a:solidFill>
                    </a:lnB>
                    <a:noFill/>
                  </a:tcPr>
                </a:tc>
              </a:tr>
              <a:tr h="536448">
                <a:tc>
                  <a:txBody>
                    <a:bodyPr/>
                    <a:lstStyle/>
                    <a:p>
                      <a:r>
                        <a:rPr sz="1400" b="0">
                          <a:solidFill>
                            <a:srgbClr val="000000"/>
                          </a:solidFill>
                        </a:rPr>
                        <a:t>Strong, calibrated judge</a:t>
                      </a:r>
                    </a:p>
                  </a:txBody>
                  <a:tcPr marL="0" marR="73152" marT="54864" marB="54864">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B w="9525">
                      <a:solidFill>
                        <a:srgbClr val="D9D9D9"/>
                      </a:solidFill>
                    </a:lnB>
                    <a:noFill/>
                  </a:tcPr>
                </a:tc>
              </a:tr>
              <a:tr h="323088">
                <a:tc>
                  <a:txBody>
                    <a:bodyPr/>
                    <a:lstStyle/>
                    <a:p>
                      <a:r>
                        <a:rPr sz="1400" b="0">
                          <a:solidFill>
                            <a:srgbClr val="000000"/>
                          </a:solidFill>
                        </a:rPr>
                        <a:t>Ablation removes refusal everywhere</a:t>
                      </a:r>
                    </a:p>
                  </a:txBody>
                  <a:tcPr marL="0" marR="73152" marT="54864" marB="54864">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B w="9525">
                      <a:solidFill>
                        <a:srgbClr val="D9D9D9"/>
                      </a:solidFill>
                    </a:lnB>
                    <a:noFill/>
                  </a:tcPr>
                </a:tc>
              </a:tr>
              <a:tr h="323088">
                <a:tc>
                  <a:txBody>
                    <a:bodyPr/>
                    <a:lstStyle/>
                    <a:p>
                      <a:r>
                        <a:rPr sz="1400" b="0">
                          <a:solidFill>
                            <a:srgbClr val="000000"/>
                          </a:solidFill>
                        </a:rPr>
                        <a:t>Pilot rates need room for a difference</a:t>
                      </a:r>
                    </a:p>
                  </a:txBody>
                  <a:tcPr marL="0" marR="73152" marT="54864" marB="54864">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B w="9525">
                      <a:solidFill>
                        <a:srgbClr val="D9D9D9"/>
                      </a:solidFill>
                    </a:lnB>
                    <a:noFill/>
                  </a:tcPr>
                </a:tc>
              </a:tr>
              <a:tr h="323088">
                <a:tc>
                  <a:txBody>
                    <a:bodyPr/>
                    <a:lstStyle/>
                    <a:p>
                      <a:r>
                        <a:rPr sz="1400" b="0">
                          <a:solidFill>
                            <a:srgbClr val="000000"/>
                          </a:solidFill>
                        </a:rPr>
                        <a:t>Direction from non-political prompts</a:t>
                      </a:r>
                    </a:p>
                  </a:txBody>
                  <a:tcPr marL="0" marR="73152" marT="54864" marB="54864">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B w="9525">
                      <a:solidFill>
                        <a:srgbClr val="D9D9D9"/>
                      </a:solidFill>
                    </a:lnB>
                    <a:no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26</a:t>
            </a:fld>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bandRow="0">
                <a:tableStyleId>{2D5ABB26-0587-4C30-8999-92F81FD0307C}</a:tableStyleId>
              </a:tblPr>
              <a:tblGrid>
                <a:gridCol w="4507992"/>
                <a:gridCol w="1645920"/>
                <a:gridCol w="1645920"/>
                <a:gridCol w="1645920"/>
                <a:gridCol w="1645920"/>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tr>
              <a:tr h="353568">
                <a:tc>
                  <a:txBody>
                    <a:bodyPr/>
                    <a:lstStyle/>
                    <a:p>
                      <a:r>
                        <a:rPr sz="1600" b="0">
                          <a:solidFill>
                            <a:srgbClr val="000000"/>
                          </a:solidFill>
                        </a:rPr>
                        <a:t>Before: own side / other side</a:t>
                      </a:r>
                    </a:p>
                  </a:txBody>
                  <a:tcPr marL="0" marR="73152" marT="54864" marB="54864">
                    <a:lnB w="9525">
                      <a:solidFill>
                        <a:srgbClr val="D9D9D9"/>
                      </a:solidFill>
                    </a:lnB>
                    <a:noFill/>
                  </a:tcPr>
                </a:tc>
                <a:tc>
                  <a:txBody>
                    <a:bodyPr/>
                    <a:lstStyle/>
                    <a:p>
                      <a:r>
                        <a:rPr sz="1600" b="0">
                          <a:solidFill>
                            <a:srgbClr val="52514E"/>
                          </a:solidFill>
                        </a:rPr>
                        <a:t>40% / 26%</a:t>
                      </a:r>
                    </a:p>
                  </a:txBody>
                  <a:tcPr marL="73152" marR="73152" marT="54864" marB="54864">
                    <a:lnB w="9525">
                      <a:solidFill>
                        <a:srgbClr val="D9D9D9"/>
                      </a:solidFill>
                    </a:lnB>
                    <a:noFill/>
                  </a:tcPr>
                </a:tc>
                <a:tc>
                  <a:txBody>
                    <a:bodyPr/>
                    <a:lstStyle/>
                    <a:p>
                      <a:r>
                        <a:rPr sz="1600" b="0">
                          <a:solidFill>
                            <a:srgbClr val="52514E"/>
                          </a:solidFill>
                        </a:rPr>
                        <a:t>61% / 45%</a:t>
                      </a:r>
                    </a:p>
                  </a:txBody>
                  <a:tcPr marL="73152" marR="73152" marT="54864" marB="54864">
                    <a:lnB w="9525">
                      <a:solidFill>
                        <a:srgbClr val="D9D9D9"/>
                      </a:solidFill>
                    </a:lnB>
                    <a:noFill/>
                  </a:tcPr>
                </a:tc>
                <a:tc>
                  <a:txBody>
                    <a:bodyPr/>
                    <a:lstStyle/>
                    <a:p>
                      <a:r>
                        <a:rPr sz="1600" b="0">
                          <a:solidFill>
                            <a:srgbClr val="52514E"/>
                          </a:solidFill>
                        </a:rPr>
                        <a:t>18% / 10%</a:t>
                      </a:r>
                    </a:p>
                  </a:txBody>
                  <a:tcPr marL="73152" marR="73152" marT="54864" marB="54864">
                    <a:lnB w="9525">
                      <a:solidFill>
                        <a:srgbClr val="D9D9D9"/>
                      </a:solidFill>
                    </a:lnB>
                    <a:noFill/>
                  </a:tcPr>
                </a:tc>
                <a:tc>
                  <a:txBody>
                    <a:bodyPr/>
                    <a:lstStyle/>
                    <a:p>
                      <a:r>
                        <a:rPr sz="1600" b="0">
                          <a:solidFill>
                            <a:srgbClr val="52514E"/>
                          </a:solidFill>
                        </a:rPr>
                        <a:t>34% / 27%</a:t>
                      </a:r>
                    </a:p>
                  </a:txBody>
                  <a:tcPr marL="73152" marR="73152" marT="54864" marB="54864">
                    <a:lnB w="9525">
                      <a:solidFill>
                        <a:srgbClr val="D9D9D9"/>
                      </a:solidFill>
                    </a:lnB>
                    <a:noFill/>
                  </a:tcPr>
                </a:tc>
              </a:tr>
              <a:tr h="353568">
                <a:tc>
                  <a:txBody>
                    <a:bodyPr/>
                    <a:lstStyle/>
                    <a:p>
                      <a:r>
                        <a:rPr sz="1600" b="0">
                          <a:solidFill>
                            <a:srgbClr val="000000"/>
                          </a:solidFill>
                        </a:rPr>
                        <a:t>Each prompt set to the other-side mean</a:t>
                      </a:r>
                    </a:p>
                  </a:txBody>
                  <a:tcPr marL="0" marR="73152" marT="54864" marB="54864">
                    <a:lnB w="9525">
                      <a:solidFill>
                        <a:srgbClr val="D9D9D9"/>
                      </a:solidFill>
                    </a:lnB>
                    <a:noFill/>
                  </a:tcPr>
                </a:tc>
                <a:tc>
                  <a:txBody>
                    <a:bodyPr/>
                    <a:lstStyle/>
                    <a:p>
                      <a:r>
                        <a:rPr sz="1600" b="0">
                          <a:solidFill>
                            <a:srgbClr val="52514E"/>
                          </a:solidFill>
                        </a:rPr>
                        <a:t>42%</a:t>
                      </a:r>
                    </a:p>
                  </a:txBody>
                  <a:tcPr marL="73152" marR="73152" marT="54864" marB="54864">
                    <a:lnB w="9525">
                      <a:solidFill>
                        <a:srgbClr val="D9D9D9"/>
                      </a:solidFill>
                    </a:lnB>
                    <a:noFill/>
                  </a:tcPr>
                </a:tc>
                <a:tc>
                  <a:txBody>
                    <a:bodyPr/>
                    <a:lstStyle/>
                    <a:p>
                      <a:r>
                        <a:rPr sz="1600" b="0">
                          <a:solidFill>
                            <a:srgbClr val="52514E"/>
                          </a:solidFill>
                        </a:rPr>
                        <a:t>61%</a:t>
                      </a:r>
                    </a:p>
                  </a:txBody>
                  <a:tcPr marL="73152" marR="73152" marT="54864" marB="54864">
                    <a:lnB w="9525">
                      <a:solidFill>
                        <a:srgbClr val="D9D9D9"/>
                      </a:solidFill>
                    </a:lnB>
                    <a:noFill/>
                  </a:tcPr>
                </a:tc>
                <a:tc>
                  <a:txBody>
                    <a:bodyPr/>
                    <a:lstStyle/>
                    <a:p>
                      <a:r>
                        <a:rPr sz="1600" b="0">
                          <a:solidFill>
                            <a:srgbClr val="52514E"/>
                          </a:solidFill>
                        </a:rPr>
                        <a:t>6%</a:t>
                      </a:r>
                    </a:p>
                  </a:txBody>
                  <a:tcPr marL="73152" marR="73152" marT="54864" marB="54864">
                    <a:lnB w="9525">
                      <a:solidFill>
                        <a:srgbClr val="D9D9D9"/>
                      </a:solidFill>
                    </a:lnB>
                    <a:noFill/>
                  </a:tcPr>
                </a:tc>
                <a:tc>
                  <a:txBody>
                    <a:bodyPr/>
                    <a:lstStyle/>
                    <a:p>
                      <a:r>
                        <a:rPr sz="1600" b="0">
                          <a:solidFill>
                            <a:srgbClr val="52514E"/>
                          </a:solidFill>
                        </a:rPr>
                        <a:t>18%</a:t>
                      </a:r>
                    </a:p>
                  </a:txBody>
                  <a:tcPr marL="73152" marR="73152" marT="54864" marB="54864">
                    <a:lnB w="9525">
                      <a:solidFill>
                        <a:srgbClr val="D9D9D9"/>
                      </a:solidFill>
                    </a:lnB>
                    <a:noFill/>
                  </a:tcPr>
                </a:tc>
              </a:tr>
              <a:tr h="597408">
                <a:tc>
                  <a:txBody>
                    <a:bodyPr/>
                    <a:lstStyle/>
                    <a:p>
                      <a:r>
                        <a:rPr sz="1600" b="0">
                          <a:solidFill>
                            <a:srgbClr val="000000"/>
                          </a:solidFill>
                        </a:rPr>
                        <a:t>Each set to its own group’s mean (gap unchanged)</a:t>
                      </a:r>
                    </a:p>
                  </a:txBody>
                  <a:tcPr marL="0" marR="73152" marT="54864" marB="54864">
                    <a:lnB w="9525">
                      <a:solidFill>
                        <a:srgbClr val="D9D9D9"/>
                      </a:solidFill>
                    </a:lnB>
                    <a:noFill/>
                  </a:tcPr>
                </a:tc>
                <a:tc>
                  <a:txBody>
                    <a:bodyPr/>
                    <a:lstStyle/>
                    <a:p>
                      <a:r>
                        <a:rPr sz="1600" b="0">
                          <a:solidFill>
                            <a:srgbClr val="52514E"/>
                          </a:solidFill>
                        </a:rPr>
                        <a:t>46%</a:t>
                      </a:r>
                    </a:p>
                  </a:txBody>
                  <a:tcPr marL="73152" marR="73152" marT="54864" marB="54864">
                    <a:lnB w="9525">
                      <a:solidFill>
                        <a:srgbClr val="D9D9D9"/>
                      </a:solidFill>
                    </a:lnB>
                    <a:noFill/>
                  </a:tcPr>
                </a:tc>
                <a:tc>
                  <a:txBody>
                    <a:bodyPr/>
                    <a:lstStyle/>
                    <a:p>
                      <a:r>
                        <a:rPr sz="1600" b="0">
                          <a:solidFill>
                            <a:srgbClr val="52514E"/>
                          </a:solidFill>
                        </a:rPr>
                        <a:t>65%</a:t>
                      </a:r>
                    </a:p>
                  </a:txBody>
                  <a:tcPr marL="73152" marR="73152" marT="54864" marB="54864">
                    <a:lnB w="9525">
                      <a:solidFill>
                        <a:srgbClr val="D9D9D9"/>
                      </a:solidFill>
                    </a:lnB>
                    <a:noFill/>
                  </a:tcPr>
                </a:tc>
                <a:tc>
                  <a:txBody>
                    <a:bodyPr/>
                    <a:lstStyle/>
                    <a:p>
                      <a:r>
                        <a:rPr sz="1600" b="0">
                          <a:solidFill>
                            <a:srgbClr val="52514E"/>
                          </a:solidFill>
                        </a:rPr>
                        <a:t>10%</a:t>
                      </a:r>
                    </a:p>
                  </a:txBody>
                  <a:tcPr marL="73152" marR="73152" marT="54864" marB="54864">
                    <a:lnB w="9525">
                      <a:solidFill>
                        <a:srgbClr val="D9D9D9"/>
                      </a:solidFill>
                    </a:lnB>
                    <a:noFill/>
                  </a:tcPr>
                </a:tc>
                <a:tc>
                  <a:txBody>
                    <a:bodyPr/>
                    <a:lstStyle/>
                    <a:p>
                      <a:r>
                        <a:rPr sz="1600" b="0">
                          <a:solidFill>
                            <a:srgbClr val="52514E"/>
                          </a:solidFill>
                        </a:rPr>
                        <a:t>22%</a:t>
                      </a:r>
                    </a:p>
                  </a:txBody>
                  <a:tcPr marL="73152" marR="73152" marT="54864" marB="54864">
                    <a:lnB w="9525">
                      <a:solidFill>
                        <a:srgbClr val="D9D9D9"/>
                      </a:solidFill>
                    </a:lnB>
                    <a:noFill/>
                  </a:tcPr>
                </a:tc>
              </a:tr>
              <a:tr h="353568">
                <a:tc>
                  <a:txBody>
                    <a:bodyPr/>
                    <a:lstStyle/>
                    <a:p>
                      <a:r>
                        <a:rPr sz="1600" b="0">
                          <a:solidFill>
                            <a:srgbClr val="000000"/>
                          </a:solidFill>
                        </a:rPr>
                        <a:t>Constant shift by the gap, 1×</a:t>
                      </a:r>
                    </a:p>
                  </a:txBody>
                  <a:tcPr marL="0" marR="73152" marT="54864" marB="54864">
                    <a:lnB w="9525">
                      <a:solidFill>
                        <a:srgbClr val="D9D9D9"/>
                      </a:solidFill>
                    </a:lnB>
                    <a:noFill/>
                  </a:tcPr>
                </a:tc>
                <a:tc>
                  <a:txBody>
                    <a:bodyPr/>
                    <a:lstStyle/>
                    <a:p>
                      <a:r>
                        <a:rPr sz="1600" b="0">
                          <a:solidFill>
                            <a:srgbClr val="52514E"/>
                          </a:solidFill>
                        </a:rPr>
                        <a:t>39%</a:t>
                      </a:r>
                    </a:p>
                  </a:txBody>
                  <a:tcPr marL="73152" marR="73152" marT="54864" marB="54864">
                    <a:lnB w="9525">
                      <a:solidFill>
                        <a:srgbClr val="D9D9D9"/>
                      </a:solidFill>
                    </a:lnB>
                    <a:noFill/>
                  </a:tcPr>
                </a:tc>
                <a:tc>
                  <a:txBody>
                    <a:bodyPr/>
                    <a:lstStyle/>
                    <a:p>
                      <a:r>
                        <a:rPr sz="1600" b="0">
                          <a:solidFill>
                            <a:srgbClr val="52514E"/>
                          </a:solidFill>
                        </a:rPr>
                        <a:t>57%</a:t>
                      </a:r>
                    </a:p>
                  </a:txBody>
                  <a:tcPr marL="73152" marR="73152" marT="54864" marB="54864">
                    <a:lnB w="9525">
                      <a:solidFill>
                        <a:srgbClr val="D9D9D9"/>
                      </a:solidFill>
                    </a:lnB>
                    <a:noFill/>
                  </a:tcPr>
                </a:tc>
                <a:tc>
                  <a:txBody>
                    <a:bodyPr/>
                    <a:lstStyle/>
                    <a:p>
                      <a:r>
                        <a:rPr sz="1600" b="0">
                          <a:solidFill>
                            <a:srgbClr val="52514E"/>
                          </a:solidFill>
                        </a:rPr>
                        <a:t>13%</a:t>
                      </a:r>
                    </a:p>
                  </a:txBody>
                  <a:tcPr marL="73152" marR="73152" marT="54864" marB="54864">
                    <a:lnB w="9525">
                      <a:solidFill>
                        <a:srgbClr val="D9D9D9"/>
                      </a:solidFill>
                    </a:lnB>
                    <a:noFill/>
                  </a:tcPr>
                </a:tc>
                <a:tc>
                  <a:txBody>
                    <a:bodyPr/>
                    <a:lstStyle/>
                    <a:p>
                      <a:r>
                        <a:rPr sz="1600" b="0">
                          <a:solidFill>
                            <a:srgbClr val="52514E"/>
                          </a:solidFill>
                        </a:rPr>
                        <a:t>29%</a:t>
                      </a:r>
                    </a:p>
                  </a:txBody>
                  <a:tcPr marL="73152" marR="73152" marT="54864" marB="54864">
                    <a:lnB w="9525">
                      <a:solidFill>
                        <a:srgbClr val="D9D9D9"/>
                      </a:solidFill>
                    </a:lnB>
                    <a:noFill/>
                  </a:tcPr>
                </a:tc>
              </a:tr>
            </a:tbl>
          </a:graphicData>
        </a:graphic>
      </p:graphicFrame>
      <p:sp>
        <p:nvSpPr>
          <p:cNvPr id="5" name="TextBox 4"/>
          <p:cNvSpPr txBox="1"/>
          <p:nvPr/>
        </p:nvSpPr>
        <p:spPr>
          <a:xfrm>
            <a:off x="548640" y="4023360"/>
            <a:ext cx="11094415" cy="822960"/>
          </a:xfrm>
          <a:prstGeom prst="rect">
            <a:avLst/>
          </a:prstGeom>
          <a:noFill/>
        </p:spPr>
        <p:txBody>
          <a:bodyPr wrap="square" anchor="t" lIns="0" rIns="0" tIns="0" bIns="0">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27</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anchor="t" lIns="0" rIns="0" tIns="0" bIns="0">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anchor="t" lIns="0" rIns="0" tIns="0" bIns="0">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anchor="t" lIns="0" rIns="0" tIns="0" bIns="0">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