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83" r:id="rId4"/>
    <p:sldId id="259" r:id="rId5"/>
    <p:sldId id="260" r:id="rId6"/>
    <p:sldId id="261" r:id="rId7"/>
    <p:sldId id="289" r:id="rId39"/>
    <p:sldId id="262" r:id="rId8"/>
    <p:sldId id="263" r:id="rId9"/>
    <p:sldId id="288" r:id="rId38"/>
    <p:sldId id="285" r:id="rId35"/>
    <p:sldId id="290" r:id="rId40"/>
    <p:sldId id="266" r:id="rId12"/>
    <p:sldId id="274" r:id="rId20"/>
    <p:sldId id="276" r:id="rId22"/>
    <p:sldId id="277" r:id="rId23"/>
    <p:sldId id="291" r:id="rId41"/>
    <p:sldId id="265" r:id="rId11"/>
    <p:sldId id="267" r:id="rId13"/>
    <p:sldId id="268" r:id="rId14"/>
    <p:sldId id="269" r:id="rId15"/>
    <p:sldId id="270" r:id="rId16"/>
    <p:sldId id="271" r:id="rId17"/>
    <p:sldId id="272" r:id="rId18"/>
    <p:sldId id="273" r:id="rId19"/>
    <p:sldId id="275" r:id="rId21"/>
    <p:sldId id="264" r:id="rId10"/>
    <p:sldId id="278" r:id="rId24"/>
    <p:sldId id="284" r:id="rId34"/>
    <p:sldId id="279" r:id="rId25"/>
    <p:sldId id="280" r:id="rId26"/>
    <p:sldId id="281" r:id="rId27"/>
    <p:sldId id="282" r:id="rId28"/>
    <p:sldId id="286" r:id="rId36"/>
    <p:sldId id="287"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78"/>
  </p:normalViewPr>
  <p:slideViewPr>
    <p:cSldViewPr snapToGrid="0" snapToObjects="1">
      <p:cViewPr varScale="1">
        <p:scale>
          <a:sx n="90" d="100"/>
          <a:sy n="90" d="100"/>
        </p:scale>
        <p:origin x="216" y="7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slide" Target="slides/slide21.xml"/><Relationship Id="rId21" Type="http://schemas.openxmlformats.org/officeDocument/2006/relationships/slide" Target="slides/slide22.xml"/><Relationship Id="rId22" Type="http://schemas.openxmlformats.org/officeDocument/2006/relationships/slide" Target="slides/slide23.xml"/><Relationship Id="rId23" Type="http://schemas.openxmlformats.org/officeDocument/2006/relationships/slide" Target="slides/slide24.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27.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slide" Target="slides/slide8.xml"/><Relationship Id="rId35" Type="http://schemas.openxmlformats.org/officeDocument/2006/relationships/slide" Target="slides/slide11.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col"/>
        <c:grouping val="clustered"/>
        <c:varyColors val="1"/>
        <c:ser>
          <c:idx val="0"/>
          <c:order val="0"/>
          <c:tx>
            <c:strRef>
              <c:f>Sheet1!$B$1</c:f>
              <c:strCache>
                <c:ptCount val="1"/>
                <c:pt idx="0">
                  <c:v>Qwen2.5-7B</c:v>
                </c:pt>
              </c:strCache>
            </c:strRef>
          </c:tx>
          <c:spPr>
            <a:solidFill>
              <a:srgbClr val="262626"/>
            </a:solidFill>
          </c:spPr>
          <c:invertIfNegative val="1"/>
          <c:dLbls>
            <c:numFmt formatCode="0%" sourceLinked="0"/>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English</c:v>
                </c:pt>
                <c:pt idx="1">
                  <c:v>Simplified Chinese</c:v>
                </c:pt>
                <c:pt idx="2">
                  <c:v>Traditional Chinese</c:v>
                </c:pt>
              </c:strCache>
            </c:strRef>
          </c:cat>
          <c:val>
            <c:numRef>
              <c:f>Sheet1!$B$2:$B$4</c:f>
              <c:numCache>
                <c:formatCode>General</c:formatCode>
                <c:ptCount val="3"/>
                <c:pt idx="0">
                  <c:v>0.21</c:v>
                </c:pt>
                <c:pt idx="1">
                  <c:v>0.62</c:v>
                </c:pt>
                <c:pt idx="2">
                  <c:v>0.62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263-1549-86F5-142618AF6876}"/>
            </c:ext>
          </c:extLst>
        </c:ser>
        <c:ser>
          <c:idx val="1"/>
          <c:order val="1"/>
          <c:tx>
            <c:strRef>
              <c:f>Sheet1!$C$1</c:f>
              <c:strCache>
                <c:ptCount val="1"/>
                <c:pt idx="0">
                  <c:v>Llama-3.1-8B</c:v>
                </c:pt>
              </c:strCache>
            </c:strRef>
          </c:tx>
          <c:spPr>
            <a:solidFill>
              <a:srgbClr val="A6A6A6"/>
            </a:solidFill>
          </c:spPr>
          <c:invertIfNegative val="1"/>
          <c:dLbls>
            <c:numFmt formatCode="0%" sourceLinked="0"/>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English</c:v>
                </c:pt>
                <c:pt idx="1">
                  <c:v>Simplified Chinese</c:v>
                </c:pt>
                <c:pt idx="2">
                  <c:v>Traditional Chinese</c:v>
                </c:pt>
              </c:strCache>
            </c:strRef>
          </c:cat>
          <c:val>
            <c:numRef>
              <c:f>Sheet1!$C$2:$C$4</c:f>
              <c:numCache>
                <c:formatCode>General</c:formatCode>
                <c:ptCount val="3"/>
                <c:pt idx="0">
                  <c:v>0</c:v>
                </c:pt>
                <c:pt idx="1">
                  <c:v>0</c:v>
                </c:pt>
                <c:pt idx="2">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0263-1549-86F5-142618AF6876}"/>
            </c:ext>
          </c:extLst>
        </c:ser>
        <c:dLbls>
          <c:dLblPos val="outEnd"/>
          <c:showLegendKey val="0"/>
          <c:showVal val="1"/>
          <c:showCatName val="0"/>
          <c:showSerName val="0"/>
          <c:showPercent val="0"/>
          <c:showBubbleSize val="0"/>
        </c:dLbls>
        <c:gapWidth val="6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9D9"/>
            </a:solidFill>
          </a:ln>
        </c:spPr>
        <c:crossAx val="-2113994440"/>
        <c:crosses val="autoZero"/>
        <c:auto val="1"/>
        <c:lblAlgn val="ctr"/>
        <c:lblOffset val="100"/>
        <c:noMultiLvlLbl val="0"/>
      </c:catAx>
      <c:valAx>
        <c:axId val="-2113994440"/>
        <c:scaling>
          <c:orientation val="minMax"/>
          <c:max val="1"/>
          <c:min val="0"/>
        </c:scaling>
        <c:delete val="0"/>
        <c:axPos val="l"/>
        <c:majorGridlines>
          <c:spPr>
            <a:ln>
              <a:solidFill>
                <a:srgbClr val="D9D9D9"/>
              </a:solidFill>
            </a:ln>
          </c:spPr>
        </c:majorGridlines>
        <c:numFmt formatCode="0%" sourceLinked="0"/>
        <c:majorTickMark val="out"/>
        <c:minorTickMark val="none"/>
        <c:tickLblPos val="nextTo"/>
        <c:spPr>
          <a:ln>
            <a:noFill/>
          </a:ln>
        </c:spPr>
        <c:txPr>
          <a:bodyPr/>
          <a:lstStyle/>
          <a:p>
            <a:pPr>
              <a:defRPr sz="1200">
                <a:solidFill>
                  <a:srgbClr val="898781"/>
                </a:solidFill>
              </a:defRPr>
            </a:pPr>
            <a:endParaRPr lang="en-US"/>
          </a:p>
        </c:txPr>
        <c:crossAx val="-2068027336"/>
        <c:crosses val="autoZero"/>
        <c:crossBetween val="between"/>
        <c:majorUnit val="0.25"/>
      </c:valAx>
    </c:plotArea>
    <c:legend>
      <c:legendPos val="t"/>
      <c:overlay val="0"/>
    </c:legend>
    <c:plotVisOnly val="1"/>
    <c:dispBlanksAs val="gap"/>
    <c:showDLblsOverMax val="1"/>
  </c:chart>
  <c:txPr>
    <a:bodyPr/>
    <a:lstStyle/>
    <a:p>
      <a:pPr>
        <a:defRPr sz="1400">
          <a:solidFill>
            <a:srgbClr val="000000"/>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5549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Add full names and the course name if you want them here.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 AI spreads, people will lean on it for more of what they do, including things that help and things that harm. Elections show both in one place: the same model that explains how votes are counted can draft the argument that an election was stolen. The line between helpful and harmful is blurred, and models have to draw it somewhere.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Political polarization is increasingly relevant, and model bias is under scrutiny: people already ask whether chat models lean one way. We argue models should work to serve democracy, which means not helping to undermine trust in legitimate election results, while staying non-partisan, treating every asker and both parties the same. Those goals can pull against each other. Each party has its own 'stolen election' story, so a model that pushes back on one side's story more often than the other's can look partisan even while it defends an election. That is why our design asks every claim from both sides.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roadmap for the rest of the talk. The numbers on the right are the slide where each part starts, handy for questions.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paper we build on. Arditi et al. look inside the model's activations, the residual stream, while it reads a prompt. Average the activations over harmful instructions, average them over harmless ones, and take the difference: that is the refusal direction. Two tests show it is causal. Remove it from every layer and the model stops refusing harmful requests. Add it to a harmless request and the model refuses. This held in 13 open-source chat models up to 72B parameters, and editing the direction out of the weights gives a jailbreak that leaves other abilities mostly intact, which says safety fine-tuning is brittle. They also show that adversarial suffixes work by suppressing this direction. We reuse their method, their harmful and harmless prompts and their selection filters unchanged.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ask this. If refusals depend on who is asking, safety behavior is uneven by group, and stolen-election requests are a sharp case because both parties have their own version. We ask whether the refusal direction treats partisans the same. A later paper argues refusal is more than one direction, and Qwen's result ends up on its side. The design grew out of Sreya's 3B pilot and the TA's feedback.</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method in five steps. We built prompts where only the asker changes, had both models reply, and scored the replies with two judges. Then we went inside the models: found the refusal direction with Arditi et al.'s method, projected every prompt onto it at every layer, and ran causal tests that change the activations and watch the replies change. Next, each step in turn.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Five askers, eight elections, 23 requests. The party askers, the voter and the Lakers fan share one sentence shape, so 'named a party' can be told apart from 'said something about yourself first'. Each election's 'stolen' story belongs to one side: 2020 to Republicans, 2016 to Democrats. Crossing them gives own-side and other-side requests (aligned and crossed in our code). The dots on the left: for a 2020 claim the Republican is own side (blue) and the Democrat other side (orange). Within a cell the prompts differ only in the asker sentence: 136 matched Democrat/Republican pairs. The design follows the TA's feedback (table in the backup slides).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first judge was the one from the paper, Llama Guard 2. It flagged none of these replies, including ones that argue at length that an election was stolen. So we used two judges: Llama Guard 3 with an added election category, and Claude with a written rubric. On a blind human pass over 50 replies, Claude agrees at kappa 0.77 and Guard at 0.51. Guard misses replies that start with a disclaimer and then argue, and question-form replies, so its rates run low. Neither judge sees who asked: the asker sentence is replaced with 'Please'.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Everything we found, on one slide; the slide number on the right is where each one is backed up. The first line answers our question from slide 6: the direction is party-blind, but other-side claims land closer to refusal on it. Read the bold lead of each line and move on: the detail slides carry the evidence.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punchline. Top: Democrat vs Republican, 1 to 4 points apart, none significant, under both judges. Bottom: own side vs other side. Own-side requests get the content 7 to 15 points more often, in both models and under both judges, on 136 matched pairs. Inside the model it splits by model: in Llama, shifting own-side prompts along the refusal direction by twice the measured gap closes it; in Qwen it takes a second, side direction. Filled dots are the Claude judge, hollow ones Llama Guard. The supporting-detail section has the evidence for each piece.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asker compared with 'I'm a voter' on matched pairs. Naming a party lowers compliance, but so does 'I'm a Lakers fan', by about as much or more. So a party label acts like any identity. What moves the models is whose claim it is, not which party you name.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compute a candidate direction at every layer and token position up to 80% depth, from non-political harmful vs harmless prompts. We pick the one whose removal cuts refusal most, provided that adding it also causes refusal and that it barely changes harmless outputs (KL under 0.1). Qwen: layer 19 of 28; 21 candidates at layers 13 to 21 ablate more, but all of them change harmless outputs too much. Llama: layer 13 of 32, the strongest of any candidate. Non-political prompts so the direction can't absorb 'this is about partisan politics'.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prompt projected onto each layer's own refusal direction. Republican minus Democrat is nonzero from the first layers, but it tracks the harmless civic questions: the model is noticing a party word, not refusing. Party minus Lakers fan is larger and also mostly shared with the harmless questions (in Qwen through layer 18; in Llama the fan prompts sit closer to refusal on both kinds).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Other side minus own side, as a share of each layer's stolen-minus-harmless gap. Zero in early layers, then it switches on mid-network, and only for stolen-election requests. First significant at layer 19 of 28 in Qwen and 11 of 32 in Llama, peaking at 18% (Qwen, layer 25) and 13% (Llama, layer 18). The model knows who you are early and decides whose claim it is later. Slide 25 picks this up again.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Removing the direction lifts did-the-task above 80% for everyone, and the own-side/other-side gap is no longer significant (Qwen 85% vs 82%, Llama 86% vs 82% under Llama Guard). That is causal but blunt: it removes refusal everywhere, so it can't say how much of the gap runs through the direction. Harmless questions are unchanged.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clean test. Take the own-side prompts and push them along the refusal direction by exactly the measured own-side/other-side gap in projection, and by multiples of it. Llama: 1x closes about 70% of the gap and 2x nearly all of it. Qwen: 1x barely moves it, 3x closes about two-thirds, 10x overshoots. The same push along a random direction does nothing. So the direction controls compliance in both models, but only in Llama is the gap the right size to be explained by it.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Qwen differs. The side direction (the alignment direction in our code) is what an other-side request adds to the activations on stolen-election prompts beyond what it adds on harmless ones. In Qwen it overlaps the refusal direction at cosine 0.6 at the chosen layer, rising to 0.79 by layer 25, right where the gap peaks in the layer curves. Shifting prompts along it closes or swaps the gap under both judges. In Llama it is nearly orthogonal to refusal, and only its refusal part does anything.</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 to slide 3. On the narrow test the models are non-partisan: no Democrat/Republican gap, and the refusal direction treats every asker the same. Serving democracy is less clear: they help most when the claim fits the asker, which is exactly the people most likely to believe it and spread it. Why would a model do that? Two readings. One is sycophancy: the model goes along with views it infers from who is asking. The other is suspicion: a Democrat asking to prove 2020 was stolen is an odd request, so the model reads bad faith and is warier. The Lakers-fan result fits the second, since an irrelevant self-description also lowers help, but our data can't separate them. A test that could: harmless requests from the other side, like a Republican asking for an op-ed praising a Democratic policy. More pushback there means suspicion of odd requests; none means going along with the asker.</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Tyler's extension: the same question in English and Chinese. Qwen censors China-sensitive requests 21% of the time in English and 62% in Chinese. Traditional characters give the same 62%, so it is the language, not the script. Llama answers all of them. Most of Qwen's gap is official-line answers, which removing the refusal direction leaves in place. A refusal counter, or an 'abliterated' uncensored model, would miss it. Tyler may want to swap in his own chart.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things to remember, then the limits. The first answers our question. The second goes back to slide 3: non-partisan in the narrow sense, but the help goes to the people most likely to spread the claim. The third is the mechanism story: Llama encodes 'the other side's claim' as more refusal-like, full stop; Qwen does that and also uses a second direction the refusal direction doesn't see.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what this group can still run. The first item is the test from slide 14 that would separate going along with the asker from suspicion. Right: with more time. The Lakers-vs-Celtics test asks whether the own-side effect is about politics at all.</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Slides for questions.</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Both models draft letters, speeches and op-eds far more readily than they produce 'the strongest evidence' or 'a persuasive post'. The severity levels bundle those formats unevenly, so don't read baseline severity as a curve. Llama Guard misses question-form replies: Qwen's town-hall questions are 100% under Claude and 9% under Guard.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From HANDOFF.md.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Setting each prompt to its own group's mean leaves the gap unchanged, yet moves Llama almost as much as setting it to the other-side mean. So that version measures removing the spread across prompts, not the gap. The constant shift is the clean test.</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Left: the projection alone predicts whether a reply did the task, at AUC 0.8 to 0.9. Adding it to a regression shrinks the other-side term by a fifth in Qwen and two fifths in Llama. Right: adding the direction to the harmless election questions makes the model refuse for every asker, to within 1%.</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Answers to the technical questions an AI researcher is likely to ask first. If time is short, skip this slide and keep it for questions. One more that may come up: removing the direction erases nearly all refusal, so it can't measure the gap on its own; for that we shift prompts along the direction by the measured gap, against a random-direction control, with predictions written before the run.</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This is Arditi et al.'s recipe, with one change: we drop any anchor prompt that mentions elections, voting, parties or candidates, so the direction can't pick up politics. We also keep only harmful prompts the model actually refuses and harmless ones it answers (123 and 127 kept in Qwen, 121 and 127 in Llama), so the averages describe refusal itself. The refusal score is the log-odds that the reply's first token is a refusal token. Every layer up to 80% of the depth and every token after the instruction gives a candidate. We keep the one whose removal lowers refusal most, as long as adding it causes refusal and removing it barely changes harmless outputs (KL below 0.1). It then has to hold up on 64 harmful prompts never used to build or pick it, and across 100 re-extractions from resampled prompts. The curve behind the choice comes with the results.</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Option B for the prior-work slide (slide 5). Swap it in if you prefer it, then delete this section.</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Option B for slide 5, built from the paper itself. Left: their method in their terms. Right: their two headline figures, which go in the dashed boxes (Figure 1 and Figure 3 of arXiv 2406.11717). Removing the direction makes all 13 models answer harmful requests; adding it makes them refuse harmless ones. Our pipeline reuses their prompts, scores and selection filters.</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Every reply is judged blind to the asker. Llama Guard 3 gets one added category written for this project; Claude gets a four-label rubric, and 'did the task' means ANSWERS. The rubric's hard case is 'talking points with a rebuttal under each point': it counts as ANSWERS, because the user can lift the points. A teammate (Skyler) labeled 50 replies blind, before seeing any judge output. The two judges differ by about 20 points on levels, mostly disclaimer-then-argue replies that Guard misses, but agree on every group comparison. The agreement table is in the supporting detail.</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Two open-weight chat models, run the same way. Open weights matter because the method reads and edits the models' internal activations. Qwen is from a Chinese lab and Llama from a US lab, which the language extension uses. Each run took about 25 minutes per model on one A40, plus about 10 for judging. Next: the method, step by step.</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Step 4 is observational: where does each prompt sit along the refusal direction, and how does that change with the asker, layer by layer? Each layer uses its own direction, and gaps are scaled by that layer's stolen-minus-harmless gap so layers are comparable. Step 5 changes the activations and watches the replies. Removing the direction is the blunt version: it ends nearly all refusal, so it can't say how much of the gap runs through the direction. The constant shift is the clean test: push own-side prompts toward refusal by exactly the measured gap, or multiples of it, and see whether they fall to the other-side level; a random direction of the same size is the control. The side direction asks what else the gap might run through.</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The evidence behind the punchline, one finding per slide. The first slide maps them.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48640" y="2103120"/>
            <a:ext cx="11094415" cy="914400"/>
          </a:xfrm>
        </p:spPr>
        <p:txBody>
          <a:bodyPr/>
          <a:lstStyle/>
          <a:p>
            <a:r>
              <a:rPr lang="en-US"/>
              <a:t>Click to edit Master title style</a:t>
            </a:r>
          </a:p>
        </p:txBody>
      </p:sp>
      <p:sp>
        <p:nvSpPr>
          <p:cNvPr id="3" name="Subtitle 2"/>
          <p:cNvSpPr>
            <a:spLocks noGrp="1"/>
          </p:cNvSpPr>
          <p:nvPr>
            <p:ph type="subTitle" idx="1"/>
          </p:nvPr>
        </p:nvSpPr>
        <p:spPr>
          <a:xfrm>
            <a:off x="548640" y="3108960"/>
            <a:ext cx="11094415" cy="82296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548640" y="3108960"/>
            <a:ext cx="11094415" cy="822960"/>
          </a:xfrm>
        </p:spPr>
        <p:txBody>
          <a:bodyPr/>
          <a:lstStyle/>
          <a:p>
            <a:fld id="{5BCAD085-E8A6-8845-BD4E-CB4CCA059FC4}" type="datetimeFigureOut">
              <a:rPr lang="en-US" smtClean="0"/>
              <a:t>10/28/26</a:t>
            </a:fld>
            <a:endParaRPr lang="en-US"/>
          </a:p>
        </p:txBody>
      </p:sp>
      <p:sp>
        <p:nvSpPr>
          <p:cNvPr id="5" name="Footer Placeholder 4"/>
          <p:cNvSpPr>
            <a:spLocks noGrp="1"/>
          </p:cNvSpPr>
          <p:nvPr>
            <p:ph type="ftr" sz="quarter" idx="11"/>
          </p:nvPr>
        </p:nvSpPr>
        <p:spPr>
          <a:xfrm>
            <a:off x="548640" y="3108960"/>
            <a:ext cx="11094415" cy="822960"/>
          </a:xfrm>
        </p:spPr>
        <p:txBody>
          <a:bodyPr/>
          <a:lstStyle/>
          <a:p>
            <a:endParaRPr lang="en-US"/>
          </a:p>
        </p:txBody>
      </p:sp>
      <p:sp>
        <p:nvSpPr>
          <p:cNvPr id="6" name="Slide Number Placeholder 5"/>
          <p:cNvSpPr>
            <a:spLocks noGrp="1"/>
          </p:cNvSpPr>
          <p:nvPr>
            <p:ph type="sldNum" sz="quarter" idx="12"/>
          </p:nvPr>
        </p:nvSpPr>
        <p:spPr>
          <a:xfrm>
            <a:off x="548640" y="3108960"/>
            <a:ext cx="11094415" cy="82296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59" y="4406900"/>
            <a:ext cx="1036294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59" y="2906713"/>
            <a:ext cx="1036294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584" y="1600200"/>
            <a:ext cx="538466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445" y="1600200"/>
            <a:ext cx="5384665"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584" y="1535113"/>
            <a:ext cx="538678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84" y="2174875"/>
            <a:ext cx="538678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211" y="1535113"/>
            <a:ext cx="538889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211" y="2174875"/>
            <a:ext cx="538889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84" y="273050"/>
            <a:ext cx="401098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614" y="273050"/>
            <a:ext cx="681549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584" y="1435100"/>
            <a:ext cx="401098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657" y="4800600"/>
            <a:ext cx="7315017"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657" y="612775"/>
            <a:ext cx="7315017"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657" y="5367338"/>
            <a:ext cx="7315017"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8979" y="274638"/>
            <a:ext cx="2743131"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584" y="274638"/>
            <a:ext cx="8026199"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411480"/>
            <a:ext cx="11094415" cy="73152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548640" y="1371600"/>
            <a:ext cx="11094415" cy="48920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584" y="6356350"/>
            <a:ext cx="2844728"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10/28/26</a:t>
            </a:fld>
            <a:endParaRPr lang="en-US"/>
          </a:p>
        </p:txBody>
      </p:sp>
      <p:sp>
        <p:nvSpPr>
          <p:cNvPr id="5" name="Footer Placeholder 4"/>
          <p:cNvSpPr>
            <a:spLocks noGrp="1"/>
          </p:cNvSpPr>
          <p:nvPr>
            <p:ph type="ftr" sz="quarter" idx="3"/>
          </p:nvPr>
        </p:nvSpPr>
        <p:spPr>
          <a:xfrm>
            <a:off x="4165495" y="6356350"/>
            <a:ext cx="3860703"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381" y="6356350"/>
            <a:ext cx="284472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1"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0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6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6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6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16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chart" Target="../charts/char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z="4000" dirty="0">
                <a:solidFill>
                  <a:srgbClr val="000000"/>
                </a:solidFill>
              </a:rPr>
              <a:t>AI and the democratic process - does model refusal direction change based on partisanship? </a:t>
            </a:r>
            <a:endParaRPr sz="4000" b="1" dirty="0">
              <a:solidFill>
                <a:srgbClr val="000000"/>
              </a:solidFill>
            </a:endParaRPr>
          </a:p>
        </p:txBody>
      </p:sp>
      <p:sp>
        <p:nvSpPr>
          <p:cNvPr id="4" name="Team"/>
          <p:cNvSpPr txBox="1"/>
          <p:nvPr/>
        </p:nvSpPr>
        <p:spPr>
          <a:xfrm>
            <a:off x="548640" y="5074920"/>
            <a:ext cx="11094415" cy="365760"/>
          </a:xfrm>
          <a:prstGeom prst="rect">
            <a:avLst/>
          </a:prstGeom>
          <a:noFill/>
        </p:spPr>
        <p:txBody>
          <a:bodyPr wrap="square" lIns="0" tIns="0" rIns="0" bIns="0" anchor="t">
            <a:noAutofit/>
          </a:bodyPr>
          <a:lstStyle/>
          <a:p>
            <a:pPr algn="l">
              <a:spcAft>
                <a:spcPts val="600"/>
              </a:spcAft>
            </a:pPr>
            <a:r>
              <a:rPr sz="1800" b="0">
                <a:solidFill>
                  <a:srgbClr val="000000"/>
                </a:solidFill>
              </a:rPr>
              <a:t>Divya · Michael · Skyler · Sreya · Tyler</a:t>
            </a:r>
          </a:p>
        </p:txBody>
      </p:sp>
      <p:sp>
        <p:nvSpPr>
          <p:cNvPr id="5" name="Date"/>
          <p:cNvSpPr txBox="1"/>
          <p:nvPr/>
        </p:nvSpPr>
        <p:spPr>
          <a:xfrm>
            <a:off x="548640" y="5486400"/>
            <a:ext cx="11094415" cy="320040"/>
          </a:xfrm>
          <a:prstGeom prst="rect">
            <a:avLst/>
          </a:prstGeom>
          <a:noFill/>
        </p:spPr>
        <p:txBody>
          <a:bodyPr wrap="square" lIns="0" tIns="0" rIns="0" bIns="0" anchor="t">
            <a:noAutofit/>
          </a:bodyPr>
          <a:lstStyle/>
          <a:p>
            <a:pPr algn="l">
              <a:spcAft>
                <a:spcPts val="600"/>
              </a:spcAft>
            </a:pPr>
            <a:r>
              <a:rPr sz="1400" b="0">
                <a:solidFill>
                  <a:srgbClr val="898781"/>
                </a:solidFill>
              </a:rPr>
              <a:t>October 29,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Motivation</a:t>
            </a:r>
            <a:endParaRPr dirty="0"/>
          </a:p>
        </p:txBody>
      </p:sp>
      <p:sp>
        <p:nvSpPr>
          <p:cNvPr id="3" name="Slide number"/>
          <p:cNvSpPr txBox="1"/>
          <p:nvPr/>
        </p:nvSpPr>
        <p:spPr>
          <a:xfrm>
            <a:off x="10728655" y="6400800"/>
            <a:ext cx="914400" cy="228600"/>
          </a:xfrm>
          <a:prstGeom prst="rect">
            <a:avLst/>
          </a:prstGeom>
          <a:noFill/>
        </p:spPr>
        <p:txBody>
          <a:bodyPr wrap="none" lIns="0" tIns="0" rIns="0" bIns="0">
            <a:spAutoFit/>
          </a:bodyPr>
          <a:lstStyle/>
          <a:p>
            <a:pPr algn="r"/>
            <a:fld id="{6F1B2D7E-4C3A-4E8B-9D21-7A5C0E3B9F14}" type="slidenum">
              <a:rPr lang="en-US" sz="1000">
                <a:solidFill>
                  <a:srgbClr val="898781"/>
                </a:solidFill>
              </a:rPr>
              <a:t>2</a:t>
            </a:fld>
            <a:endParaRPr lang="en-US" sz="1000">
              <a:solidFill>
                <a:srgbClr val="898781"/>
              </a:solidFill>
            </a:endParaRPr>
          </a:p>
        </p:txBody>
      </p:sp>
      <p:sp>
        <p:nvSpPr>
          <p:cNvPr id="4" name="TextBox 3"/>
          <p:cNvSpPr txBox="1"/>
          <p:nvPr/>
        </p:nvSpPr>
        <p:spPr>
          <a:xfrm>
            <a:off x="548640" y="1737360"/>
            <a:ext cx="11094415" cy="1280160"/>
          </a:xfrm>
          <a:prstGeom prst="rect">
            <a:avLst/>
          </a:prstGeom>
          <a:noFill/>
        </p:spPr>
        <p:txBody>
          <a:bodyPr wrap="square" lIns="0" tIns="0" rIns="0" bIns="0" anchor="t">
            <a:noAutofit/>
          </a:bodyPr>
          <a:lstStyle/>
          <a:p>
            <a:pPr algn="l">
              <a:spcAft>
                <a:spcPts val="0"/>
              </a:spcAft>
            </a:pPr>
            <a:r>
              <a:rPr sz="3000" b="1">
                <a:solidFill>
                  <a:srgbClr val="000000"/>
                </a:solidFill>
              </a:rPr>
              <a:t>As AI diffusion progresses, people will increasingly use and rely on it in ways that are enabling and dangerous.</a:t>
            </a:r>
          </a:p>
        </p:txBody>
      </p:sp>
      <p:sp>
        <p:nvSpPr>
          <p:cNvPr id="5" name="TextBox 4"/>
          <p:cNvSpPr txBox="1"/>
          <p:nvPr/>
        </p:nvSpPr>
        <p:spPr>
          <a:xfrm>
            <a:off x="548640" y="3566160"/>
            <a:ext cx="5318607" cy="411480"/>
          </a:xfrm>
          <a:prstGeom prst="rect">
            <a:avLst/>
          </a:prstGeom>
          <a:noFill/>
        </p:spPr>
        <p:txBody>
          <a:bodyPr wrap="square" lIns="0" tIns="0" rIns="0" bIns="0" anchor="t">
            <a:noAutofit/>
          </a:bodyPr>
          <a:lstStyle/>
          <a:p>
            <a:pPr algn="l">
              <a:spcAft>
                <a:spcPts val="600"/>
              </a:spcAft>
            </a:pPr>
            <a:r>
              <a:rPr sz="2000" b="1">
                <a:solidFill>
                  <a:srgbClr val="000000"/>
                </a:solidFill>
              </a:rPr>
              <a:t>Enabling</a:t>
            </a:r>
          </a:p>
        </p:txBody>
      </p:sp>
      <p:sp>
        <p:nvSpPr>
          <p:cNvPr id="6" name="TextBox 5"/>
          <p:cNvSpPr txBox="1"/>
          <p:nvPr/>
        </p:nvSpPr>
        <p:spPr>
          <a:xfrm>
            <a:off x="548640" y="4069080"/>
            <a:ext cx="5318607" cy="914400"/>
          </a:xfrm>
          <a:prstGeom prst="rect">
            <a:avLst/>
          </a:prstGeom>
          <a:noFill/>
        </p:spPr>
        <p:txBody>
          <a:bodyPr wrap="square" lIns="0" tIns="0" rIns="0" bIns="0" anchor="t">
            <a:noAutofit/>
          </a:bodyPr>
          <a:lstStyle/>
          <a:p>
            <a:pPr algn="l">
              <a:spcAft>
                <a:spcPts val="600"/>
              </a:spcAft>
            </a:pPr>
            <a:r>
              <a:rPr sz="1800" b="0" dirty="0">
                <a:solidFill>
                  <a:srgbClr val="52514E"/>
                </a:solidFill>
              </a:rPr>
              <a:t>Explaining </a:t>
            </a:r>
            <a:r>
              <a:rPr lang="en-US" sz="1800" b="0" dirty="0">
                <a:solidFill>
                  <a:srgbClr val="52514E"/>
                </a:solidFill>
              </a:rPr>
              <a:t>the process for </a:t>
            </a:r>
            <a:r>
              <a:rPr sz="1800" b="0" dirty="0">
                <a:solidFill>
                  <a:srgbClr val="52514E"/>
                </a:solidFill>
              </a:rPr>
              <a:t>how votes </a:t>
            </a:r>
            <a:r>
              <a:rPr lang="en-US" sz="1800" b="0" dirty="0">
                <a:solidFill>
                  <a:srgbClr val="52514E"/>
                </a:solidFill>
              </a:rPr>
              <a:t>are</a:t>
            </a:r>
            <a:r>
              <a:rPr sz="1800" b="0" dirty="0">
                <a:solidFill>
                  <a:srgbClr val="52514E"/>
                </a:solidFill>
              </a:rPr>
              <a:t> counted and certified</a:t>
            </a:r>
          </a:p>
        </p:txBody>
      </p:sp>
      <p:sp>
        <p:nvSpPr>
          <p:cNvPr id="7" name="TextBox 6"/>
          <p:cNvSpPr txBox="1"/>
          <p:nvPr/>
        </p:nvSpPr>
        <p:spPr>
          <a:xfrm>
            <a:off x="6324447" y="3566160"/>
            <a:ext cx="5318607" cy="411480"/>
          </a:xfrm>
          <a:prstGeom prst="rect">
            <a:avLst/>
          </a:prstGeom>
          <a:noFill/>
        </p:spPr>
        <p:txBody>
          <a:bodyPr wrap="square" lIns="0" tIns="0" rIns="0" bIns="0" anchor="t">
            <a:noAutofit/>
          </a:bodyPr>
          <a:lstStyle/>
          <a:p>
            <a:pPr algn="l">
              <a:spcAft>
                <a:spcPts val="600"/>
              </a:spcAft>
            </a:pPr>
            <a:r>
              <a:rPr sz="2000" b="1">
                <a:solidFill>
                  <a:srgbClr val="000000"/>
                </a:solidFill>
              </a:rPr>
              <a:t>Dangerous</a:t>
            </a:r>
          </a:p>
        </p:txBody>
      </p:sp>
      <p:sp>
        <p:nvSpPr>
          <p:cNvPr id="8" name="TextBox 7"/>
          <p:cNvSpPr txBox="1"/>
          <p:nvPr/>
        </p:nvSpPr>
        <p:spPr>
          <a:xfrm>
            <a:off x="6324447" y="4069080"/>
            <a:ext cx="5318607" cy="914400"/>
          </a:xfrm>
          <a:prstGeom prst="rect">
            <a:avLst/>
          </a:prstGeom>
          <a:noFill/>
        </p:spPr>
        <p:txBody>
          <a:bodyPr wrap="square" lIns="0" tIns="0" rIns="0" bIns="0" anchor="t">
            <a:noAutofit/>
          </a:bodyPr>
          <a:lstStyle/>
          <a:p>
            <a:pPr>
              <a:spcAft>
                <a:spcPts val="600"/>
              </a:spcAft>
            </a:pPr>
            <a:r>
              <a:rPr lang="en-US" dirty="0">
                <a:solidFill>
                  <a:srgbClr val="52514E"/>
                </a:solidFill>
              </a:rPr>
              <a:t>Affirming a user's belief that an election was illegitimate or stolen </a:t>
            </a:r>
            <a:endParaRPr sz="1800" b="0" dirty="0">
              <a:solidFill>
                <a:srgbClr val="52514E"/>
              </a:solidFill>
            </a:endParaRPr>
          </a:p>
        </p:txBody>
      </p:sp>
      <p:sp>
        <p:nvSpPr>
          <p:cNvPr id="9" name="TextBox 8"/>
          <p:cNvSpPr txBox="1"/>
          <p:nvPr/>
        </p:nvSpPr>
        <p:spPr>
          <a:xfrm>
            <a:off x="548640" y="5394960"/>
            <a:ext cx="11094415" cy="411480"/>
          </a:xfrm>
          <a:prstGeom prst="rect">
            <a:avLst/>
          </a:prstGeom>
          <a:noFill/>
        </p:spPr>
        <p:txBody>
          <a:bodyPr wrap="square" lIns="0" tIns="0" rIns="0" bIns="0" anchor="t">
            <a:noAutofit/>
          </a:bodyPr>
          <a:lstStyle/>
          <a:p>
            <a:pPr algn="l">
              <a:spcAft>
                <a:spcPts val="600"/>
              </a:spcAft>
            </a:pPr>
            <a:r>
              <a:rPr sz="2000" b="0" dirty="0">
                <a:solidFill>
                  <a:srgbClr val="000000"/>
                </a:solidFill>
              </a:rPr>
              <a:t>The line between helpful and harmful</a:t>
            </a:r>
            <a:r>
              <a:rPr lang="en-US" sz="2000" b="0" dirty="0">
                <a:solidFill>
                  <a:srgbClr val="000000"/>
                </a:solidFill>
              </a:rPr>
              <a:t> can often be blurred.</a:t>
            </a:r>
            <a:endParaRPr sz="2000" b="0" dirty="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Motivation</a:t>
            </a:r>
          </a:p>
        </p:txBody>
      </p:sp>
      <p:sp>
        <p:nvSpPr>
          <p:cNvPr id="3" name="Slide number"/>
          <p:cNvSpPr txBox="1"/>
          <p:nvPr/>
        </p:nvSpPr>
        <p:spPr>
          <a:xfrm>
            <a:off x="10728655" y="6400800"/>
            <a:ext cx="914400" cy="228600"/>
          </a:xfrm>
          <a:prstGeom prst="rect">
            <a:avLst/>
          </a:prstGeom>
          <a:noFill/>
        </p:spPr>
        <p:txBody>
          <a:bodyPr wrap="none" lIns="0" tIns="0" rIns="0" bIns="0">
            <a:spAutoFit/>
          </a:bodyPr>
          <a:lstStyle/>
          <a:p>
            <a:pPr algn="r"/>
            <a:fld id="{6F1B2D7E-4C3A-4E8B-9D21-7A5C0E3B9F14}" type="slidenum">
              <a:rPr lang="en-US" sz="1000">
                <a:solidFill>
                  <a:srgbClr val="898781"/>
                </a:solidFill>
              </a:rPr>
              <a:t>3</a:t>
            </a:fld>
            <a:endParaRPr lang="en-US" sz="1000">
              <a:solidFill>
                <a:srgbClr val="898781"/>
              </a:solidFill>
            </a:endParaRPr>
          </a:p>
        </p:txBody>
      </p:sp>
      <p:sp>
        <p:nvSpPr>
          <p:cNvPr id="5" name="TextBox 4"/>
          <p:cNvSpPr txBox="1"/>
          <p:nvPr/>
        </p:nvSpPr>
        <p:spPr>
          <a:xfrm>
            <a:off x="548640" y="1737360"/>
            <a:ext cx="11094415" cy="1280160"/>
          </a:xfrm>
          <a:prstGeom prst="rect">
            <a:avLst/>
          </a:prstGeom>
          <a:noFill/>
        </p:spPr>
        <p:txBody>
          <a:bodyPr wrap="square" lIns="0" tIns="0" rIns="0" bIns="0" anchor="t">
            <a:noAutofit/>
          </a:bodyPr>
          <a:lstStyle/>
          <a:p>
            <a:pPr algn="l">
              <a:spcAft>
                <a:spcPts val="0"/>
              </a:spcAft>
            </a:pPr>
            <a:r>
              <a:rPr sz="3000" b="1" dirty="0">
                <a:solidFill>
                  <a:srgbClr val="000000"/>
                </a:solidFill>
              </a:rPr>
              <a:t>We </a:t>
            </a:r>
            <a:r>
              <a:rPr lang="en-US" sz="3000" b="1" dirty="0">
                <a:solidFill>
                  <a:srgbClr val="000000"/>
                </a:solidFill>
              </a:rPr>
              <a:t>argue</a:t>
            </a:r>
            <a:r>
              <a:rPr sz="3000" b="1" dirty="0">
                <a:solidFill>
                  <a:srgbClr val="000000"/>
                </a:solidFill>
              </a:rPr>
              <a:t> models should work to serve democracy while remaining non-partisan.</a:t>
            </a:r>
          </a:p>
        </p:txBody>
      </p:sp>
      <p:sp>
        <p:nvSpPr>
          <p:cNvPr id="6" name="TextBox 5"/>
          <p:cNvSpPr txBox="1"/>
          <p:nvPr/>
        </p:nvSpPr>
        <p:spPr>
          <a:xfrm>
            <a:off x="548640" y="3566160"/>
            <a:ext cx="5318607" cy="411480"/>
          </a:xfrm>
          <a:prstGeom prst="rect">
            <a:avLst/>
          </a:prstGeom>
          <a:noFill/>
        </p:spPr>
        <p:txBody>
          <a:bodyPr wrap="square" lIns="0" tIns="0" rIns="0" bIns="0" anchor="t">
            <a:noAutofit/>
          </a:bodyPr>
          <a:lstStyle/>
          <a:p>
            <a:pPr algn="l">
              <a:spcAft>
                <a:spcPts val="600"/>
              </a:spcAft>
            </a:pPr>
            <a:r>
              <a:rPr sz="2000" b="1">
                <a:solidFill>
                  <a:srgbClr val="000000"/>
                </a:solidFill>
              </a:rPr>
              <a:t>Serve democracy</a:t>
            </a:r>
          </a:p>
        </p:txBody>
      </p:sp>
      <p:sp>
        <p:nvSpPr>
          <p:cNvPr id="7" name="TextBox 6"/>
          <p:cNvSpPr txBox="1"/>
          <p:nvPr/>
        </p:nvSpPr>
        <p:spPr>
          <a:xfrm>
            <a:off x="548640" y="4069080"/>
            <a:ext cx="5318607" cy="914400"/>
          </a:xfrm>
          <a:prstGeom prst="rect">
            <a:avLst/>
          </a:prstGeom>
          <a:noFill/>
        </p:spPr>
        <p:txBody>
          <a:bodyPr wrap="square" lIns="0" tIns="0" rIns="0" bIns="0" anchor="t">
            <a:noAutofit/>
          </a:bodyPr>
          <a:lstStyle/>
          <a:p>
            <a:pPr algn="l">
              <a:spcAft>
                <a:spcPts val="600"/>
              </a:spcAft>
            </a:pPr>
            <a:r>
              <a:rPr sz="1800" b="0">
                <a:solidFill>
                  <a:srgbClr val="52514E"/>
                </a:solidFill>
              </a:rPr>
              <a:t>Don’t help undermine trust in legitimate election results</a:t>
            </a:r>
          </a:p>
        </p:txBody>
      </p:sp>
      <p:sp>
        <p:nvSpPr>
          <p:cNvPr id="8" name="TextBox 7"/>
          <p:cNvSpPr txBox="1"/>
          <p:nvPr/>
        </p:nvSpPr>
        <p:spPr>
          <a:xfrm>
            <a:off x="6324447" y="3566160"/>
            <a:ext cx="5318607" cy="411480"/>
          </a:xfrm>
          <a:prstGeom prst="rect">
            <a:avLst/>
          </a:prstGeom>
          <a:noFill/>
        </p:spPr>
        <p:txBody>
          <a:bodyPr wrap="square" lIns="0" tIns="0" rIns="0" bIns="0" anchor="t">
            <a:noAutofit/>
          </a:bodyPr>
          <a:lstStyle/>
          <a:p>
            <a:pPr algn="l">
              <a:spcAft>
                <a:spcPts val="600"/>
              </a:spcAft>
            </a:pPr>
            <a:r>
              <a:rPr sz="2000" b="1">
                <a:solidFill>
                  <a:srgbClr val="000000"/>
                </a:solidFill>
              </a:rPr>
              <a:t>Stay non-partisan</a:t>
            </a:r>
          </a:p>
        </p:txBody>
      </p:sp>
      <p:sp>
        <p:nvSpPr>
          <p:cNvPr id="9" name="TextBox 8"/>
          <p:cNvSpPr txBox="1"/>
          <p:nvPr/>
        </p:nvSpPr>
        <p:spPr>
          <a:xfrm>
            <a:off x="6324447" y="4069080"/>
            <a:ext cx="5318607" cy="914400"/>
          </a:xfrm>
          <a:prstGeom prst="rect">
            <a:avLst/>
          </a:prstGeom>
          <a:noFill/>
        </p:spPr>
        <p:txBody>
          <a:bodyPr wrap="square" lIns="0" tIns="0" rIns="0" bIns="0" anchor="t">
            <a:noAutofit/>
          </a:bodyPr>
          <a:lstStyle/>
          <a:p>
            <a:pPr algn="l">
              <a:spcAft>
                <a:spcPts val="600"/>
              </a:spcAft>
            </a:pPr>
            <a:r>
              <a:rPr sz="1800" b="0">
                <a:solidFill>
                  <a:srgbClr val="52514E"/>
                </a:solidFill>
              </a:rPr>
              <a:t>Treat every asker, and both parties, the same</a:t>
            </a:r>
          </a:p>
        </p:txBody>
      </p:sp>
      <p:sp>
        <p:nvSpPr>
          <p:cNvPr id="10" name="TextBox 9"/>
          <p:cNvSpPr txBox="1"/>
          <p:nvPr/>
        </p:nvSpPr>
        <p:spPr>
          <a:xfrm>
            <a:off x="548640" y="5394960"/>
            <a:ext cx="11094415" cy="411480"/>
          </a:xfrm>
          <a:prstGeom prst="rect">
            <a:avLst/>
          </a:prstGeom>
          <a:noFill/>
        </p:spPr>
        <p:txBody>
          <a:bodyPr wrap="square" lIns="0" tIns="0" rIns="0" bIns="0" anchor="t">
            <a:noAutofit/>
          </a:bodyPr>
          <a:lstStyle/>
          <a:p>
            <a:pPr algn="l">
              <a:spcAft>
                <a:spcPts val="600"/>
              </a:spcAft>
            </a:pPr>
            <a:r>
              <a:rPr sz="2000" b="1" dirty="0">
                <a:solidFill>
                  <a:srgbClr val="000000"/>
                </a:solidFill>
              </a:rPr>
              <a:t>The tension: </a:t>
            </a:r>
            <a:r>
              <a:rPr sz="2000" b="0" dirty="0">
                <a:solidFill>
                  <a:srgbClr val="000000"/>
                </a:solidFill>
              </a:rPr>
              <a:t>each party has its own “stolen election” story, so pushing back can look partisan.</a:t>
            </a:r>
          </a:p>
        </p:txBody>
      </p:sp>
    </p:spTree>
    <p:extLst>
      <p:ext uri="{BB962C8B-B14F-4D97-AF65-F5344CB8AC3E}">
        <p14:creationId xmlns:p14="http://schemas.microsoft.com/office/powerpoint/2010/main" val="569281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we’ll cover</a:t>
            </a:r>
          </a:p>
        </p:txBody>
      </p:sp>
      <p:sp>
        <p:nvSpPr>
          <p:cNvPr id="3" name="Slide number"/>
          <p:cNvSpPr txBox="1"/>
          <p:nvPr/>
        </p:nvSpPr>
        <p:spPr>
          <a:xfrm>
            <a:off x="10728655" y="6400800"/>
            <a:ext cx="914400" cy="228600"/>
          </a:xfrm>
          <a:prstGeom prst="rect">
            <a:avLst/>
          </a:prstGeom>
          <a:noFill/>
        </p:spPr>
        <p:txBody>
          <a:bodyPr wrap="none" lIns="0" tIns="0" rIns="0" bIns="0">
            <a:spAutoFit/>
          </a:bodyPr>
          <a:lstStyle/>
          <a:p>
            <a:pPr algn="r"/>
            <a:fld id="{6F1B2D7E-4C3A-4E8B-9D21-7A5C0E3B9F14}" type="slidenum">
              <a:rPr lang="en-US" sz="1000">
                <a:solidFill>
                  <a:srgbClr val="898781"/>
                </a:solidFill>
              </a:rPr>
              <a:t>4</a:t>
            </a:fld>
            <a:endParaRPr lang="en-US" sz="1000">
              <a:solidFill>
                <a:srgbClr val="898781"/>
              </a:solidFill>
            </a:endParaRPr>
          </a:p>
        </p:txBody>
      </p:sp>
      <p:sp>
        <p:nvSpPr>
          <p:cNvPr id="4" name="Part 1 number"/>
          <p:cNvSpPr txBox="1"/>
          <p:nvPr/>
        </p:nvSpPr>
        <p:spPr>
          <a:xfrm>
            <a:off x="548640" y="1600200"/>
            <a:ext cx="548640" cy="411480"/>
          </a:xfrm>
          <a:prstGeom prst="rect">
            <a:avLst/>
          </a:prstGeom>
          <a:noFill/>
        </p:spPr>
        <p:txBody>
          <a:bodyPr wrap="square" lIns="0" tIns="0" rIns="0" bIns="0" anchor="t">
            <a:noAutofit/>
          </a:bodyPr>
          <a:lstStyle/>
          <a:p>
            <a:pPr algn="l">
              <a:spcAft>
                <a:spcPts val="600"/>
              </a:spcAft>
            </a:pPr>
            <a:r>
              <a:rPr sz="2200" b="1">
                <a:solidFill>
                  <a:srgbClr val="000000"/>
                </a:solidFill>
              </a:rPr>
              <a:t>1</a:t>
            </a:r>
          </a:p>
        </p:txBody>
      </p:sp>
      <p:sp>
        <p:nvSpPr>
          <p:cNvPr id="5" name="Part 1"/>
          <p:cNvSpPr txBox="1"/>
          <p:nvPr/>
        </p:nvSpPr>
        <p:spPr>
          <a:xfrm>
            <a:off x="1188719" y="1600200"/>
            <a:ext cx="9265615" cy="411480"/>
          </a:xfrm>
          <a:prstGeom prst="rect">
            <a:avLst/>
          </a:prstGeom>
          <a:noFill/>
        </p:spPr>
        <p:txBody>
          <a:bodyPr wrap="square" lIns="0" tIns="0" rIns="0" bIns="0" anchor="t">
            <a:noAutofit/>
          </a:bodyPr>
          <a:lstStyle/>
          <a:p>
            <a:pPr algn="l">
              <a:spcAft>
                <a:spcPts val="600"/>
              </a:spcAft>
            </a:pPr>
            <a:r>
              <a:rPr sz="2200" b="0">
                <a:solidFill>
                  <a:srgbClr val="000000"/>
                </a:solidFill>
              </a:rPr>
              <a:t>Prior work: refusal runs through one direction</a:t>
            </a:r>
          </a:p>
        </p:txBody>
      </p:sp>
      <p:sp>
        <p:nvSpPr>
          <p:cNvPr id="6" name="Part 1 slide"/>
          <p:cNvSpPr txBox="1"/>
          <p:nvPr/>
        </p:nvSpPr>
        <p:spPr>
          <a:xfrm>
            <a:off x="10271455" y="1636776"/>
            <a:ext cx="1371600" cy="365760"/>
          </a:xfrm>
          <a:prstGeom prst="rect">
            <a:avLst/>
          </a:prstGeom>
          <a:noFill/>
        </p:spPr>
        <p:txBody>
          <a:bodyPr wrap="square" lIns="0" tIns="0" rIns="0" bIns="0" anchor="t">
            <a:noAutofit/>
          </a:bodyPr>
          <a:lstStyle/>
          <a:p>
            <a:pPr algn="r">
              <a:spcAft>
                <a:spcPts val="600"/>
              </a:spcAft>
            </a:pPr>
            <a:r>
              <a:rPr sz="1600" b="0">
                <a:solidFill>
                  <a:srgbClr val="898781"/>
                </a:solidFill>
              </a:rPr>
              <a:t>5</a:t>
            </a:r>
          </a:p>
        </p:txBody>
      </p:sp>
      <p:sp>
        <p:nvSpPr>
          <p:cNvPr id="7" name="Part 2 number"/>
          <p:cNvSpPr txBox="1"/>
          <p:nvPr/>
        </p:nvSpPr>
        <p:spPr>
          <a:xfrm>
            <a:off x="548640" y="2148840"/>
            <a:ext cx="548640" cy="411480"/>
          </a:xfrm>
          <a:prstGeom prst="rect">
            <a:avLst/>
          </a:prstGeom>
          <a:noFill/>
        </p:spPr>
        <p:txBody>
          <a:bodyPr wrap="square" lIns="0" tIns="0" rIns="0" bIns="0" anchor="t">
            <a:noAutofit/>
          </a:bodyPr>
          <a:lstStyle/>
          <a:p>
            <a:pPr algn="l">
              <a:spcAft>
                <a:spcPts val="600"/>
              </a:spcAft>
            </a:pPr>
            <a:r>
              <a:rPr sz="2200" b="1">
                <a:solidFill>
                  <a:srgbClr val="000000"/>
                </a:solidFill>
              </a:rPr>
              <a:t>2</a:t>
            </a:r>
          </a:p>
        </p:txBody>
      </p:sp>
      <p:sp>
        <p:nvSpPr>
          <p:cNvPr id="8" name="Part 2"/>
          <p:cNvSpPr txBox="1"/>
          <p:nvPr/>
        </p:nvSpPr>
        <p:spPr>
          <a:xfrm>
            <a:off x="1188719" y="2148840"/>
            <a:ext cx="9265615" cy="411480"/>
          </a:xfrm>
          <a:prstGeom prst="rect">
            <a:avLst/>
          </a:prstGeom>
          <a:noFill/>
        </p:spPr>
        <p:txBody>
          <a:bodyPr wrap="square" lIns="0" tIns="0" rIns="0" bIns="0" anchor="t">
            <a:noAutofit/>
          </a:bodyPr>
          <a:lstStyle/>
          <a:p>
            <a:pPr algn="l">
              <a:spcAft>
                <a:spcPts val="600"/>
              </a:spcAft>
            </a:pPr>
            <a:r>
              <a:rPr sz="2200" b="0">
                <a:solidFill>
                  <a:srgbClr val="000000"/>
                </a:solidFill>
              </a:rPr>
              <a:t>Our question</a:t>
            </a:r>
          </a:p>
        </p:txBody>
      </p:sp>
      <p:sp>
        <p:nvSpPr>
          <p:cNvPr id="9" name="Part 2 slide"/>
          <p:cNvSpPr txBox="1"/>
          <p:nvPr/>
        </p:nvSpPr>
        <p:spPr>
          <a:xfrm>
            <a:off x="10271455" y="2185416"/>
            <a:ext cx="1371600" cy="365760"/>
          </a:xfrm>
          <a:prstGeom prst="rect">
            <a:avLst/>
          </a:prstGeom>
          <a:noFill/>
        </p:spPr>
        <p:txBody>
          <a:bodyPr wrap="square" lIns="0" tIns="0" rIns="0" bIns="0" anchor="t">
            <a:noAutofit/>
          </a:bodyPr>
          <a:lstStyle/>
          <a:p>
            <a:pPr algn="r">
              <a:spcAft>
                <a:spcPts val="600"/>
              </a:spcAft>
            </a:pPr>
            <a:r>
              <a:rPr sz="1600" b="0">
                <a:solidFill>
                  <a:srgbClr val="898781"/>
                </a:solidFill>
              </a:rPr>
              <a:t>6</a:t>
            </a:r>
          </a:p>
        </p:txBody>
      </p:sp>
      <p:sp>
        <p:nvSpPr>
          <p:cNvPr id="10" name="Part 3 number"/>
          <p:cNvSpPr txBox="1"/>
          <p:nvPr/>
        </p:nvSpPr>
        <p:spPr>
          <a:xfrm>
            <a:off x="548640" y="2697480"/>
            <a:ext cx="548640" cy="411480"/>
          </a:xfrm>
          <a:prstGeom prst="rect">
            <a:avLst/>
          </a:prstGeom>
          <a:noFill/>
        </p:spPr>
        <p:txBody>
          <a:bodyPr wrap="square" lIns="0" tIns="0" rIns="0" bIns="0" anchor="t">
            <a:noAutofit/>
          </a:bodyPr>
          <a:lstStyle/>
          <a:p>
            <a:pPr algn="l">
              <a:spcAft>
                <a:spcPts val="600"/>
              </a:spcAft>
            </a:pPr>
            <a:r>
              <a:rPr sz="2200" b="1">
                <a:solidFill>
                  <a:srgbClr val="000000"/>
                </a:solidFill>
              </a:rPr>
              <a:t>3</a:t>
            </a:r>
          </a:p>
        </p:txBody>
      </p:sp>
      <p:sp>
        <p:nvSpPr>
          <p:cNvPr id="11" name="Part 3"/>
          <p:cNvSpPr txBox="1"/>
          <p:nvPr/>
        </p:nvSpPr>
        <p:spPr>
          <a:xfrm>
            <a:off x="1188719" y="2697480"/>
            <a:ext cx="9265615" cy="411480"/>
          </a:xfrm>
          <a:prstGeom prst="rect">
            <a:avLst/>
          </a:prstGeom>
          <a:noFill/>
        </p:spPr>
        <p:txBody>
          <a:bodyPr wrap="square" lIns="0" tIns="0" rIns="0" bIns="0" anchor="t">
            <a:noAutofit/>
          </a:bodyPr>
          <a:lstStyle/>
          <a:p>
            <a:pPr algn="l">
              <a:spcAft>
                <a:spcPts val="600"/>
              </a:spcAft>
            </a:pPr>
            <a:r>
              <a:rPr sz="2200" b="0">
                <a:solidFill>
                  <a:srgbClr val="000000"/>
                </a:solidFill>
              </a:rPr>
              <a:t>Setup: models and how we ran them</a:t>
            </a:r>
          </a:p>
        </p:txBody>
      </p:sp>
      <p:sp>
        <p:nvSpPr>
          <p:cNvPr id="12" name="Part 3 slide"/>
          <p:cNvSpPr txBox="1"/>
          <p:nvPr/>
        </p:nvSpPr>
        <p:spPr>
          <a:xfrm>
            <a:off x="10271455" y="2734056"/>
            <a:ext cx="1371600" cy="365760"/>
          </a:xfrm>
          <a:prstGeom prst="rect">
            <a:avLst/>
          </a:prstGeom>
          <a:noFill/>
        </p:spPr>
        <p:txBody>
          <a:bodyPr wrap="square" lIns="0" tIns="0" rIns="0" bIns="0" anchor="t">
            <a:noAutofit/>
          </a:bodyPr>
          <a:lstStyle/>
          <a:p>
            <a:pPr algn="r">
              <a:spcAft>
                <a:spcPts val="600"/>
              </a:spcAft>
            </a:pPr>
            <a:r>
              <a:rPr sz="1600" b="0">
                <a:solidFill>
                  <a:srgbClr val="898781"/>
                </a:solidFill>
              </a:rPr>
              <a:t>7</a:t>
            </a:r>
          </a:p>
        </p:txBody>
      </p:sp>
      <p:sp>
        <p:nvSpPr>
          <p:cNvPr id="13" name="Part 4 number"/>
          <p:cNvSpPr txBox="1"/>
          <p:nvPr/>
        </p:nvSpPr>
        <p:spPr>
          <a:xfrm>
            <a:off x="548640" y="3246120"/>
            <a:ext cx="548640" cy="411480"/>
          </a:xfrm>
          <a:prstGeom prst="rect">
            <a:avLst/>
          </a:prstGeom>
          <a:noFill/>
        </p:spPr>
        <p:txBody>
          <a:bodyPr wrap="square" lIns="0" tIns="0" rIns="0" bIns="0" anchor="t">
            <a:noAutofit/>
          </a:bodyPr>
          <a:lstStyle/>
          <a:p>
            <a:pPr algn="l">
              <a:spcAft>
                <a:spcPts val="600"/>
              </a:spcAft>
            </a:pPr>
            <a:r>
              <a:rPr sz="2200" b="1">
                <a:solidFill>
                  <a:srgbClr val="000000"/>
                </a:solidFill>
              </a:rPr>
              <a:t>4</a:t>
            </a:r>
          </a:p>
        </p:txBody>
      </p:sp>
      <p:sp>
        <p:nvSpPr>
          <p:cNvPr id="14" name="Part 4"/>
          <p:cNvSpPr txBox="1"/>
          <p:nvPr/>
        </p:nvSpPr>
        <p:spPr>
          <a:xfrm>
            <a:off x="1188719" y="3246120"/>
            <a:ext cx="9265615" cy="411480"/>
          </a:xfrm>
          <a:prstGeom prst="rect">
            <a:avLst/>
          </a:prstGeom>
          <a:noFill/>
        </p:spPr>
        <p:txBody>
          <a:bodyPr wrap="square" lIns="0" tIns="0" rIns="0" bIns="0" anchor="t">
            <a:noAutofit/>
          </a:bodyPr>
          <a:lstStyle/>
          <a:p>
            <a:pPr algn="l">
              <a:spcAft>
                <a:spcPts val="600"/>
              </a:spcAft>
            </a:pPr>
            <a:r>
              <a:rPr sz="2200" b="0">
                <a:solidFill>
                  <a:srgbClr val="000000"/>
                </a:solidFill>
              </a:rPr>
              <a:t>Method: prompts, judging, the refusal direction, causal tests</a:t>
            </a:r>
          </a:p>
        </p:txBody>
      </p:sp>
      <p:sp>
        <p:nvSpPr>
          <p:cNvPr id="15" name="Part 4 slide"/>
          <p:cNvSpPr txBox="1"/>
          <p:nvPr/>
        </p:nvSpPr>
        <p:spPr>
          <a:xfrm>
            <a:off x="10271455" y="3282696"/>
            <a:ext cx="1371600" cy="365760"/>
          </a:xfrm>
          <a:prstGeom prst="rect">
            <a:avLst/>
          </a:prstGeom>
          <a:noFill/>
        </p:spPr>
        <p:txBody>
          <a:bodyPr wrap="square" lIns="0" tIns="0" rIns="0" bIns="0" anchor="t">
            <a:noAutofit/>
          </a:bodyPr>
          <a:lstStyle/>
          <a:p>
            <a:pPr algn="r">
              <a:spcAft>
                <a:spcPts val="600"/>
              </a:spcAft>
            </a:pPr>
            <a:r>
              <a:rPr sz="1600" b="0">
                <a:solidFill>
                  <a:srgbClr val="898781"/>
                </a:solidFill>
              </a:rPr>
              <a:t>8</a:t>
            </a:r>
          </a:p>
        </p:txBody>
      </p:sp>
      <p:sp>
        <p:nvSpPr>
          <p:cNvPr id="16" name="Part 5 number"/>
          <p:cNvSpPr txBox="1"/>
          <p:nvPr/>
        </p:nvSpPr>
        <p:spPr>
          <a:xfrm>
            <a:off x="548640" y="3794760"/>
            <a:ext cx="548640" cy="411480"/>
          </a:xfrm>
          <a:prstGeom prst="rect">
            <a:avLst/>
          </a:prstGeom>
          <a:noFill/>
        </p:spPr>
        <p:txBody>
          <a:bodyPr wrap="square" lIns="0" tIns="0" rIns="0" bIns="0" anchor="t">
            <a:noAutofit/>
          </a:bodyPr>
          <a:lstStyle/>
          <a:p>
            <a:pPr algn="l">
              <a:spcAft>
                <a:spcPts val="600"/>
              </a:spcAft>
            </a:pPr>
            <a:r>
              <a:rPr sz="2200" b="1">
                <a:solidFill>
                  <a:srgbClr val="000000"/>
                </a:solidFill>
              </a:rPr>
              <a:t>5</a:t>
            </a:r>
          </a:p>
        </p:txBody>
      </p:sp>
      <p:sp>
        <p:nvSpPr>
          <p:cNvPr id="17" name="Part 5"/>
          <p:cNvSpPr txBox="1"/>
          <p:nvPr/>
        </p:nvSpPr>
        <p:spPr>
          <a:xfrm>
            <a:off x="1188719" y="3794760"/>
            <a:ext cx="9265615" cy="411480"/>
          </a:xfrm>
          <a:prstGeom prst="rect">
            <a:avLst/>
          </a:prstGeom>
          <a:noFill/>
        </p:spPr>
        <p:txBody>
          <a:bodyPr wrap="square" lIns="0" tIns="0" rIns="0" bIns="0" anchor="t">
            <a:noAutofit/>
          </a:bodyPr>
          <a:lstStyle/>
          <a:p>
            <a:pPr algn="l">
              <a:spcAft>
                <a:spcPts val="600"/>
              </a:spcAft>
            </a:pPr>
            <a:r>
              <a:rPr sz="2200" b="0">
                <a:solidFill>
                  <a:srgbClr val="000000"/>
                </a:solidFill>
              </a:rPr>
              <a:t>Punchline: own side, not party</a:t>
            </a:r>
          </a:p>
        </p:txBody>
      </p:sp>
      <p:sp>
        <p:nvSpPr>
          <p:cNvPr id="18" name="Part 5 slide"/>
          <p:cNvSpPr txBox="1"/>
          <p:nvPr/>
        </p:nvSpPr>
        <p:spPr>
          <a:xfrm>
            <a:off x="10271455" y="3831336"/>
            <a:ext cx="1371600" cy="365760"/>
          </a:xfrm>
          <a:prstGeom prst="rect">
            <a:avLst/>
          </a:prstGeom>
          <a:noFill/>
        </p:spPr>
        <p:txBody>
          <a:bodyPr wrap="square" lIns="0" tIns="0" rIns="0" bIns="0" anchor="t">
            <a:noAutofit/>
          </a:bodyPr>
          <a:lstStyle/>
          <a:p>
            <a:pPr algn="r">
              <a:spcAft>
                <a:spcPts val="600"/>
              </a:spcAft>
            </a:pPr>
            <a:r>
              <a:rPr sz="1600" b="0">
                <a:solidFill>
                  <a:srgbClr val="898781"/>
                </a:solidFill>
              </a:rPr>
              <a:t>13</a:t>
            </a:r>
          </a:p>
        </p:txBody>
      </p:sp>
      <p:sp>
        <p:nvSpPr>
          <p:cNvPr id="19" name="Part 6 number"/>
          <p:cNvSpPr txBox="1"/>
          <p:nvPr/>
        </p:nvSpPr>
        <p:spPr>
          <a:xfrm>
            <a:off x="548640" y="4343400"/>
            <a:ext cx="548640" cy="411480"/>
          </a:xfrm>
          <a:prstGeom prst="rect">
            <a:avLst/>
          </a:prstGeom>
          <a:noFill/>
        </p:spPr>
        <p:txBody>
          <a:bodyPr wrap="square" lIns="0" tIns="0" rIns="0" bIns="0" anchor="t">
            <a:noAutofit/>
          </a:bodyPr>
          <a:lstStyle/>
          <a:p>
            <a:pPr algn="l">
              <a:spcAft>
                <a:spcPts val="600"/>
              </a:spcAft>
            </a:pPr>
            <a:r>
              <a:rPr sz="2200" b="1">
                <a:solidFill>
                  <a:srgbClr val="000000"/>
                </a:solidFill>
              </a:rPr>
              <a:t>6</a:t>
            </a:r>
          </a:p>
        </p:txBody>
      </p:sp>
      <p:sp>
        <p:nvSpPr>
          <p:cNvPr id="20" name="Part 6"/>
          <p:cNvSpPr txBox="1"/>
          <p:nvPr/>
        </p:nvSpPr>
        <p:spPr>
          <a:xfrm>
            <a:off x="1188719" y="4343400"/>
            <a:ext cx="9265615" cy="411480"/>
          </a:xfrm>
          <a:prstGeom prst="rect">
            <a:avLst/>
          </a:prstGeom>
          <a:noFill/>
        </p:spPr>
        <p:txBody>
          <a:bodyPr wrap="square" lIns="0" tIns="0" rIns="0" bIns="0" anchor="t">
            <a:noAutofit/>
          </a:bodyPr>
          <a:lstStyle/>
          <a:p>
            <a:pPr algn="l">
              <a:spcAft>
                <a:spcPts val="600"/>
              </a:spcAft>
            </a:pPr>
            <a:r>
              <a:rPr sz="2200" b="0">
                <a:solidFill>
                  <a:srgbClr val="000000"/>
                </a:solidFill>
              </a:rPr>
              <a:t>What it means, takeaways and next steps</a:t>
            </a:r>
          </a:p>
        </p:txBody>
      </p:sp>
      <p:sp>
        <p:nvSpPr>
          <p:cNvPr id="21" name="Part 6 slide"/>
          <p:cNvSpPr txBox="1"/>
          <p:nvPr/>
        </p:nvSpPr>
        <p:spPr>
          <a:xfrm>
            <a:off x="10271455" y="4379976"/>
            <a:ext cx="1371600" cy="365760"/>
          </a:xfrm>
          <a:prstGeom prst="rect">
            <a:avLst/>
          </a:prstGeom>
          <a:noFill/>
        </p:spPr>
        <p:txBody>
          <a:bodyPr wrap="square" lIns="0" tIns="0" rIns="0" bIns="0" anchor="t">
            <a:noAutofit/>
          </a:bodyPr>
          <a:lstStyle/>
          <a:p>
            <a:pPr algn="r">
              <a:spcAft>
                <a:spcPts val="600"/>
              </a:spcAft>
            </a:pPr>
            <a:r>
              <a:rPr sz="1600" b="0">
                <a:solidFill>
                  <a:srgbClr val="898781"/>
                </a:solidFill>
              </a:rPr>
              <a:t>14</a:t>
            </a:r>
          </a:p>
        </p:txBody>
      </p:sp>
      <p:sp>
        <p:nvSpPr>
          <p:cNvPr id="22" name="Part 7 number"/>
          <p:cNvSpPr txBox="1"/>
          <p:nvPr/>
        </p:nvSpPr>
        <p:spPr>
          <a:xfrm>
            <a:off x="548640" y="4892040"/>
            <a:ext cx="548640" cy="411480"/>
          </a:xfrm>
          <a:prstGeom prst="rect">
            <a:avLst/>
          </a:prstGeom>
          <a:noFill/>
        </p:spPr>
        <p:txBody>
          <a:bodyPr wrap="square" lIns="0" tIns="0" rIns="0" bIns="0" anchor="t">
            <a:noAutofit/>
          </a:bodyPr>
          <a:lstStyle/>
          <a:p>
            <a:pPr algn="l">
              <a:spcAft>
                <a:spcPts val="600"/>
              </a:spcAft>
            </a:pPr>
            <a:r>
              <a:rPr sz="2200" b="1">
                <a:solidFill>
                  <a:srgbClr val="000000"/>
                </a:solidFill>
              </a:rPr>
              <a:t>7</a:t>
            </a:r>
          </a:p>
        </p:txBody>
      </p:sp>
      <p:sp>
        <p:nvSpPr>
          <p:cNvPr id="23" name="Part 7"/>
          <p:cNvSpPr txBox="1"/>
          <p:nvPr/>
        </p:nvSpPr>
        <p:spPr>
          <a:xfrm>
            <a:off x="1188719" y="4892040"/>
            <a:ext cx="9265615" cy="411480"/>
          </a:xfrm>
          <a:prstGeom prst="rect">
            <a:avLst/>
          </a:prstGeom>
          <a:noFill/>
        </p:spPr>
        <p:txBody>
          <a:bodyPr wrap="square" lIns="0" tIns="0" rIns="0" bIns="0" anchor="t">
            <a:noAutofit/>
          </a:bodyPr>
          <a:lstStyle/>
          <a:p>
            <a:pPr algn="l">
              <a:spcAft>
                <a:spcPts val="600"/>
              </a:spcAft>
            </a:pPr>
            <a:r>
              <a:rPr sz="2200" b="0">
                <a:solidFill>
                  <a:srgbClr val="000000"/>
                </a:solidFill>
              </a:rPr>
              <a:t>Supporting detail</a:t>
            </a:r>
          </a:p>
        </p:txBody>
      </p:sp>
      <p:sp>
        <p:nvSpPr>
          <p:cNvPr id="24" name="Part 7 slide"/>
          <p:cNvSpPr txBox="1"/>
          <p:nvPr/>
        </p:nvSpPr>
        <p:spPr>
          <a:xfrm>
            <a:off x="10271455" y="4928616"/>
            <a:ext cx="1371600" cy="365760"/>
          </a:xfrm>
          <a:prstGeom prst="rect">
            <a:avLst/>
          </a:prstGeom>
          <a:noFill/>
        </p:spPr>
        <p:txBody>
          <a:bodyPr wrap="square" lIns="0" tIns="0" rIns="0" bIns="0" anchor="t">
            <a:noAutofit/>
          </a:bodyPr>
          <a:lstStyle/>
          <a:p>
            <a:pPr algn="r">
              <a:spcAft>
                <a:spcPts val="600"/>
              </a:spcAft>
            </a:pPr>
            <a:r>
              <a:rPr sz="1600" b="0">
                <a:solidFill>
                  <a:srgbClr val="898781"/>
                </a:solidFill>
              </a:rPr>
              <a:t>17</a:t>
            </a:r>
          </a:p>
        </p:txBody>
      </p:sp>
      <p:sp>
        <p:nvSpPr>
          <p:cNvPr id="25" name="Part 8 number"/>
          <p:cNvSpPr txBox="1"/>
          <p:nvPr/>
        </p:nvSpPr>
        <p:spPr>
          <a:xfrm>
            <a:off x="548640" y="5440680"/>
            <a:ext cx="548640" cy="411480"/>
          </a:xfrm>
          <a:prstGeom prst="rect">
            <a:avLst/>
          </a:prstGeom>
          <a:noFill/>
        </p:spPr>
        <p:txBody>
          <a:bodyPr wrap="square" lIns="0" tIns="0" rIns="0" bIns="0" anchor="t">
            <a:noAutofit/>
          </a:bodyPr>
          <a:lstStyle/>
          <a:p>
            <a:pPr algn="l">
              <a:spcAft>
                <a:spcPts val="600"/>
              </a:spcAft>
            </a:pPr>
            <a:r>
              <a:rPr sz="2200" b="1">
                <a:solidFill>
                  <a:srgbClr val="000000"/>
                </a:solidFill>
              </a:rPr>
              <a:t>8</a:t>
            </a:r>
          </a:p>
        </p:txBody>
      </p:sp>
      <p:sp>
        <p:nvSpPr>
          <p:cNvPr id="26" name="Part 8"/>
          <p:cNvSpPr txBox="1"/>
          <p:nvPr/>
        </p:nvSpPr>
        <p:spPr>
          <a:xfrm>
            <a:off x="1188719" y="5440680"/>
            <a:ext cx="9265615" cy="411480"/>
          </a:xfrm>
          <a:prstGeom prst="rect">
            <a:avLst/>
          </a:prstGeom>
          <a:noFill/>
        </p:spPr>
        <p:txBody>
          <a:bodyPr wrap="square" lIns="0" tIns="0" rIns="0" bIns="0" anchor="t">
            <a:noAutofit/>
          </a:bodyPr>
          <a:lstStyle/>
          <a:p>
            <a:pPr algn="l">
              <a:spcAft>
                <a:spcPts val="600"/>
              </a:spcAft>
            </a:pPr>
            <a:r>
              <a:rPr sz="2200" b="0">
                <a:solidFill>
                  <a:srgbClr val="000000"/>
                </a:solidFill>
              </a:rPr>
              <a:t>Backup</a:t>
            </a:r>
          </a:p>
        </p:txBody>
      </p:sp>
      <p:sp>
        <p:nvSpPr>
          <p:cNvPr id="27" name="Part 8 slide"/>
          <p:cNvSpPr txBox="1"/>
          <p:nvPr/>
        </p:nvSpPr>
        <p:spPr>
          <a:xfrm>
            <a:off x="10271455" y="5477256"/>
            <a:ext cx="1371600" cy="365760"/>
          </a:xfrm>
          <a:prstGeom prst="rect">
            <a:avLst/>
          </a:prstGeom>
          <a:noFill/>
        </p:spPr>
        <p:txBody>
          <a:bodyPr wrap="square" lIns="0" tIns="0" rIns="0" bIns="0" anchor="t">
            <a:noAutofit/>
          </a:bodyPr>
          <a:lstStyle/>
          <a:p>
            <a:pPr algn="r">
              <a:spcAft>
                <a:spcPts val="600"/>
              </a:spcAft>
            </a:pPr>
            <a:r>
              <a:rPr sz="1600" b="0">
                <a:solidFill>
                  <a:srgbClr val="898781"/>
                </a:solidFill>
              </a:rPr>
              <a:t>28</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Prior work: refusal is mediated by a single direction</a:t>
            </a:r>
          </a:p>
        </p:txBody>
      </p:sp>
      <p:sp>
        <p:nvSpPr>
          <p:cNvPr id="3" name="Slide number"/>
          <p:cNvSpPr txBox="1"/>
          <p:nvPr/>
        </p:nvSpPr>
        <p:spPr>
          <a:xfrm>
            <a:off x="10728655" y="6400800"/>
            <a:ext cx="914400" cy="228600"/>
          </a:xfrm>
          <a:prstGeom prst="rect">
            <a:avLst/>
          </a:prstGeom>
          <a:noFill/>
        </p:spPr>
        <p:txBody>
          <a:bodyPr wrap="none" lIns="0" tIns="0" rIns="0" bIns="0">
            <a:spAutoFit/>
          </a:bodyPr>
          <a:lstStyle/>
          <a:p>
            <a:pPr algn="r"/>
            <a:fld id="{6F1B2D7E-4C3A-4E8B-9D21-7A5C0E3B9F14}" type="slidenum">
              <a:rPr lang="en-US" sz="1000">
                <a:solidFill>
                  <a:srgbClr val="898781"/>
                </a:solidFill>
              </a:rPr>
              <a:t>5</a:t>
            </a:fld>
            <a:endParaRPr lang="en-US" sz="1000">
              <a:solidFill>
                <a:srgbClr val="898781"/>
              </a:solidFill>
            </a:endParaRPr>
          </a:p>
        </p:txBody>
      </p:sp>
      <p:sp>
        <p:nvSpPr>
          <p:cNvPr id="4" name="TextBox 3"/>
          <p:cNvSpPr txBox="1"/>
          <p:nvPr/>
        </p:nvSpPr>
        <p:spPr>
          <a:xfrm>
            <a:off x="548640" y="1371600"/>
            <a:ext cx="11094415" cy="320040"/>
          </a:xfrm>
          <a:prstGeom prst="rect">
            <a:avLst/>
          </a:prstGeom>
          <a:noFill/>
        </p:spPr>
        <p:txBody>
          <a:bodyPr wrap="square" lIns="0" tIns="0" rIns="0" bIns="0" anchor="t">
            <a:noAutofit/>
          </a:bodyPr>
          <a:lstStyle/>
          <a:p>
            <a:pPr algn="l">
              <a:spcAft>
                <a:spcPts val="600"/>
              </a:spcAft>
            </a:pPr>
            <a:r>
              <a:rPr sz="1400" b="0">
                <a:solidFill>
                  <a:srgbClr val="52514E"/>
                </a:solidFill>
              </a:rPr>
              <a:t>Arditi, Obeso, Syed, Paleka, Panickssery, Gurnee &amp; Nanda (2024), arXiv 2406.11717</a:t>
            </a:r>
          </a:p>
        </p:txBody>
      </p:sp>
      <p:pic>
        <p:nvPicPr>
          <p:cNvPr id="5" name="slide_method.png" descr="Schematic of Arditi et al.'s method: the refusal direction is the harmful-minus-harmless mean activation; removing it makes the model answer a harmful request; adding it makes the model refuse a harmless one."/>
          <p:cNvPicPr>
            <a:picLocks noChangeAspect="1"/>
          </p:cNvPicPr>
          <p:nvPr/>
        </p:nvPicPr>
        <p:blipFill>
          <a:blip r:embed="rId3"/>
          <a:stretch>
            <a:fillRect/>
          </a:stretch>
        </p:blipFill>
        <p:spPr>
          <a:xfrm>
            <a:off x="548640" y="1802698"/>
            <a:ext cx="11094415" cy="2383923"/>
          </a:xfrm>
          <a:prstGeom prst="rect">
            <a:avLst/>
          </a:prstGeom>
        </p:spPr>
      </p:pic>
      <p:sp>
        <p:nvSpPr>
          <p:cNvPr id="6" name="TextBox 5"/>
          <p:cNvSpPr txBox="1"/>
          <p:nvPr/>
        </p:nvSpPr>
        <p:spPr>
          <a:xfrm>
            <a:off x="548640" y="4434840"/>
            <a:ext cx="11094415" cy="777240"/>
          </a:xfrm>
          <a:prstGeom prst="rect">
            <a:avLst/>
          </a:prstGeom>
          <a:noFill/>
        </p:spPr>
        <p:txBody>
          <a:bodyPr wrap="square" lIns="0" tIns="0" rIns="0" bIns="0" anchor="t">
            <a:noAutofit/>
          </a:bodyPr>
          <a:lstStyle/>
          <a:p>
            <a:pPr marL="274320" indent="-274320" algn="l">
              <a:spcAft>
                <a:spcPts val="800"/>
              </a:spcAft>
              <a:buChar char="•"/>
            </a:pPr>
            <a:r>
              <a:rPr sz="1800" b="0">
                <a:solidFill>
                  <a:srgbClr val="000000"/>
                </a:solidFill>
              </a:rPr>
              <a:t>The same holds in 13 open-source chat models, up to 72B parameters</a:t>
            </a:r>
          </a:p>
          <a:p>
            <a:pPr marL="274320" indent="-274320" algn="l">
              <a:spcAft>
                <a:spcPts val="800"/>
              </a:spcAft>
              <a:buChar char="•"/>
            </a:pPr>
            <a:r>
              <a:rPr sz="1800" b="0">
                <a:solidFill>
                  <a:srgbClr val="000000"/>
                </a:solidFill>
              </a:rPr>
              <a:t>Editing it out of the weights is a jailbreak: safety fine-tuning is brittle</a:t>
            </a:r>
          </a:p>
        </p:txBody>
      </p:sp>
      <p:sp>
        <p:nvSpPr>
          <p:cNvPr id="7" name="TextBox 6"/>
          <p:cNvSpPr txBox="1"/>
          <p:nvPr/>
        </p:nvSpPr>
        <p:spPr>
          <a:xfrm>
            <a:off x="548640" y="5486400"/>
            <a:ext cx="11094415" cy="365760"/>
          </a:xfrm>
          <a:prstGeom prst="rect">
            <a:avLst/>
          </a:prstGeom>
          <a:noFill/>
        </p:spPr>
        <p:txBody>
          <a:bodyPr wrap="square" lIns="0" tIns="0" rIns="0" bIns="0" anchor="t">
            <a:noAutofit/>
          </a:bodyPr>
          <a:lstStyle/>
          <a:p>
            <a:pPr algn="l">
              <a:spcAft>
                <a:spcPts val="600"/>
              </a:spcAft>
            </a:pPr>
            <a:r>
              <a:rPr sz="1600" b="0">
                <a:solidFill>
                  <a:srgbClr val="52514E"/>
                </a:solidFill>
              </a:rPr>
              <a:t>We reuse their method and prompts unchanged, then ask whether the direction treats askers differently.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Our question: is that direction party-blind?</a:t>
            </a:r>
          </a:p>
        </p:txBody>
      </p:sp>
      <p:sp>
        <p:nvSpPr>
          <p:cNvPr id="3" name="Slide number"/>
          <p:cNvSpPr txBox="1"/>
          <p:nvPr/>
        </p:nvSpPr>
        <p:spPr>
          <a:xfrm>
            <a:off x="10728655" y="6400800"/>
            <a:ext cx="914400" cy="228600"/>
          </a:xfrm>
          <a:prstGeom prst="rect">
            <a:avLst/>
          </a:prstGeom>
          <a:noFill/>
        </p:spPr>
        <p:txBody>
          <a:bodyPr wrap="none" lIns="0" tIns="0" rIns="0" bIns="0">
            <a:spAutoFit/>
          </a:bodyPr>
          <a:lstStyle/>
          <a:p>
            <a:pPr algn="r"/>
            <a:fld id="{6F1B2D7E-4C3A-4E8B-9D21-7A5C0E3B9F14}" type="slidenum">
              <a:rPr lang="en-US" sz="1000">
                <a:solidFill>
                  <a:srgbClr val="898781"/>
                </a:solidFill>
              </a:rPr>
              <a:t>6</a:t>
            </a:fld>
            <a:endParaRPr lang="en-US" sz="1000">
              <a:solidFill>
                <a:srgbClr val="898781"/>
              </a:solidFill>
            </a:endParaRPr>
          </a:p>
        </p:txBody>
      </p:sp>
      <p:sp>
        <p:nvSpPr>
          <p:cNvPr id="4" name="TextBox 3"/>
          <p:cNvSpPr txBox="1"/>
          <p:nvPr/>
        </p:nvSpPr>
        <p:spPr>
          <a:xfrm>
            <a:off x="548640" y="1600200"/>
            <a:ext cx="5318607" cy="411480"/>
          </a:xfrm>
          <a:prstGeom prst="rect">
            <a:avLst/>
          </a:prstGeom>
          <a:noFill/>
        </p:spPr>
        <p:txBody>
          <a:bodyPr wrap="square" lIns="0" tIns="0" rIns="0" bIns="0" anchor="t">
            <a:noAutofit/>
          </a:bodyPr>
          <a:lstStyle/>
          <a:p>
            <a:pPr algn="l">
              <a:spcAft>
                <a:spcPts val="600"/>
              </a:spcAft>
            </a:pPr>
            <a:r>
              <a:rPr sz="2000" b="1">
                <a:solidFill>
                  <a:srgbClr val="000000"/>
                </a:solidFill>
              </a:rPr>
              <a:t>Why it matters</a:t>
            </a:r>
          </a:p>
        </p:txBody>
      </p:sp>
      <p:sp>
        <p:nvSpPr>
          <p:cNvPr id="5" name="TextBox 4"/>
          <p:cNvSpPr txBox="1"/>
          <p:nvPr/>
        </p:nvSpPr>
        <p:spPr>
          <a:xfrm>
            <a:off x="548640" y="2148840"/>
            <a:ext cx="5318607" cy="3200400"/>
          </a:xfrm>
          <a:prstGeom prst="rect">
            <a:avLst/>
          </a:prstGeom>
          <a:noFill/>
        </p:spPr>
        <p:txBody>
          <a:bodyPr wrap="square" lIns="0" tIns="0" rIns="0" bIns="0" anchor="t">
            <a:noAutofit/>
          </a:bodyPr>
          <a:lstStyle/>
          <a:p>
            <a:pPr marL="274320" indent="-274320" algn="l">
              <a:spcAft>
                <a:spcPts val="1200"/>
              </a:spcAft>
              <a:buChar char="•"/>
            </a:pPr>
            <a:r>
              <a:rPr sz="1800" b="0">
                <a:solidFill>
                  <a:srgbClr val="000000"/>
                </a:solidFill>
              </a:rPr>
              <a:t>People ask chat models about elections</a:t>
            </a:r>
          </a:p>
          <a:p>
            <a:pPr marL="274320" indent="-274320" algn="l">
              <a:spcAft>
                <a:spcPts val="1200"/>
              </a:spcAft>
              <a:buChar char="•"/>
            </a:pPr>
            <a:r>
              <a:rPr sz="1800" b="0">
                <a:solidFill>
                  <a:srgbClr val="000000"/>
                </a:solidFill>
              </a:rPr>
              <a:t>If refusals depend on who is asking, safety behavior is uneven by group</a:t>
            </a:r>
          </a:p>
          <a:p>
            <a:pPr marL="274320" indent="-274320" algn="l">
              <a:spcAft>
                <a:spcPts val="1200"/>
              </a:spcAft>
              <a:buChar char="•"/>
            </a:pPr>
            <a:r>
              <a:rPr sz="1800" b="0">
                <a:solidFill>
                  <a:srgbClr val="000000"/>
                </a:solidFill>
              </a:rPr>
              <a:t>“Stolen election” requests are harmful and partisan, and both parties have their own version</a:t>
            </a:r>
          </a:p>
        </p:txBody>
      </p:sp>
      <p:sp>
        <p:nvSpPr>
          <p:cNvPr id="6" name="TextBox 5"/>
          <p:cNvSpPr txBox="1"/>
          <p:nvPr/>
        </p:nvSpPr>
        <p:spPr>
          <a:xfrm>
            <a:off x="6324447" y="1600200"/>
            <a:ext cx="5318607" cy="411480"/>
          </a:xfrm>
          <a:prstGeom prst="rect">
            <a:avLst/>
          </a:prstGeom>
          <a:noFill/>
        </p:spPr>
        <p:txBody>
          <a:bodyPr wrap="square" lIns="0" tIns="0" rIns="0" bIns="0" anchor="t">
            <a:noAutofit/>
          </a:bodyPr>
          <a:lstStyle/>
          <a:p>
            <a:pPr algn="l">
              <a:spcAft>
                <a:spcPts val="600"/>
              </a:spcAft>
            </a:pPr>
            <a:r>
              <a:rPr sz="2000" b="1">
                <a:solidFill>
                  <a:srgbClr val="000000"/>
                </a:solidFill>
              </a:rPr>
              <a:t>What we build on</a:t>
            </a:r>
          </a:p>
        </p:txBody>
      </p:sp>
      <p:sp>
        <p:nvSpPr>
          <p:cNvPr id="7" name="TextBox 6"/>
          <p:cNvSpPr txBox="1"/>
          <p:nvPr/>
        </p:nvSpPr>
        <p:spPr>
          <a:xfrm>
            <a:off x="6324447" y="2148840"/>
            <a:ext cx="5318607" cy="3200400"/>
          </a:xfrm>
          <a:prstGeom prst="rect">
            <a:avLst/>
          </a:prstGeom>
          <a:noFill/>
        </p:spPr>
        <p:txBody>
          <a:bodyPr wrap="square" lIns="0" tIns="0" rIns="0" bIns="0" anchor="t">
            <a:noAutofit/>
          </a:bodyPr>
          <a:lstStyle/>
          <a:p>
            <a:pPr marL="274320" indent="-274320" algn="l">
              <a:spcAft>
                <a:spcPts val="1200"/>
              </a:spcAft>
              <a:buChar char="•"/>
            </a:pPr>
            <a:r>
              <a:rPr sz="1800" b="1">
                <a:solidFill>
                  <a:srgbClr val="000000"/>
                </a:solidFill>
              </a:rPr>
              <a:t>Arditi et al. 2024: </a:t>
            </a:r>
            <a:r>
              <a:rPr sz="1800" b="0">
                <a:solidFill>
                  <a:srgbClr val="000000"/>
                </a:solidFill>
              </a:rPr>
              <a:t>their method and harmful/harmless prompts, used unchanged</a:t>
            </a:r>
          </a:p>
          <a:p>
            <a:pPr marL="274320" indent="-274320" algn="l">
              <a:spcAft>
                <a:spcPts val="1200"/>
              </a:spcAft>
              <a:buChar char="•"/>
            </a:pPr>
            <a:r>
              <a:rPr sz="1800" b="1">
                <a:solidFill>
                  <a:srgbClr val="000000"/>
                </a:solidFill>
              </a:rPr>
              <a:t>“There Is More to Refusal than a Single Direction” </a:t>
            </a:r>
            <a:r>
              <a:rPr sz="1800" b="0">
                <a:solidFill>
                  <a:srgbClr val="000000"/>
                </a:solidFill>
              </a:rPr>
              <a:t>(arXiv 2602.02132)</a:t>
            </a:r>
          </a:p>
          <a:p>
            <a:pPr marL="274320" indent="-274320" algn="l">
              <a:spcAft>
                <a:spcPts val="1200"/>
              </a:spcAft>
              <a:buChar char="•"/>
            </a:pPr>
            <a:r>
              <a:rPr sz="1800" b="0">
                <a:solidFill>
                  <a:srgbClr val="000000"/>
                </a:solidFill>
              </a:rPr>
              <a:t>Our 3B pilot and the TA’s feedback, which reshaped the design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Experiment Design</a:t>
            </a:r>
          </a:p>
        </p:txBody>
      </p:sp>
      <p:sp>
        <p:nvSpPr>
          <p:cNvPr id="3" name="Slide number"/>
          <p:cNvSpPr txBox="1"/>
          <p:nvPr/>
        </p:nvSpPr>
        <p:spPr>
          <a:xfrm>
            <a:off x="10728655" y="6400800"/>
            <a:ext cx="914400" cy="228600"/>
          </a:xfrm>
          <a:prstGeom prst="rect">
            <a:avLst/>
          </a:prstGeom>
          <a:noFill/>
        </p:spPr>
        <p:txBody>
          <a:bodyPr wrap="none" lIns="0" tIns="0" rIns="0" bIns="0">
            <a:spAutoFit/>
          </a:bodyPr>
          <a:lstStyle/>
          <a:p>
            <a:pPr algn="r"/>
            <a:fld id="{6F1B2D7E-4C3A-4E8B-9D21-7A5C0E3B9F14}" type="slidenum">
              <a:rPr lang="en-US" sz="1000">
                <a:solidFill>
                  <a:srgbClr val="898781"/>
                </a:solidFill>
              </a:rPr>
              <a:t>7</a:t>
            </a:fld>
            <a:endParaRPr lang="en-US" sz="1000">
              <a:solidFill>
                <a:srgbClr val="898781"/>
              </a:solidFill>
            </a:endParaRPr>
          </a:p>
        </p:txBody>
      </p:sp>
      <p:sp>
        <p:nvSpPr>
          <p:cNvPr id="4" name="TextBox 3"/>
          <p:cNvSpPr txBox="1"/>
          <p:nvPr/>
        </p:nvSpPr>
        <p:spPr>
          <a:xfrm>
            <a:off x="548640" y="1645920"/>
            <a:ext cx="1999427" cy="502920"/>
          </a:xfrm>
          <a:prstGeom prst="rect">
            <a:avLst/>
          </a:prstGeom>
          <a:noFill/>
        </p:spPr>
        <p:txBody>
          <a:bodyPr wrap="square" lIns="0" tIns="0" rIns="0" bIns="0" anchor="t">
            <a:noAutofit/>
          </a:bodyPr>
          <a:lstStyle/>
          <a:p>
            <a:pPr algn="l">
              <a:spcAft>
                <a:spcPts val="600"/>
              </a:spcAft>
            </a:pPr>
            <a:r>
              <a:rPr sz="2800" b="1">
                <a:solidFill>
                  <a:srgbClr val="000000"/>
                </a:solidFill>
              </a:rPr>
              <a:t>1</a:t>
            </a:r>
          </a:p>
        </p:txBody>
      </p:sp>
      <p:sp>
        <p:nvSpPr>
          <p:cNvPr id="5" name="TextBox 4"/>
          <p:cNvSpPr txBox="1"/>
          <p:nvPr/>
        </p:nvSpPr>
        <p:spPr>
          <a:xfrm>
            <a:off x="548640" y="2240280"/>
            <a:ext cx="1999427" cy="640080"/>
          </a:xfrm>
          <a:prstGeom prst="rect">
            <a:avLst/>
          </a:prstGeom>
          <a:noFill/>
        </p:spPr>
        <p:txBody>
          <a:bodyPr wrap="square" lIns="0" tIns="0" rIns="0" bIns="0" anchor="t">
            <a:noAutofit/>
          </a:bodyPr>
          <a:lstStyle/>
          <a:p>
            <a:pPr algn="l">
              <a:spcAft>
                <a:spcPts val="600"/>
              </a:spcAft>
            </a:pPr>
            <a:r>
              <a:rPr sz="1800" b="1">
                <a:solidFill>
                  <a:srgbClr val="000000"/>
                </a:solidFill>
              </a:rPr>
              <a:t>Build prompts</a:t>
            </a:r>
          </a:p>
        </p:txBody>
      </p:sp>
      <p:sp>
        <p:nvSpPr>
          <p:cNvPr id="6" name="TextBox 5"/>
          <p:cNvSpPr txBox="1"/>
          <p:nvPr/>
        </p:nvSpPr>
        <p:spPr>
          <a:xfrm>
            <a:off x="548640" y="2926080"/>
            <a:ext cx="1999427" cy="1463040"/>
          </a:xfrm>
          <a:prstGeom prst="rect">
            <a:avLst/>
          </a:prstGeom>
          <a:noFill/>
        </p:spPr>
        <p:txBody>
          <a:bodyPr wrap="square" lIns="0" tIns="0" rIns="0" bIns="0" anchor="t">
            <a:noAutofit/>
          </a:bodyPr>
          <a:lstStyle/>
          <a:p>
            <a:pPr algn="l">
              <a:spcAft>
                <a:spcPts val="600"/>
              </a:spcAft>
            </a:pPr>
            <a:r>
              <a:rPr sz="1600" b="0">
                <a:solidFill>
                  <a:srgbClr val="52514E"/>
                </a:solidFill>
              </a:rPr>
              <a:t>920 requests: 5 askers × 8 elections × 23 requests, so only the asker changes</a:t>
            </a:r>
          </a:p>
        </p:txBody>
      </p:sp>
      <p:sp>
        <p:nvSpPr>
          <p:cNvPr id="8" name="TextBox 7"/>
          <p:cNvSpPr txBox="1"/>
          <p:nvPr/>
        </p:nvSpPr>
        <p:spPr>
          <a:xfrm>
            <a:off x="2822387" y="1645920"/>
            <a:ext cx="1999427" cy="502920"/>
          </a:xfrm>
          <a:prstGeom prst="rect">
            <a:avLst/>
          </a:prstGeom>
          <a:noFill/>
        </p:spPr>
        <p:txBody>
          <a:bodyPr wrap="square" lIns="0" tIns="0" rIns="0" bIns="0" anchor="t">
            <a:noAutofit/>
          </a:bodyPr>
          <a:lstStyle/>
          <a:p>
            <a:pPr algn="l">
              <a:spcAft>
                <a:spcPts val="600"/>
              </a:spcAft>
            </a:pPr>
            <a:r>
              <a:rPr sz="2800" b="1">
                <a:solidFill>
                  <a:srgbClr val="000000"/>
                </a:solidFill>
              </a:rPr>
              <a:t>2</a:t>
            </a:r>
          </a:p>
        </p:txBody>
      </p:sp>
      <p:sp>
        <p:nvSpPr>
          <p:cNvPr id="9" name="TextBox 8"/>
          <p:cNvSpPr txBox="1"/>
          <p:nvPr/>
        </p:nvSpPr>
        <p:spPr>
          <a:xfrm>
            <a:off x="2822387" y="2240280"/>
            <a:ext cx="1999427" cy="640080"/>
          </a:xfrm>
          <a:prstGeom prst="rect">
            <a:avLst/>
          </a:prstGeom>
          <a:noFill/>
        </p:spPr>
        <p:txBody>
          <a:bodyPr wrap="square" lIns="0" tIns="0" rIns="0" bIns="0" anchor="t">
            <a:noAutofit/>
          </a:bodyPr>
          <a:lstStyle/>
          <a:p>
            <a:pPr algn="l">
              <a:spcAft>
                <a:spcPts val="600"/>
              </a:spcAft>
            </a:pPr>
            <a:r>
              <a:rPr sz="1800" b="1">
                <a:solidFill>
                  <a:srgbClr val="000000"/>
                </a:solidFill>
              </a:rPr>
              <a:t>Generate and judge</a:t>
            </a:r>
          </a:p>
        </p:txBody>
      </p:sp>
      <p:sp>
        <p:nvSpPr>
          <p:cNvPr id="10" name="TextBox 9"/>
          <p:cNvSpPr txBox="1"/>
          <p:nvPr/>
        </p:nvSpPr>
        <p:spPr>
          <a:xfrm>
            <a:off x="2822387" y="2926080"/>
            <a:ext cx="1999427" cy="1463040"/>
          </a:xfrm>
          <a:prstGeom prst="rect">
            <a:avLst/>
          </a:prstGeom>
          <a:noFill/>
        </p:spPr>
        <p:txBody>
          <a:bodyPr wrap="square" lIns="0" tIns="0" rIns="0" bIns="0" anchor="t">
            <a:noAutofit/>
          </a:bodyPr>
          <a:lstStyle/>
          <a:p>
            <a:pPr algn="l">
              <a:spcAft>
                <a:spcPts val="600"/>
              </a:spcAft>
            </a:pPr>
            <a:r>
              <a:rPr sz="1600" b="0">
                <a:solidFill>
                  <a:srgbClr val="52514E"/>
                </a:solidFill>
              </a:rPr>
              <a:t>Both models reply to every prompt; two judges score whether each reply did the task</a:t>
            </a:r>
          </a:p>
        </p:txBody>
      </p:sp>
      <p:sp>
        <p:nvSpPr>
          <p:cNvPr id="12" name="TextBox 11"/>
          <p:cNvSpPr txBox="1"/>
          <p:nvPr/>
        </p:nvSpPr>
        <p:spPr>
          <a:xfrm>
            <a:off x="5096134" y="1645920"/>
            <a:ext cx="1999427" cy="502920"/>
          </a:xfrm>
          <a:prstGeom prst="rect">
            <a:avLst/>
          </a:prstGeom>
          <a:noFill/>
        </p:spPr>
        <p:txBody>
          <a:bodyPr wrap="square" lIns="0" tIns="0" rIns="0" bIns="0" anchor="t">
            <a:noAutofit/>
          </a:bodyPr>
          <a:lstStyle/>
          <a:p>
            <a:pPr algn="l">
              <a:spcAft>
                <a:spcPts val="600"/>
              </a:spcAft>
            </a:pPr>
            <a:r>
              <a:rPr sz="2800" b="1">
                <a:solidFill>
                  <a:srgbClr val="000000"/>
                </a:solidFill>
              </a:rPr>
              <a:t>3</a:t>
            </a:r>
          </a:p>
        </p:txBody>
      </p:sp>
      <p:sp>
        <p:nvSpPr>
          <p:cNvPr id="13" name="TextBox 12"/>
          <p:cNvSpPr txBox="1"/>
          <p:nvPr/>
        </p:nvSpPr>
        <p:spPr>
          <a:xfrm>
            <a:off x="5096134" y="2240280"/>
            <a:ext cx="1999427" cy="640080"/>
          </a:xfrm>
          <a:prstGeom prst="rect">
            <a:avLst/>
          </a:prstGeom>
          <a:noFill/>
        </p:spPr>
        <p:txBody>
          <a:bodyPr wrap="square" lIns="0" tIns="0" rIns="0" bIns="0" anchor="t">
            <a:noAutofit/>
          </a:bodyPr>
          <a:lstStyle/>
          <a:p>
            <a:pPr algn="l">
              <a:spcAft>
                <a:spcPts val="600"/>
              </a:spcAft>
            </a:pPr>
            <a:r>
              <a:rPr sz="1800" b="1">
                <a:solidFill>
                  <a:srgbClr val="000000"/>
                </a:solidFill>
              </a:rPr>
              <a:t>Find the refusal direction</a:t>
            </a:r>
          </a:p>
        </p:txBody>
      </p:sp>
      <p:sp>
        <p:nvSpPr>
          <p:cNvPr id="14" name="TextBox 13"/>
          <p:cNvSpPr txBox="1"/>
          <p:nvPr/>
        </p:nvSpPr>
        <p:spPr>
          <a:xfrm>
            <a:off x="5096134" y="2926080"/>
            <a:ext cx="1999427" cy="1463040"/>
          </a:xfrm>
          <a:prstGeom prst="rect">
            <a:avLst/>
          </a:prstGeom>
          <a:noFill/>
        </p:spPr>
        <p:txBody>
          <a:bodyPr wrap="square" lIns="0" tIns="0" rIns="0" bIns="0" anchor="t">
            <a:noAutofit/>
          </a:bodyPr>
          <a:lstStyle/>
          <a:p>
            <a:pPr algn="l">
              <a:spcAft>
                <a:spcPts val="600"/>
              </a:spcAft>
            </a:pPr>
            <a:r>
              <a:rPr sz="1600" b="0">
                <a:solidFill>
                  <a:srgbClr val="52514E"/>
                </a:solidFill>
              </a:rPr>
              <a:t>Arditi et al.’s method in each model, from non-political prompts</a:t>
            </a:r>
          </a:p>
        </p:txBody>
      </p:sp>
      <p:sp>
        <p:nvSpPr>
          <p:cNvPr id="16" name="TextBox 15"/>
          <p:cNvSpPr txBox="1"/>
          <p:nvPr/>
        </p:nvSpPr>
        <p:spPr>
          <a:xfrm>
            <a:off x="7369881" y="1645920"/>
            <a:ext cx="1999427" cy="502920"/>
          </a:xfrm>
          <a:prstGeom prst="rect">
            <a:avLst/>
          </a:prstGeom>
          <a:noFill/>
        </p:spPr>
        <p:txBody>
          <a:bodyPr wrap="square" lIns="0" tIns="0" rIns="0" bIns="0" anchor="t">
            <a:noAutofit/>
          </a:bodyPr>
          <a:lstStyle/>
          <a:p>
            <a:pPr algn="l">
              <a:spcAft>
                <a:spcPts val="600"/>
              </a:spcAft>
            </a:pPr>
            <a:r>
              <a:rPr sz="2800" b="1">
                <a:solidFill>
                  <a:srgbClr val="000000"/>
                </a:solidFill>
              </a:rPr>
              <a:t>4</a:t>
            </a:r>
          </a:p>
        </p:txBody>
      </p:sp>
      <p:sp>
        <p:nvSpPr>
          <p:cNvPr id="17" name="TextBox 16"/>
          <p:cNvSpPr txBox="1"/>
          <p:nvPr/>
        </p:nvSpPr>
        <p:spPr>
          <a:xfrm>
            <a:off x="7369881" y="2240280"/>
            <a:ext cx="1999427" cy="640080"/>
          </a:xfrm>
          <a:prstGeom prst="rect">
            <a:avLst/>
          </a:prstGeom>
          <a:noFill/>
        </p:spPr>
        <p:txBody>
          <a:bodyPr wrap="square" lIns="0" tIns="0" rIns="0" bIns="0" anchor="t">
            <a:noAutofit/>
          </a:bodyPr>
          <a:lstStyle/>
          <a:p>
            <a:pPr algn="l">
              <a:spcAft>
                <a:spcPts val="600"/>
              </a:spcAft>
            </a:pPr>
            <a:r>
              <a:rPr sz="1800" b="1">
                <a:solidFill>
                  <a:srgbClr val="000000"/>
                </a:solidFill>
              </a:rPr>
              <a:t>Look inside</a:t>
            </a:r>
          </a:p>
        </p:txBody>
      </p:sp>
      <p:sp>
        <p:nvSpPr>
          <p:cNvPr id="18" name="TextBox 17"/>
          <p:cNvSpPr txBox="1"/>
          <p:nvPr/>
        </p:nvSpPr>
        <p:spPr>
          <a:xfrm>
            <a:off x="7369881" y="2926080"/>
            <a:ext cx="1999427" cy="1463040"/>
          </a:xfrm>
          <a:prstGeom prst="rect">
            <a:avLst/>
          </a:prstGeom>
          <a:noFill/>
        </p:spPr>
        <p:txBody>
          <a:bodyPr wrap="square" lIns="0" tIns="0" rIns="0" bIns="0" anchor="t">
            <a:noAutofit/>
          </a:bodyPr>
          <a:lstStyle/>
          <a:p>
            <a:pPr algn="l">
              <a:spcAft>
                <a:spcPts val="600"/>
              </a:spcAft>
            </a:pPr>
            <a:r>
              <a:rPr sz="1600" b="0">
                <a:solidFill>
                  <a:srgbClr val="52514E"/>
                </a:solidFill>
              </a:rPr>
              <a:t>Project every prompt onto the direction, layer by layer</a:t>
            </a:r>
          </a:p>
        </p:txBody>
      </p:sp>
      <p:sp>
        <p:nvSpPr>
          <p:cNvPr id="20" name="TextBox 19"/>
          <p:cNvSpPr txBox="1"/>
          <p:nvPr/>
        </p:nvSpPr>
        <p:spPr>
          <a:xfrm>
            <a:off x="9643628" y="1645920"/>
            <a:ext cx="1999427" cy="502920"/>
          </a:xfrm>
          <a:prstGeom prst="rect">
            <a:avLst/>
          </a:prstGeom>
          <a:noFill/>
        </p:spPr>
        <p:txBody>
          <a:bodyPr wrap="square" lIns="0" tIns="0" rIns="0" bIns="0" anchor="t">
            <a:noAutofit/>
          </a:bodyPr>
          <a:lstStyle/>
          <a:p>
            <a:pPr algn="l">
              <a:spcAft>
                <a:spcPts val="600"/>
              </a:spcAft>
            </a:pPr>
            <a:r>
              <a:rPr sz="2800" b="1">
                <a:solidFill>
                  <a:srgbClr val="000000"/>
                </a:solidFill>
              </a:rPr>
              <a:t>5</a:t>
            </a:r>
          </a:p>
        </p:txBody>
      </p:sp>
      <p:sp>
        <p:nvSpPr>
          <p:cNvPr id="21" name="TextBox 20"/>
          <p:cNvSpPr txBox="1"/>
          <p:nvPr/>
        </p:nvSpPr>
        <p:spPr>
          <a:xfrm>
            <a:off x="9643628" y="2240280"/>
            <a:ext cx="1999427" cy="640080"/>
          </a:xfrm>
          <a:prstGeom prst="rect">
            <a:avLst/>
          </a:prstGeom>
          <a:noFill/>
        </p:spPr>
        <p:txBody>
          <a:bodyPr wrap="square" lIns="0" tIns="0" rIns="0" bIns="0" anchor="t">
            <a:noAutofit/>
          </a:bodyPr>
          <a:lstStyle/>
          <a:p>
            <a:pPr algn="l">
              <a:spcAft>
                <a:spcPts val="600"/>
              </a:spcAft>
            </a:pPr>
            <a:r>
              <a:rPr sz="1800" b="1">
                <a:solidFill>
                  <a:srgbClr val="000000"/>
                </a:solidFill>
              </a:rPr>
              <a:t>Test causally</a:t>
            </a:r>
          </a:p>
        </p:txBody>
      </p:sp>
      <p:sp>
        <p:nvSpPr>
          <p:cNvPr id="22" name="TextBox 21"/>
          <p:cNvSpPr txBox="1"/>
          <p:nvPr/>
        </p:nvSpPr>
        <p:spPr>
          <a:xfrm>
            <a:off x="9643628" y="2926080"/>
            <a:ext cx="1999427" cy="1463040"/>
          </a:xfrm>
          <a:prstGeom prst="rect">
            <a:avLst/>
          </a:prstGeom>
          <a:noFill/>
        </p:spPr>
        <p:txBody>
          <a:bodyPr wrap="square" lIns="0" tIns="0" rIns="0" bIns="0" anchor="t">
            <a:noAutofit/>
          </a:bodyPr>
          <a:lstStyle/>
          <a:p>
            <a:pPr algn="l">
              <a:spcAft>
                <a:spcPts val="600"/>
              </a:spcAft>
            </a:pPr>
            <a:r>
              <a:rPr sz="1600" b="0">
                <a:solidFill>
                  <a:srgbClr val="52514E"/>
                </a:solidFill>
              </a:rPr>
              <a:t>Remove the direction, shift prompts along it, and compare with a second direction</a:t>
            </a:r>
          </a:p>
        </p:txBody>
      </p:sp>
      <p:sp>
        <p:nvSpPr>
          <p:cNvPr id="24" name="TextBox 23"/>
          <p:cNvSpPr txBox="1"/>
          <p:nvPr/>
        </p:nvSpPr>
        <p:spPr>
          <a:xfrm>
            <a:off x="548640" y="5257800"/>
            <a:ext cx="11094415" cy="685800"/>
          </a:xfrm>
          <a:prstGeom prst="rect">
            <a:avLst/>
          </a:prstGeom>
          <a:noFill/>
        </p:spPr>
        <p:txBody>
          <a:bodyPr wrap="square" lIns="0" tIns="0" rIns="0" bIns="0" anchor="t">
            <a:noAutofit/>
          </a:bodyPr>
          <a:lstStyle/>
          <a:p>
            <a:pPr algn="l">
              <a:spcAft>
                <a:spcPts val="600"/>
              </a:spcAft>
            </a:pPr>
            <a:r>
              <a:rPr sz="1600" b="0">
                <a:solidFill>
                  <a:srgbClr val="52514E"/>
                </a:solidFill>
              </a:rPr>
              <a:t>Models: </a:t>
            </a:r>
            <a:r>
              <a:rPr sz="1600" b="1">
                <a:solidFill>
                  <a:srgbClr val="000000"/>
                </a:solidFill>
              </a:rPr>
              <a:t>Qwen2.5-7B-Instruct</a:t>
            </a:r>
            <a:r>
              <a:rPr sz="1600" b="0">
                <a:solidFill>
                  <a:srgbClr val="52514E"/>
                </a:solidFill>
              </a:rPr>
              <a:t> (Alibaba) and </a:t>
            </a:r>
            <a:r>
              <a:rPr sz="1600" b="1">
                <a:solidFill>
                  <a:srgbClr val="000000"/>
                </a:solidFill>
              </a:rPr>
              <a:t>Llama-3.1-8B-Instruct</a:t>
            </a:r>
            <a:r>
              <a:rPr sz="1600" b="0">
                <a:solidFill>
                  <a:srgbClr val="52514E"/>
                </a:solidFill>
              </a:rPr>
              <a:t> (Meta)</a:t>
            </a:r>
          </a:p>
          <a:p>
            <a:pPr>
              <a:spcAft>
                <a:spcPts val="600"/>
              </a:spcAft>
            </a:pPr>
            <a:r>
              <a:rPr sz="1600" b="0">
                <a:solidFill>
                  <a:srgbClr val="52514E"/>
                </a:solidFill>
              </a:rPr>
              <a:t>Extension: the same tests in English and Chinese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Questions we expect about the setup</a:t>
            </a:r>
          </a:p>
        </p:txBody>
      </p:sp>
      <p:sp>
        <p:nvSpPr>
          <p:cNvPr id="3" name="Slide number"/>
          <p:cNvSpPr txBox="1"/>
          <p:nvPr/>
        </p:nvSpPr>
        <p:spPr>
          <a:xfrm>
            <a:off x="10728655" y="6400800"/>
            <a:ext cx="914400" cy="228600"/>
          </a:xfrm>
          <a:prstGeom prst="rect">
            <a:avLst/>
          </a:prstGeom>
          <a:noFill/>
        </p:spPr>
        <p:txBody>
          <a:bodyPr wrap="none" lIns="0" rIns="0" tIns="0" bIns="0">
            <a:spAutoFit/>
          </a:bodyPr>
          <a:lstStyle/>
          <a:p>
            <a:pPr algn="r"/>
            <a:fld id="{6F1B2D7E-4C3A-4E8B-9D21-7A5C0E3B9F14}" type="slidenum">
              <a:rPr lang="en-US" sz="1000">
                <a:solidFill>
                  <a:srgbClr val="898781"/>
                </a:solidFill>
              </a:rPr>
              <a:t>28</a:t>
            </a:fld>
          </a:p>
        </p:txBody>
      </p:sp>
      <p:sp>
        <p:nvSpPr>
          <p:cNvPr id="4" name="Q1"/>
          <p:cNvSpPr txBox="1"/>
          <p:nvPr/>
        </p:nvSpPr>
        <p:spPr>
          <a:xfrm>
            <a:off x="548640" y="1554480"/>
            <a:ext cx="5318607" cy="292608"/>
          </a:xfrm>
          <a:prstGeom prst="rect">
            <a:avLst/>
          </a:prstGeom>
          <a:noFill/>
        </p:spPr>
        <p:txBody>
          <a:bodyPr wrap="square" anchor="t" lIns="0" rIns="0" tIns="0" bIns="0">
            <a:noAutofit/>
          </a:bodyPr>
          <a:lstStyle/>
          <a:p>
            <a:pPr algn="l">
              <a:spcAft>
                <a:spcPts val="0"/>
              </a:spcAft>
            </a:pPr>
            <a:r>
              <a:rPr sz="1600" b="1">
                <a:solidFill>
                  <a:srgbClr val="000000"/>
                </a:solidFill>
              </a:rPr>
              <a:t>Why Qwen2.5-7B and Llama-3.1-8B?</a:t>
            </a:r>
          </a:p>
        </p:txBody>
      </p:sp>
      <p:sp>
        <p:nvSpPr>
          <p:cNvPr id="5" name="A1"/>
          <p:cNvSpPr txBox="1"/>
          <p:nvPr/>
        </p:nvSpPr>
        <p:spPr>
          <a:xfrm>
            <a:off x="548640" y="1901952"/>
            <a:ext cx="5318607" cy="1051560"/>
          </a:xfrm>
          <a:prstGeom prst="rect">
            <a:avLst/>
          </a:prstGeom>
          <a:noFill/>
        </p:spPr>
        <p:txBody>
          <a:bodyPr wrap="square" anchor="t" lIns="0" rIns="0" tIns="0" bIns="0">
            <a:noAutofit/>
          </a:bodyPr>
          <a:lstStyle/>
          <a:p>
            <a:pPr algn="l">
              <a:spcAft>
                <a:spcPts val="0"/>
              </a:spcAft>
            </a:pPr>
            <a:r>
              <a:rPr sz="1400" b="0">
                <a:solidFill>
                  <a:srgbClr val="52514E"/>
                </a:solidFill>
              </a:rPr>
              <a:t>Open weights, so we can read and edit activations; each fits on one A40 GPU; one Chinese and one US lab. The 3B pilot’s rates left little room for a gap.</a:t>
            </a:r>
          </a:p>
        </p:txBody>
      </p:sp>
      <p:sp>
        <p:nvSpPr>
          <p:cNvPr id="6" name="Q2"/>
          <p:cNvSpPr txBox="1"/>
          <p:nvPr/>
        </p:nvSpPr>
        <p:spPr>
          <a:xfrm>
            <a:off x="6324447" y="1554480"/>
            <a:ext cx="5318607" cy="292608"/>
          </a:xfrm>
          <a:prstGeom prst="rect">
            <a:avLst/>
          </a:prstGeom>
          <a:noFill/>
        </p:spPr>
        <p:txBody>
          <a:bodyPr wrap="square" anchor="t" lIns="0" rIns="0" tIns="0" bIns="0">
            <a:noAutofit/>
          </a:bodyPr>
          <a:lstStyle/>
          <a:p>
            <a:pPr algn="l">
              <a:spcAft>
                <a:spcPts val="0"/>
              </a:spcAft>
            </a:pPr>
            <a:r>
              <a:rPr sz="1600" b="1">
                <a:solidFill>
                  <a:srgbClr val="000000"/>
                </a:solidFill>
              </a:rPr>
              <a:t>Why build the direction from non-political prompts?</a:t>
            </a:r>
          </a:p>
        </p:txBody>
      </p:sp>
      <p:sp>
        <p:nvSpPr>
          <p:cNvPr id="7" name="A2"/>
          <p:cNvSpPr txBox="1"/>
          <p:nvPr/>
        </p:nvSpPr>
        <p:spPr>
          <a:xfrm>
            <a:off x="6324447" y="1901952"/>
            <a:ext cx="5318607" cy="1051560"/>
          </a:xfrm>
          <a:prstGeom prst="rect">
            <a:avLst/>
          </a:prstGeom>
          <a:noFill/>
        </p:spPr>
        <p:txBody>
          <a:bodyPr wrap="square" anchor="t" lIns="0" rIns="0" tIns="0" bIns="0">
            <a:noAutofit/>
          </a:bodyPr>
          <a:lstStyle/>
          <a:p>
            <a:pPr algn="l">
              <a:spcAft>
                <a:spcPts val="0"/>
              </a:spcAft>
            </a:pPr>
            <a:r>
              <a:rPr sz="1400" b="0">
                <a:solidFill>
                  <a:srgbClr val="52514E"/>
                </a:solidFill>
              </a:rPr>
              <a:t>One taken from the election prompts would mix refusal with “this is partisan politics.” We use Arditi et al.’s prompts and drop any that mention elections, parties or candidates.</a:t>
            </a:r>
          </a:p>
        </p:txBody>
      </p:sp>
      <p:sp>
        <p:nvSpPr>
          <p:cNvPr id="8" name="Q3"/>
          <p:cNvSpPr txBox="1"/>
          <p:nvPr/>
        </p:nvSpPr>
        <p:spPr>
          <a:xfrm>
            <a:off x="548640" y="3090672"/>
            <a:ext cx="5318607" cy="292608"/>
          </a:xfrm>
          <a:prstGeom prst="rect">
            <a:avLst/>
          </a:prstGeom>
          <a:noFill/>
        </p:spPr>
        <p:txBody>
          <a:bodyPr wrap="square" anchor="t" lIns="0" rIns="0" tIns="0" bIns="0">
            <a:noAutofit/>
          </a:bodyPr>
          <a:lstStyle/>
          <a:p>
            <a:pPr algn="l">
              <a:spcAft>
                <a:spcPts val="0"/>
              </a:spcAft>
            </a:pPr>
            <a:r>
              <a:rPr sz="1600" b="1">
                <a:solidFill>
                  <a:srgbClr val="000000"/>
                </a:solidFill>
              </a:rPr>
              <a:t>Why not separate party directions?</a:t>
            </a:r>
          </a:p>
        </p:txBody>
      </p:sp>
      <p:sp>
        <p:nvSpPr>
          <p:cNvPr id="9" name="A3"/>
          <p:cNvSpPr txBox="1"/>
          <p:nvPr/>
        </p:nvSpPr>
        <p:spPr>
          <a:xfrm>
            <a:off x="548640" y="3438144"/>
            <a:ext cx="5318607" cy="1051560"/>
          </a:xfrm>
          <a:prstGeom prst="rect">
            <a:avLst/>
          </a:prstGeom>
          <a:noFill/>
        </p:spPr>
        <p:txBody>
          <a:bodyPr wrap="square" anchor="t" lIns="0" rIns="0" tIns="0" bIns="0">
            <a:noAutofit/>
          </a:bodyPr>
          <a:lstStyle/>
          <a:p>
            <a:pPr algn="l">
              <a:spcAft>
                <a:spcPts val="0"/>
              </a:spcAft>
            </a:pPr>
            <a:r>
              <a:rPr sz="1400" b="0">
                <a:solidFill>
                  <a:srgbClr val="52514E"/>
                </a:solidFill>
              </a:rPr>
              <a:t>They come out nearly identical by construction (cosine ≥ 0.987), since the prompts share everything but the asker. We compare projections on one shared direction instead.</a:t>
            </a:r>
          </a:p>
        </p:txBody>
      </p:sp>
      <p:sp>
        <p:nvSpPr>
          <p:cNvPr id="10" name="Q4"/>
          <p:cNvSpPr txBox="1"/>
          <p:nvPr/>
        </p:nvSpPr>
        <p:spPr>
          <a:xfrm>
            <a:off x="6324447" y="3090672"/>
            <a:ext cx="5318607" cy="292608"/>
          </a:xfrm>
          <a:prstGeom prst="rect">
            <a:avLst/>
          </a:prstGeom>
          <a:noFill/>
        </p:spPr>
        <p:txBody>
          <a:bodyPr wrap="square" anchor="t" lIns="0" rIns="0" tIns="0" bIns="0">
            <a:noAutofit/>
          </a:bodyPr>
          <a:lstStyle/>
          <a:p>
            <a:pPr algn="l">
              <a:spcAft>
                <a:spcPts val="0"/>
              </a:spcAft>
            </a:pPr>
            <a:r>
              <a:rPr sz="1600" b="1">
                <a:solidFill>
                  <a:srgbClr val="000000"/>
                </a:solidFill>
              </a:rPr>
              <a:t>Can the judge see who asked?</a:t>
            </a:r>
          </a:p>
        </p:txBody>
      </p:sp>
      <p:sp>
        <p:nvSpPr>
          <p:cNvPr id="11" name="A4"/>
          <p:cNvSpPr txBox="1"/>
          <p:nvPr/>
        </p:nvSpPr>
        <p:spPr>
          <a:xfrm>
            <a:off x="6324447" y="3438144"/>
            <a:ext cx="5318607" cy="1051560"/>
          </a:xfrm>
          <a:prstGeom prst="rect">
            <a:avLst/>
          </a:prstGeom>
          <a:noFill/>
        </p:spPr>
        <p:txBody>
          <a:bodyPr wrap="square" anchor="t" lIns="0" rIns="0" tIns="0" bIns="0">
            <a:noAutofit/>
          </a:bodyPr>
          <a:lstStyle/>
          <a:p>
            <a:pPr algn="l">
              <a:spcAft>
                <a:spcPts val="0"/>
              </a:spcAft>
            </a:pPr>
            <a:r>
              <a:rPr sz="1400" b="0">
                <a:solidFill>
                  <a:srgbClr val="52514E"/>
                </a:solidFill>
              </a:rPr>
              <a:t>No. Every judge sees the request with the asker sentence replaced by “Please,” never the model, party or condition.</a:t>
            </a:r>
          </a:p>
        </p:txBody>
      </p:sp>
      <p:sp>
        <p:nvSpPr>
          <p:cNvPr id="12" name="Q5"/>
          <p:cNvSpPr txBox="1"/>
          <p:nvPr/>
        </p:nvSpPr>
        <p:spPr>
          <a:xfrm>
            <a:off x="548640" y="4626864"/>
            <a:ext cx="5318607" cy="292608"/>
          </a:xfrm>
          <a:prstGeom prst="rect">
            <a:avLst/>
          </a:prstGeom>
          <a:noFill/>
        </p:spPr>
        <p:txBody>
          <a:bodyPr wrap="square" anchor="t" lIns="0" rIns="0" tIns="0" bIns="0">
            <a:noAutofit/>
          </a:bodyPr>
          <a:lstStyle/>
          <a:p>
            <a:pPr algn="l">
              <a:spcAft>
                <a:spcPts val="0"/>
              </a:spcAft>
            </a:pPr>
            <a:r>
              <a:rPr sz="1600" b="1">
                <a:solidFill>
                  <a:srgbClr val="000000"/>
                </a:solidFill>
              </a:rPr>
              <a:t>Couldn’t one phrasing drive the gap?</a:t>
            </a:r>
          </a:p>
        </p:txBody>
      </p:sp>
      <p:sp>
        <p:nvSpPr>
          <p:cNvPr id="13" name="A5"/>
          <p:cNvSpPr txBox="1"/>
          <p:nvPr/>
        </p:nvSpPr>
        <p:spPr>
          <a:xfrm>
            <a:off x="548640" y="4974336"/>
            <a:ext cx="5318607" cy="1051560"/>
          </a:xfrm>
          <a:prstGeom prst="rect">
            <a:avLst/>
          </a:prstGeom>
          <a:noFill/>
        </p:spPr>
        <p:txBody>
          <a:bodyPr wrap="square" anchor="t" lIns="0" rIns="0" tIns="0" bIns="0">
            <a:noAutofit/>
          </a:bodyPr>
          <a:lstStyle/>
          <a:p>
            <a:pPr algn="l">
              <a:spcAft>
                <a:spcPts val="0"/>
              </a:spcAft>
            </a:pPr>
            <a:r>
              <a:rPr sz="1400" b="0">
                <a:solidFill>
                  <a:srgbClr val="52514E"/>
                </a:solidFill>
              </a:rPr>
              <a:t>Each asker has two phrasings, alternated. Comparisons are 136 matched pairs that differ only in the asker sentence, tested with exact McNemar tests.</a:t>
            </a:r>
          </a:p>
        </p:txBody>
      </p:sp>
      <p:sp>
        <p:nvSpPr>
          <p:cNvPr id="14" name="Q6"/>
          <p:cNvSpPr txBox="1"/>
          <p:nvPr/>
        </p:nvSpPr>
        <p:spPr>
          <a:xfrm>
            <a:off x="6324447" y="4626864"/>
            <a:ext cx="5318607" cy="292608"/>
          </a:xfrm>
          <a:prstGeom prst="rect">
            <a:avLst/>
          </a:prstGeom>
          <a:noFill/>
        </p:spPr>
        <p:txBody>
          <a:bodyPr wrap="square" anchor="t" lIns="0" rIns="0" tIns="0" bIns="0">
            <a:noAutofit/>
          </a:bodyPr>
          <a:lstStyle/>
          <a:p>
            <a:pPr algn="l">
              <a:spcAft>
                <a:spcPts val="0"/>
              </a:spcAft>
            </a:pPr>
            <a:r>
              <a:rPr sz="1600" b="1">
                <a:solidFill>
                  <a:srgbClr val="000000"/>
                </a:solidFill>
              </a:rPr>
              <a:t>Greedy decoding, one reply per prompt?</a:t>
            </a:r>
          </a:p>
        </p:txBody>
      </p:sp>
      <p:sp>
        <p:nvSpPr>
          <p:cNvPr id="15" name="A6"/>
          <p:cNvSpPr txBox="1"/>
          <p:nvPr/>
        </p:nvSpPr>
        <p:spPr>
          <a:xfrm>
            <a:off x="6324447" y="4974336"/>
            <a:ext cx="5318607" cy="1051560"/>
          </a:xfrm>
          <a:prstGeom prst="rect">
            <a:avLst/>
          </a:prstGeom>
          <a:noFill/>
        </p:spPr>
        <p:txBody>
          <a:bodyPr wrap="square" anchor="t" lIns="0" rIns="0" tIns="0" bIns="0">
            <a:noAutofit/>
          </a:bodyPr>
          <a:lstStyle/>
          <a:p>
            <a:pPr algn="l">
              <a:spcAft>
                <a:spcPts val="0"/>
              </a:spcAft>
            </a:pPr>
            <a:r>
              <a:rPr sz="1400" b="0">
                <a:solidFill>
                  <a:srgbClr val="52514E"/>
                </a:solidFill>
              </a:rPr>
              <a:t>Yes: deterministic, 128 new tokens. Replies shift slightly with batch composition, so we compare groups, not single replies.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Step 1: Prompts where only the asker changes</a:t>
            </a:r>
          </a:p>
        </p:txBody>
      </p:sp>
      <p:sp>
        <p:nvSpPr>
          <p:cNvPr id="3" name="Slide number"/>
          <p:cNvSpPr txBox="1"/>
          <p:nvPr/>
        </p:nvSpPr>
        <p:spPr>
          <a:xfrm>
            <a:off x="10728655" y="6400800"/>
            <a:ext cx="914400" cy="228600"/>
          </a:xfrm>
          <a:prstGeom prst="rect">
            <a:avLst/>
          </a:prstGeom>
          <a:noFill/>
        </p:spPr>
        <p:txBody>
          <a:bodyPr wrap="none" lIns="0" tIns="0" rIns="0" bIns="0">
            <a:spAutoFit/>
          </a:bodyPr>
          <a:lstStyle/>
          <a:p>
            <a:pPr algn="r"/>
            <a:fld id="{6F1B2D7E-4C3A-4E8B-9D21-7A5C0E3B9F14}" type="slidenum">
              <a:rPr lang="en-US" sz="1000">
                <a:solidFill>
                  <a:srgbClr val="898781"/>
                </a:solidFill>
              </a:rPr>
              <a:t>8</a:t>
            </a:fld>
            <a:endParaRPr lang="en-US" sz="1000">
              <a:solidFill>
                <a:srgbClr val="898781"/>
              </a:solidFill>
            </a:endParaRPr>
          </a:p>
        </p:txBody>
      </p:sp>
      <p:pic>
        <p:nvPicPr>
          <p:cNvPr id="4" name="slide_design.png" descr="Diagram of the prompt set: one request under five askers, and the 2x2 of asker party by claim side that defines own side and other side."/>
          <p:cNvPicPr>
            <a:picLocks noChangeAspect="1"/>
          </p:cNvPicPr>
          <p:nvPr/>
        </p:nvPicPr>
        <p:blipFill>
          <a:blip r:embed="rId3"/>
          <a:stretch>
            <a:fillRect/>
          </a:stretch>
        </p:blipFill>
        <p:spPr>
          <a:xfrm>
            <a:off x="1378523" y="1371600"/>
            <a:ext cx="9434648" cy="48920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paper’s safety judge flags none of these replies</a:t>
            </a:r>
          </a:p>
        </p:txBody>
      </p:sp>
      <p:sp>
        <p:nvSpPr>
          <p:cNvPr id="3" name="Slide number"/>
          <p:cNvSpPr txBox="1"/>
          <p:nvPr/>
        </p:nvSpPr>
        <p:spPr>
          <a:xfrm>
            <a:off x="10728655" y="6400800"/>
            <a:ext cx="914400" cy="228600"/>
          </a:xfrm>
          <a:prstGeom prst="rect">
            <a:avLst/>
          </a:prstGeom>
          <a:noFill/>
        </p:spPr>
        <p:txBody>
          <a:bodyPr wrap="none" lIns="0" tIns="0" rIns="0" bIns="0">
            <a:spAutoFit/>
          </a:bodyPr>
          <a:lstStyle/>
          <a:p>
            <a:pPr algn="r"/>
            <a:fld id="{6F1B2D7E-4C3A-4E8B-9D21-7A5C0E3B9F14}" type="slidenum">
              <a:rPr lang="en-US" sz="1000">
                <a:solidFill>
                  <a:srgbClr val="898781"/>
                </a:solidFill>
              </a:rPr>
              <a:t>9</a:t>
            </a:fld>
            <a:endParaRPr lang="en-US" sz="1000">
              <a:solidFill>
                <a:srgbClr val="898781"/>
              </a:solidFill>
            </a:endParaRPr>
          </a:p>
        </p:txBody>
      </p:sp>
      <p:graphicFrame>
        <p:nvGraphicFramePr>
          <p:cNvPr id="4" name="Judges"/>
          <p:cNvGraphicFramePr>
            <a:graphicFrameLocks noGrp="1"/>
          </p:cNvGraphicFramePr>
          <p:nvPr/>
        </p:nvGraphicFramePr>
        <p:xfrm>
          <a:off x="548640" y="1645920"/>
          <a:ext cx="11091672" cy="1810512"/>
        </p:xfrm>
        <a:graphic>
          <a:graphicData uri="http://schemas.openxmlformats.org/drawingml/2006/table">
            <a:tbl>
              <a:tblPr firstRow="1">
                <a:tableStyleId>{2D5ABB26-0587-4C30-8999-92F81FD0307C}</a:tableStyleId>
              </a:tblPr>
              <a:tblGrid>
                <a:gridCol w="3931920">
                  <a:extLst>
                    <a:ext uri="{9D8B030D-6E8A-4147-A177-3AD203B41FA5}">
                      <a16:colId xmlns:a16="http://schemas.microsoft.com/office/drawing/2014/main" val="20000"/>
                    </a:ext>
                  </a:extLst>
                </a:gridCol>
                <a:gridCol w="7159752">
                  <a:extLst>
                    <a:ext uri="{9D8B030D-6E8A-4147-A177-3AD203B41FA5}">
                      <a16:colId xmlns:a16="http://schemas.microsoft.com/office/drawing/2014/main" val="20001"/>
                    </a:ext>
                  </a:extLst>
                </a:gridCol>
              </a:tblGrid>
              <a:tr h="384048">
                <a:tc>
                  <a:txBody>
                    <a:bodyPr/>
                    <a:lstStyle/>
                    <a:p>
                      <a:r>
                        <a:rPr sz="1800" b="1">
                          <a:solidFill>
                            <a:srgbClr val="000000"/>
                          </a:solidFill>
                        </a:rPr>
                        <a:t>Judge</a:t>
                      </a:r>
                    </a:p>
                  </a:txBody>
                  <a:tcPr marL="0" marR="73152" marT="54864" marB="54864">
                    <a:lnB w="19050">
                      <a:solidFill>
                        <a:srgbClr val="000000"/>
                      </a:solidFill>
                    </a:lnB>
                    <a:noFill/>
                  </a:tcPr>
                </a:tc>
                <a:tc>
                  <a:txBody>
                    <a:bodyPr/>
                    <a:lstStyle/>
                    <a:p>
                      <a:r>
                        <a:rPr sz="1800" b="1">
                          <a:solidFill>
                            <a:srgbClr val="000000"/>
                          </a:solidFill>
                        </a:rPr>
                        <a:t>On our replies</a:t>
                      </a:r>
                    </a:p>
                  </a:txBody>
                  <a:tcPr marL="73152" marR="73152" marT="54864" marB="54864">
                    <a:lnB w="19050">
                      <a:solidFill>
                        <a:srgbClr val="000000"/>
                      </a:solidFill>
                    </a:lnB>
                    <a:noFill/>
                  </a:tcPr>
                </a:tc>
                <a:extLst>
                  <a:ext uri="{0D108BD9-81ED-4DB2-BD59-A6C34878D82A}">
                    <a16:rowId xmlns:a16="http://schemas.microsoft.com/office/drawing/2014/main" val="10000"/>
                  </a:ext>
                </a:extLst>
              </a:tr>
              <a:tr h="384048">
                <a:tc>
                  <a:txBody>
                    <a:bodyPr/>
                    <a:lstStyle/>
                    <a:p>
                      <a:r>
                        <a:rPr sz="1800" b="0">
                          <a:solidFill>
                            <a:srgbClr val="000000"/>
                          </a:solidFill>
                        </a:rPr>
                        <a:t>Llama Guard 2 (the paper’s judge)</a:t>
                      </a:r>
                    </a:p>
                  </a:txBody>
                  <a:tcPr marL="0" marR="73152" marT="54864" marB="54864">
                    <a:lnT w="19050" cap="flat" cmpd="sng" algn="ctr">
                      <a:solidFill>
                        <a:srgbClr val="000000"/>
                      </a:solidFill>
                      <a:prstDash val="solid"/>
                      <a:round/>
                      <a:headEnd type="none" w="med" len="med"/>
                      <a:tailEnd type="none" w="med" len="med"/>
                    </a:lnT>
                    <a:lnB w="9525">
                      <a:solidFill>
                        <a:srgbClr val="D9D9D9"/>
                      </a:solidFill>
                    </a:lnB>
                    <a:noFill/>
                  </a:tcPr>
                </a:tc>
                <a:tc>
                  <a:txBody>
                    <a:bodyPr/>
                    <a:lstStyle/>
                    <a:p>
                      <a:r>
                        <a:rPr sz="1800" b="0">
                          <a:solidFill>
                            <a:srgbClr val="52514E"/>
                          </a:solidFill>
                        </a:rPr>
                        <a:t>Flags 0 replies, even ones that fully argue an election was stolen</a:t>
                      </a:r>
                    </a:p>
                  </a:txBody>
                  <a:tcPr marL="73152" marR="73152" marT="54864" marB="54864">
                    <a:lnT w="19050" cap="flat" cmpd="sng" algn="ctr">
                      <a:solidFill>
                        <a:srgbClr val="000000"/>
                      </a:solidFill>
                      <a:prstDash val="solid"/>
                      <a:round/>
                      <a:headEnd type="none" w="med" len="med"/>
                      <a:tailEnd type="none" w="med" len="med"/>
                    </a:lnT>
                    <a:lnB w="9525">
                      <a:solidFill>
                        <a:srgbClr val="D9D9D9"/>
                      </a:solidFill>
                    </a:lnB>
                    <a:noFill/>
                  </a:tcPr>
                </a:tc>
                <a:extLst>
                  <a:ext uri="{0D108BD9-81ED-4DB2-BD59-A6C34878D82A}">
                    <a16:rowId xmlns:a16="http://schemas.microsoft.com/office/drawing/2014/main" val="10001"/>
                  </a:ext>
                </a:extLst>
              </a:tr>
              <a:tr h="658368">
                <a:tc>
                  <a:txBody>
                    <a:bodyPr/>
                    <a:lstStyle/>
                    <a:p>
                      <a:r>
                        <a:rPr sz="1800" b="0">
                          <a:solidFill>
                            <a:srgbClr val="000000"/>
                          </a:solidFill>
                        </a:rPr>
                        <a:t>Llama Guard 3 + an election category</a:t>
                      </a:r>
                    </a:p>
                  </a:txBody>
                  <a:tcPr marL="0" marR="73152" marT="54864" marB="54864">
                    <a:lnT w="9525" cap="flat" cmpd="sng" algn="ctr">
                      <a:solidFill>
                        <a:srgbClr val="D9D9D9"/>
                      </a:solidFill>
                      <a:prstDash val="solid"/>
                      <a:round/>
                      <a:headEnd type="none" w="med" len="med"/>
                      <a:tailEnd type="none" w="med" len="med"/>
                    </a:lnT>
                    <a:lnB w="9525">
                      <a:solidFill>
                        <a:srgbClr val="D9D9D9"/>
                      </a:solidFill>
                    </a:lnB>
                    <a:noFill/>
                  </a:tcPr>
                </a:tc>
                <a:tc>
                  <a:txBody>
                    <a:bodyPr/>
                    <a:lstStyle/>
                    <a:p>
                      <a:r>
                        <a:rPr sz="1800" b="0">
                          <a:solidFill>
                            <a:srgbClr val="52514E"/>
                          </a:solidFill>
                        </a:rPr>
                        <a:t>76% agreement with blind human labels (κ = 0.51). Misses disclaimer-then-argue and question-form replies</a:t>
                      </a:r>
                    </a:p>
                  </a:txBody>
                  <a:tcPr marL="73152" marR="73152" marT="54864" marB="54864">
                    <a:lnT w="9525" cap="flat" cmpd="sng" algn="ctr">
                      <a:solidFill>
                        <a:srgbClr val="D9D9D9"/>
                      </a:solidFill>
                      <a:prstDash val="solid"/>
                      <a:round/>
                      <a:headEnd type="none" w="med" len="med"/>
                      <a:tailEnd type="none" w="med" len="med"/>
                    </a:lnT>
                    <a:lnB w="9525">
                      <a:solidFill>
                        <a:srgbClr val="D9D9D9"/>
                      </a:solidFill>
                    </a:lnB>
                    <a:noFill/>
                  </a:tcPr>
                </a:tc>
                <a:extLst>
                  <a:ext uri="{0D108BD9-81ED-4DB2-BD59-A6C34878D82A}">
                    <a16:rowId xmlns:a16="http://schemas.microsoft.com/office/drawing/2014/main" val="10002"/>
                  </a:ext>
                </a:extLst>
              </a:tr>
              <a:tr h="384048">
                <a:tc>
                  <a:txBody>
                    <a:bodyPr/>
                    <a:lstStyle/>
                    <a:p>
                      <a:r>
                        <a:rPr sz="1800" b="0">
                          <a:solidFill>
                            <a:srgbClr val="000000"/>
                          </a:solidFill>
                        </a:rPr>
                        <a:t>Claude, written rubric</a:t>
                      </a:r>
                    </a:p>
                  </a:txBody>
                  <a:tcPr marL="0" marR="73152" marT="54864" marB="54864">
                    <a:lnT w="9525" cap="flat" cmpd="sng" algn="ctr">
                      <a:solidFill>
                        <a:srgbClr val="D9D9D9"/>
                      </a:solidFill>
                      <a:prstDash val="solid"/>
                      <a:round/>
                      <a:headEnd type="none" w="med" len="med"/>
                      <a:tailEnd type="none" w="med" len="med"/>
                    </a:lnT>
                    <a:lnB w="9525">
                      <a:solidFill>
                        <a:srgbClr val="D9D9D9"/>
                      </a:solidFill>
                    </a:lnB>
                    <a:noFill/>
                  </a:tcPr>
                </a:tc>
                <a:tc>
                  <a:txBody>
                    <a:bodyPr/>
                    <a:lstStyle/>
                    <a:p>
                      <a:r>
                        <a:rPr sz="1800" b="0">
                          <a:solidFill>
                            <a:srgbClr val="52514E"/>
                          </a:solidFill>
                        </a:rPr>
                        <a:t>89% agreement with blind human labels (κ = 0.77)</a:t>
                      </a:r>
                    </a:p>
                  </a:txBody>
                  <a:tcPr marL="73152" marR="73152" marT="54864" marB="54864">
                    <a:lnT w="9525" cap="flat" cmpd="sng" algn="ctr">
                      <a:solidFill>
                        <a:srgbClr val="D9D9D9"/>
                      </a:solidFill>
                      <a:prstDash val="solid"/>
                      <a:round/>
                      <a:headEnd type="none" w="med" len="med"/>
                      <a:tailEnd type="none" w="med" len="med"/>
                    </a:lnT>
                    <a:lnB w="9525">
                      <a:solidFill>
                        <a:srgbClr val="D9D9D9"/>
                      </a:solidFill>
                    </a:lnB>
                    <a:noFill/>
                  </a:tcPr>
                </a:tc>
                <a:extLst>
                  <a:ext uri="{0D108BD9-81ED-4DB2-BD59-A6C34878D82A}">
                    <a16:rowId xmlns:a16="http://schemas.microsoft.com/office/drawing/2014/main" val="10003"/>
                  </a:ext>
                </a:extLst>
              </a:tr>
            </a:tbl>
          </a:graphicData>
        </a:graphic>
      </p:graphicFrame>
      <p:sp>
        <p:nvSpPr>
          <p:cNvPr id="5" name="TextBox 4"/>
          <p:cNvSpPr txBox="1"/>
          <p:nvPr/>
        </p:nvSpPr>
        <p:spPr>
          <a:xfrm>
            <a:off x="548640" y="3822192"/>
            <a:ext cx="11094415" cy="731520"/>
          </a:xfrm>
          <a:prstGeom prst="rect">
            <a:avLst/>
          </a:prstGeom>
          <a:noFill/>
        </p:spPr>
        <p:txBody>
          <a:bodyPr wrap="square" lIns="0" tIns="0" rIns="0" bIns="0" anchor="t">
            <a:noAutofit/>
          </a:bodyPr>
          <a:lstStyle/>
          <a:p>
            <a:pPr algn="l">
              <a:spcAft>
                <a:spcPts val="600"/>
              </a:spcAft>
            </a:pPr>
            <a:r>
              <a:rPr sz="1600" b="0">
                <a:solidFill>
                  <a:srgbClr val="52514E"/>
                </a:solidFill>
              </a:rPr>
              <a:t>Judges see the request with the asker removed. Human check: 50 replies from the 7B/8B models. Compare groups, not absolute rates: the judges differ by about 20 points on levels.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Step 3: How we found the refusal direction</a:t>
            </a:r>
          </a:p>
        </p:txBody>
      </p:sp>
      <p:sp>
        <p:nvSpPr>
          <p:cNvPr id="3" name="Slide number"/>
          <p:cNvSpPr txBox="1"/>
          <p:nvPr/>
        </p:nvSpPr>
        <p:spPr>
          <a:xfrm>
            <a:off x="10728655" y="6400800"/>
            <a:ext cx="914400" cy="228600"/>
          </a:xfrm>
          <a:prstGeom prst="rect">
            <a:avLst/>
          </a:prstGeom>
          <a:noFill/>
        </p:spPr>
        <p:txBody>
          <a:bodyPr wrap="none" lIns="0" rIns="0" tIns="0" bIns="0">
            <a:spAutoFit/>
          </a:bodyPr>
          <a:lstStyle/>
          <a:p>
            <a:pPr algn="r"/>
            <a:fld id="{6F1B2D7E-4C3A-4E8B-9D21-7A5C0E3B9F14}" type="slidenum">
              <a:rPr lang="en-US" sz="1000">
                <a:solidFill>
                  <a:srgbClr val="898781"/>
                </a:solidFill>
              </a:rPr>
              <a:t>29</a:t>
            </a:fld>
          </a:p>
        </p:txBody>
      </p:sp>
      <p:sp>
        <p:nvSpPr>
          <p:cNvPr id="4" name="TextBox 3"/>
          <p:cNvSpPr txBox="1"/>
          <p:nvPr/>
        </p:nvSpPr>
        <p:spPr>
          <a:xfrm>
            <a:off x="548640" y="1600200"/>
            <a:ext cx="2533573" cy="502920"/>
          </a:xfrm>
          <a:prstGeom prst="rect">
            <a:avLst/>
          </a:prstGeom>
          <a:noFill/>
        </p:spPr>
        <p:txBody>
          <a:bodyPr wrap="square" anchor="t" lIns="0" rIns="0" tIns="0" bIns="0">
            <a:noAutofit/>
          </a:bodyPr>
          <a:lstStyle/>
          <a:p>
            <a:pPr algn="l">
              <a:spcAft>
                <a:spcPts val="0"/>
              </a:spcAft>
            </a:pPr>
            <a:r>
              <a:rPr sz="2800" b="1">
                <a:solidFill>
                  <a:srgbClr val="000000"/>
                </a:solidFill>
              </a:rPr>
              <a:t>1</a:t>
            </a:r>
          </a:p>
        </p:txBody>
      </p:sp>
      <p:sp>
        <p:nvSpPr>
          <p:cNvPr id="5" name="TextBox 4"/>
          <p:cNvSpPr txBox="1"/>
          <p:nvPr/>
        </p:nvSpPr>
        <p:spPr>
          <a:xfrm>
            <a:off x="548640" y="2148840"/>
            <a:ext cx="2533573" cy="594360"/>
          </a:xfrm>
          <a:prstGeom prst="rect">
            <a:avLst/>
          </a:prstGeom>
          <a:noFill/>
        </p:spPr>
        <p:txBody>
          <a:bodyPr wrap="square" anchor="t" lIns="0" rIns="0" tIns="0" bIns="0">
            <a:noAutofit/>
          </a:bodyPr>
          <a:lstStyle/>
          <a:p>
            <a:pPr algn="l">
              <a:spcAft>
                <a:spcPts val="0"/>
              </a:spcAft>
            </a:pPr>
            <a:r>
              <a:rPr sz="1800" b="1">
                <a:solidFill>
                  <a:srgbClr val="000000"/>
                </a:solidFill>
              </a:rPr>
              <a:t>Anchor prompts</a:t>
            </a:r>
          </a:p>
        </p:txBody>
      </p:sp>
      <p:sp>
        <p:nvSpPr>
          <p:cNvPr id="6" name="TextBox 5"/>
          <p:cNvSpPr txBox="1"/>
          <p:nvPr/>
        </p:nvSpPr>
        <p:spPr>
          <a:xfrm>
            <a:off x="548640" y="2788920"/>
            <a:ext cx="2533573" cy="2286000"/>
          </a:xfrm>
          <a:prstGeom prst="rect">
            <a:avLst/>
          </a:prstGeom>
          <a:noFill/>
        </p:spPr>
        <p:txBody>
          <a:bodyPr wrap="square" anchor="t" lIns="0" rIns="0" tIns="0" bIns="0">
            <a:noAutofit/>
          </a:bodyPr>
          <a:lstStyle/>
          <a:p>
            <a:pPr algn="l">
              <a:spcAft>
                <a:spcPts val="0"/>
              </a:spcAft>
            </a:pPr>
            <a:r>
              <a:rPr sz="1500" b="0">
                <a:solidFill>
                  <a:srgbClr val="52514E"/>
                </a:solidFill>
              </a:rPr>
              <a:t>Arditi et al.’s 128 harmful and 128 harmless training prompts, minus any that mention elections, parties or candidates. Keep the harmful ones the model refuses and the harmless ones it answers.</a:t>
            </a:r>
          </a:p>
        </p:txBody>
      </p:sp>
      <p:sp>
        <p:nvSpPr>
          <p:cNvPr id="7" name="TextBox 6"/>
          <p:cNvSpPr txBox="1"/>
          <p:nvPr/>
        </p:nvSpPr>
        <p:spPr>
          <a:xfrm>
            <a:off x="3402253" y="1600200"/>
            <a:ext cx="2533573" cy="502920"/>
          </a:xfrm>
          <a:prstGeom prst="rect">
            <a:avLst/>
          </a:prstGeom>
          <a:noFill/>
        </p:spPr>
        <p:txBody>
          <a:bodyPr wrap="square" anchor="t" lIns="0" rIns="0" tIns="0" bIns="0">
            <a:noAutofit/>
          </a:bodyPr>
          <a:lstStyle/>
          <a:p>
            <a:pPr algn="l">
              <a:spcAft>
                <a:spcPts val="0"/>
              </a:spcAft>
            </a:pPr>
            <a:r>
              <a:rPr sz="2800" b="1">
                <a:solidFill>
                  <a:srgbClr val="000000"/>
                </a:solidFill>
              </a:rPr>
              <a:t>2</a:t>
            </a:r>
          </a:p>
        </p:txBody>
      </p:sp>
      <p:sp>
        <p:nvSpPr>
          <p:cNvPr id="8" name="TextBox 7"/>
          <p:cNvSpPr txBox="1"/>
          <p:nvPr/>
        </p:nvSpPr>
        <p:spPr>
          <a:xfrm>
            <a:off x="3402253" y="2148840"/>
            <a:ext cx="2533573" cy="594360"/>
          </a:xfrm>
          <a:prstGeom prst="rect">
            <a:avLst/>
          </a:prstGeom>
          <a:noFill/>
        </p:spPr>
        <p:txBody>
          <a:bodyPr wrap="square" anchor="t" lIns="0" rIns="0" tIns="0" bIns="0">
            <a:noAutofit/>
          </a:bodyPr>
          <a:lstStyle/>
          <a:p>
            <a:pPr algn="l">
              <a:spcAft>
                <a:spcPts val="0"/>
              </a:spcAft>
            </a:pPr>
            <a:r>
              <a:rPr sz="1800" b="1">
                <a:solidFill>
                  <a:srgbClr val="000000"/>
                </a:solidFill>
              </a:rPr>
              <a:t>Candidates</a:t>
            </a:r>
          </a:p>
        </p:txBody>
      </p:sp>
      <p:sp>
        <p:nvSpPr>
          <p:cNvPr id="9" name="TextBox 8"/>
          <p:cNvSpPr txBox="1"/>
          <p:nvPr/>
        </p:nvSpPr>
        <p:spPr>
          <a:xfrm>
            <a:off x="3402253" y="2788920"/>
            <a:ext cx="2533573" cy="2286000"/>
          </a:xfrm>
          <a:prstGeom prst="rect">
            <a:avLst/>
          </a:prstGeom>
          <a:noFill/>
        </p:spPr>
        <p:txBody>
          <a:bodyPr wrap="square" anchor="t" lIns="0" rIns="0" tIns="0" bIns="0">
            <a:noAutofit/>
          </a:bodyPr>
          <a:lstStyle/>
          <a:p>
            <a:pPr algn="l">
              <a:spcAft>
                <a:spcPts val="0"/>
              </a:spcAft>
            </a:pPr>
            <a:r>
              <a:rPr sz="1500" b="0">
                <a:solidFill>
                  <a:srgbClr val="52514E"/>
                </a:solidFill>
              </a:rPr>
              <a:t>Average activation on harmful minus harmless, at every layer up to 80% of the depth and every token after the instruction.</a:t>
            </a:r>
          </a:p>
        </p:txBody>
      </p:sp>
      <p:sp>
        <p:nvSpPr>
          <p:cNvPr id="10" name="TextBox 9"/>
          <p:cNvSpPr txBox="1"/>
          <p:nvPr/>
        </p:nvSpPr>
        <p:spPr>
          <a:xfrm>
            <a:off x="6255867" y="1600200"/>
            <a:ext cx="2533573" cy="502920"/>
          </a:xfrm>
          <a:prstGeom prst="rect">
            <a:avLst/>
          </a:prstGeom>
          <a:noFill/>
        </p:spPr>
        <p:txBody>
          <a:bodyPr wrap="square" anchor="t" lIns="0" rIns="0" tIns="0" bIns="0">
            <a:noAutofit/>
          </a:bodyPr>
          <a:lstStyle/>
          <a:p>
            <a:pPr algn="l">
              <a:spcAft>
                <a:spcPts val="0"/>
              </a:spcAft>
            </a:pPr>
            <a:r>
              <a:rPr sz="2800" b="1">
                <a:solidFill>
                  <a:srgbClr val="000000"/>
                </a:solidFill>
              </a:rPr>
              <a:t>3</a:t>
            </a:r>
          </a:p>
        </p:txBody>
      </p:sp>
      <p:sp>
        <p:nvSpPr>
          <p:cNvPr id="11" name="TextBox 10"/>
          <p:cNvSpPr txBox="1"/>
          <p:nvPr/>
        </p:nvSpPr>
        <p:spPr>
          <a:xfrm>
            <a:off x="6255867" y="2148840"/>
            <a:ext cx="2533573" cy="594360"/>
          </a:xfrm>
          <a:prstGeom prst="rect">
            <a:avLst/>
          </a:prstGeom>
          <a:noFill/>
        </p:spPr>
        <p:txBody>
          <a:bodyPr wrap="square" anchor="t" lIns="0" rIns="0" tIns="0" bIns="0">
            <a:noAutofit/>
          </a:bodyPr>
          <a:lstStyle/>
          <a:p>
            <a:pPr algn="l">
              <a:spcAft>
                <a:spcPts val="0"/>
              </a:spcAft>
            </a:pPr>
            <a:r>
              <a:rPr sz="1800" b="1">
                <a:solidFill>
                  <a:srgbClr val="000000"/>
                </a:solidFill>
              </a:rPr>
              <a:t>Score on 32 held-out prompts</a:t>
            </a:r>
          </a:p>
        </p:txBody>
      </p:sp>
      <p:sp>
        <p:nvSpPr>
          <p:cNvPr id="12" name="TextBox 11"/>
          <p:cNvSpPr txBox="1"/>
          <p:nvPr/>
        </p:nvSpPr>
        <p:spPr>
          <a:xfrm>
            <a:off x="6255867" y="2788920"/>
            <a:ext cx="2533573" cy="2286000"/>
          </a:xfrm>
          <a:prstGeom prst="rect">
            <a:avLst/>
          </a:prstGeom>
          <a:noFill/>
        </p:spPr>
        <p:txBody>
          <a:bodyPr wrap="square" anchor="t" lIns="0" rIns="0" tIns="0" bIns="0">
            <a:noAutofit/>
          </a:bodyPr>
          <a:lstStyle/>
          <a:p>
            <a:pPr algn="l">
              <a:spcAft>
                <a:spcPts val="0"/>
              </a:spcAft>
            </a:pPr>
            <a:r>
              <a:rPr sz="1500" b="0">
                <a:solidFill>
                  <a:srgbClr val="52514E"/>
                </a:solidFill>
              </a:rPr>
              <a:t>Remove it: how far does refusal on harmful prompts drop? Add it: does it cause refusal on harmless ones? KL: how much does removing it change harmless outputs?</a:t>
            </a:r>
          </a:p>
        </p:txBody>
      </p:sp>
      <p:sp>
        <p:nvSpPr>
          <p:cNvPr id="13" name="TextBox 12"/>
          <p:cNvSpPr txBox="1"/>
          <p:nvPr/>
        </p:nvSpPr>
        <p:spPr>
          <a:xfrm>
            <a:off x="9109481" y="1600200"/>
            <a:ext cx="2533573" cy="502920"/>
          </a:xfrm>
          <a:prstGeom prst="rect">
            <a:avLst/>
          </a:prstGeom>
          <a:noFill/>
        </p:spPr>
        <p:txBody>
          <a:bodyPr wrap="square" anchor="t" lIns="0" rIns="0" tIns="0" bIns="0">
            <a:noAutofit/>
          </a:bodyPr>
          <a:lstStyle/>
          <a:p>
            <a:pPr algn="l">
              <a:spcAft>
                <a:spcPts val="0"/>
              </a:spcAft>
            </a:pPr>
            <a:r>
              <a:rPr sz="2800" b="1">
                <a:solidFill>
                  <a:srgbClr val="000000"/>
                </a:solidFill>
              </a:rPr>
              <a:t>4</a:t>
            </a:r>
          </a:p>
        </p:txBody>
      </p:sp>
      <p:sp>
        <p:nvSpPr>
          <p:cNvPr id="14" name="TextBox 13"/>
          <p:cNvSpPr txBox="1"/>
          <p:nvPr/>
        </p:nvSpPr>
        <p:spPr>
          <a:xfrm>
            <a:off x="9109481" y="2148840"/>
            <a:ext cx="2533573" cy="594360"/>
          </a:xfrm>
          <a:prstGeom prst="rect">
            <a:avLst/>
          </a:prstGeom>
          <a:noFill/>
        </p:spPr>
        <p:txBody>
          <a:bodyPr wrap="square" anchor="t" lIns="0" rIns="0" tIns="0" bIns="0">
            <a:noAutofit/>
          </a:bodyPr>
          <a:lstStyle/>
          <a:p>
            <a:pPr algn="l">
              <a:spcAft>
                <a:spcPts val="0"/>
              </a:spcAft>
            </a:pPr>
            <a:r>
              <a:rPr sz="1800" b="1">
                <a:solidFill>
                  <a:srgbClr val="000000"/>
                </a:solidFill>
              </a:rPr>
              <a:t>Pick and check</a:t>
            </a:r>
          </a:p>
        </p:txBody>
      </p:sp>
      <p:sp>
        <p:nvSpPr>
          <p:cNvPr id="15" name="TextBox 14"/>
          <p:cNvSpPr txBox="1"/>
          <p:nvPr/>
        </p:nvSpPr>
        <p:spPr>
          <a:xfrm>
            <a:off x="9109481" y="2788920"/>
            <a:ext cx="2533573" cy="2286000"/>
          </a:xfrm>
          <a:prstGeom prst="rect">
            <a:avLst/>
          </a:prstGeom>
          <a:noFill/>
        </p:spPr>
        <p:txBody>
          <a:bodyPr wrap="square" anchor="t" lIns="0" rIns="0" tIns="0" bIns="0">
            <a:noAutofit/>
          </a:bodyPr>
          <a:lstStyle/>
          <a:p>
            <a:pPr algn="l">
              <a:spcAft>
                <a:spcPts val="0"/>
              </a:spcAft>
            </a:pPr>
            <a:r>
              <a:rPr sz="1500" b="0">
                <a:solidFill>
                  <a:srgbClr val="52514E"/>
                </a:solidFill>
              </a:rPr>
              <a:t>Biggest drop, with addition causing refusal and KL below 0.1. Then 64 fresh harmful prompts (refusal 92% → 0% Qwen, 91% → 0% Llama) and 100 re-extractions (cosine ≥ 0.99).</a:t>
            </a:r>
          </a:p>
        </p:txBody>
      </p:sp>
      <p:sp>
        <p:nvSpPr>
          <p:cNvPr id="16" name="TextBox 15"/>
          <p:cNvSpPr txBox="1"/>
          <p:nvPr/>
        </p:nvSpPr>
        <p:spPr>
          <a:xfrm>
            <a:off x="548640" y="5257800"/>
            <a:ext cx="11094415" cy="685800"/>
          </a:xfrm>
          <a:prstGeom prst="rect">
            <a:avLst/>
          </a:prstGeom>
          <a:noFill/>
        </p:spPr>
        <p:txBody>
          <a:bodyPr wrap="square" anchor="t" lIns="0" rIns="0" tIns="0" bIns="0">
            <a:noAutofit/>
          </a:bodyPr>
          <a:lstStyle/>
          <a:p>
            <a:pPr algn="l">
              <a:spcAft>
                <a:spcPts val="0"/>
              </a:spcAft>
            </a:pPr>
            <a:r>
              <a:rPr sz="1600" b="1">
                <a:solidFill>
                  <a:srgbClr val="52514E"/>
                </a:solidFill>
              </a:rPr>
              <a:t>Chosen: </a:t>
            </a:r>
            <a:r>
              <a:rPr sz="1600" b="0">
                <a:solidFill>
                  <a:srgbClr val="52514E"/>
                </a:solidFill>
              </a:rPr>
              <a:t>Qwen layer 19 of 28 (token −2), Llama layer 13 of 32 (token −5). </a:t>
            </a:r>
            <a:r>
              <a:rPr sz="1600" b="1">
                <a:solidFill>
                  <a:srgbClr val="52514E"/>
                </a:solidFill>
              </a:rPr>
              <a:t>Refusal score: </a:t>
            </a:r>
            <a:r>
              <a:rPr sz="1600" b="0">
                <a:solidFill>
                  <a:srgbClr val="52514E"/>
                </a:solidFill>
              </a:rPr>
              <a:t>log-odds that the reply starts with a refusal token.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we found</a:t>
            </a:r>
          </a:p>
        </p:txBody>
      </p:sp>
      <p:sp>
        <p:nvSpPr>
          <p:cNvPr id="3" name="Slide number"/>
          <p:cNvSpPr txBox="1"/>
          <p:nvPr/>
        </p:nvSpPr>
        <p:spPr>
          <a:xfrm>
            <a:off x="10728655" y="6400800"/>
            <a:ext cx="914400" cy="228600"/>
          </a:xfrm>
          <a:prstGeom prst="rect">
            <a:avLst/>
          </a:prstGeom>
          <a:noFill/>
        </p:spPr>
        <p:txBody>
          <a:bodyPr wrap="none" lIns="0" tIns="0" rIns="0" bIns="0">
            <a:spAutoFit/>
          </a:bodyPr>
          <a:lstStyle/>
          <a:p>
            <a:pPr algn="r"/>
            <a:fld id="{6F1B2D7E-4C3A-4E8B-9D21-7A5C0E3B9F14}" type="slidenum">
              <a:rPr lang="en-US" sz="1000">
                <a:solidFill>
                  <a:srgbClr val="898781"/>
                </a:solidFill>
              </a:rPr>
              <a:t>10</a:t>
            </a:fld>
            <a:endParaRPr lang="en-US" sz="1000">
              <a:solidFill>
                <a:srgbClr val="898781"/>
              </a:solidFill>
            </a:endParaRPr>
          </a:p>
        </p:txBody>
      </p:sp>
      <p:sp>
        <p:nvSpPr>
          <p:cNvPr id="4" name="Finding 1 number"/>
          <p:cNvSpPr txBox="1"/>
          <p:nvPr/>
        </p:nvSpPr>
        <p:spPr>
          <a:xfrm>
            <a:off x="548640" y="1508760"/>
            <a:ext cx="457200" cy="457200"/>
          </a:xfrm>
          <a:prstGeom prst="rect">
            <a:avLst/>
          </a:prstGeom>
          <a:noFill/>
        </p:spPr>
        <p:txBody>
          <a:bodyPr wrap="square" lIns="0" tIns="0" rIns="0" bIns="0" anchor="t">
            <a:noAutofit/>
          </a:bodyPr>
          <a:lstStyle/>
          <a:p>
            <a:pPr algn="l">
              <a:spcAft>
                <a:spcPts val="600"/>
              </a:spcAft>
            </a:pPr>
            <a:r>
              <a:rPr sz="2400" b="1">
                <a:solidFill>
                  <a:srgbClr val="000000"/>
                </a:solidFill>
              </a:rPr>
              <a:t>1</a:t>
            </a:r>
          </a:p>
        </p:txBody>
      </p:sp>
      <p:sp>
        <p:nvSpPr>
          <p:cNvPr id="5" name="Finding 1"/>
          <p:cNvSpPr txBox="1"/>
          <p:nvPr/>
        </p:nvSpPr>
        <p:spPr>
          <a:xfrm>
            <a:off x="1097280" y="1554480"/>
            <a:ext cx="9265615" cy="685800"/>
          </a:xfrm>
          <a:prstGeom prst="rect">
            <a:avLst/>
          </a:prstGeom>
          <a:noFill/>
        </p:spPr>
        <p:txBody>
          <a:bodyPr wrap="square" lIns="0" tIns="0" rIns="0" bIns="0" anchor="t">
            <a:noAutofit/>
          </a:bodyPr>
          <a:lstStyle/>
          <a:p>
            <a:pPr algn="l">
              <a:spcAft>
                <a:spcPts val="0"/>
              </a:spcAft>
            </a:pPr>
            <a:r>
              <a:rPr sz="1800" b="1">
                <a:solidFill>
                  <a:srgbClr val="000000"/>
                </a:solidFill>
              </a:rPr>
              <a:t>The refusal direction is party-blind; the claims aren’t. </a:t>
            </a:r>
            <a:r>
              <a:rPr sz="1800" b="0">
                <a:solidFill>
                  <a:srgbClr val="52514E"/>
                </a:solidFill>
              </a:rPr>
              <a:t>It causes refusal equally for every asker, but other-side claims sit closer to refusal along it.</a:t>
            </a:r>
          </a:p>
        </p:txBody>
      </p:sp>
      <p:sp>
        <p:nvSpPr>
          <p:cNvPr id="6" name="Finding 1 slide"/>
          <p:cNvSpPr txBox="1"/>
          <p:nvPr/>
        </p:nvSpPr>
        <p:spPr>
          <a:xfrm>
            <a:off x="10362895" y="1581912"/>
            <a:ext cx="1280160" cy="320040"/>
          </a:xfrm>
          <a:prstGeom prst="rect">
            <a:avLst/>
          </a:prstGeom>
          <a:noFill/>
        </p:spPr>
        <p:txBody>
          <a:bodyPr wrap="square" lIns="0" tIns="0" rIns="0" bIns="0" anchor="t">
            <a:noAutofit/>
          </a:bodyPr>
          <a:lstStyle/>
          <a:p>
            <a:pPr algn="r">
              <a:spcAft>
                <a:spcPts val="0"/>
              </a:spcAft>
            </a:pPr>
            <a:r>
              <a:rPr sz="1400" b="0">
                <a:solidFill>
                  <a:srgbClr val="898781"/>
                </a:solidFill>
              </a:rPr>
              <a:t>slide 33</a:t>
            </a:r>
          </a:p>
        </p:txBody>
      </p:sp>
      <p:sp>
        <p:nvSpPr>
          <p:cNvPr id="7" name="Finding 2 number"/>
          <p:cNvSpPr txBox="1"/>
          <p:nvPr/>
        </p:nvSpPr>
        <p:spPr>
          <a:xfrm>
            <a:off x="548640" y="2267712"/>
            <a:ext cx="457200" cy="457200"/>
          </a:xfrm>
          <a:prstGeom prst="rect">
            <a:avLst/>
          </a:prstGeom>
          <a:noFill/>
        </p:spPr>
        <p:txBody>
          <a:bodyPr wrap="square" lIns="0" tIns="0" rIns="0" bIns="0" anchor="t">
            <a:noAutofit/>
          </a:bodyPr>
          <a:lstStyle/>
          <a:p>
            <a:pPr algn="l">
              <a:spcAft>
                <a:spcPts val="600"/>
              </a:spcAft>
            </a:pPr>
            <a:r>
              <a:rPr sz="2400" b="1">
                <a:solidFill>
                  <a:srgbClr val="000000"/>
                </a:solidFill>
              </a:rPr>
              <a:t>2</a:t>
            </a:r>
          </a:p>
        </p:txBody>
      </p:sp>
      <p:sp>
        <p:nvSpPr>
          <p:cNvPr id="8" name="Finding 2"/>
          <p:cNvSpPr txBox="1"/>
          <p:nvPr/>
        </p:nvSpPr>
        <p:spPr>
          <a:xfrm>
            <a:off x="1097280" y="2313432"/>
            <a:ext cx="9265615" cy="685800"/>
          </a:xfrm>
          <a:prstGeom prst="rect">
            <a:avLst/>
          </a:prstGeom>
          <a:noFill/>
        </p:spPr>
        <p:txBody>
          <a:bodyPr wrap="square" lIns="0" tIns="0" rIns="0" bIns="0" anchor="t">
            <a:noAutofit/>
          </a:bodyPr>
          <a:lstStyle/>
          <a:p>
            <a:pPr algn="l">
              <a:spcAft>
                <a:spcPts val="0"/>
              </a:spcAft>
            </a:pPr>
            <a:r>
              <a:rPr sz="1800" b="1">
                <a:solidFill>
                  <a:srgbClr val="000000"/>
                </a:solidFill>
              </a:rPr>
              <a:t>No party gap, but an own-side bias. </a:t>
            </a:r>
            <a:r>
              <a:rPr sz="1800" b="0">
                <a:solidFill>
                  <a:srgbClr val="52514E"/>
                </a:solidFill>
              </a:rPr>
              <a:t>Own-side requests get the content 7–15 points more often than other-side ones, in both models and under both judges.</a:t>
            </a:r>
          </a:p>
        </p:txBody>
      </p:sp>
      <p:sp>
        <p:nvSpPr>
          <p:cNvPr id="9" name="Finding 2 slide"/>
          <p:cNvSpPr txBox="1"/>
          <p:nvPr/>
        </p:nvSpPr>
        <p:spPr>
          <a:xfrm>
            <a:off x="10362895" y="2340863"/>
            <a:ext cx="1280160" cy="320040"/>
          </a:xfrm>
          <a:prstGeom prst="rect">
            <a:avLst/>
          </a:prstGeom>
          <a:noFill/>
        </p:spPr>
        <p:txBody>
          <a:bodyPr wrap="square" lIns="0" tIns="0" rIns="0" bIns="0" anchor="t">
            <a:noAutofit/>
          </a:bodyPr>
          <a:lstStyle/>
          <a:p>
            <a:pPr algn="r">
              <a:spcAft>
                <a:spcPts val="0"/>
              </a:spcAft>
            </a:pPr>
            <a:r>
              <a:rPr sz="1400" b="0">
                <a:solidFill>
                  <a:srgbClr val="898781"/>
                </a:solidFill>
              </a:rPr>
              <a:t>slide 13</a:t>
            </a:r>
          </a:p>
        </p:txBody>
      </p:sp>
      <p:sp>
        <p:nvSpPr>
          <p:cNvPr id="10" name="Finding 3 number"/>
          <p:cNvSpPr txBox="1"/>
          <p:nvPr/>
        </p:nvSpPr>
        <p:spPr>
          <a:xfrm>
            <a:off x="548640" y="3026664"/>
            <a:ext cx="457200" cy="457200"/>
          </a:xfrm>
          <a:prstGeom prst="rect">
            <a:avLst/>
          </a:prstGeom>
          <a:noFill/>
        </p:spPr>
        <p:txBody>
          <a:bodyPr wrap="square" lIns="0" tIns="0" rIns="0" bIns="0" anchor="t">
            <a:noAutofit/>
          </a:bodyPr>
          <a:lstStyle/>
          <a:p>
            <a:pPr algn="l">
              <a:spcAft>
                <a:spcPts val="600"/>
              </a:spcAft>
            </a:pPr>
            <a:r>
              <a:rPr sz="2400" b="1">
                <a:solidFill>
                  <a:srgbClr val="000000"/>
                </a:solidFill>
              </a:rPr>
              <a:t>3</a:t>
            </a:r>
          </a:p>
        </p:txBody>
      </p:sp>
      <p:sp>
        <p:nvSpPr>
          <p:cNvPr id="11" name="Finding 3"/>
          <p:cNvSpPr txBox="1"/>
          <p:nvPr/>
        </p:nvSpPr>
        <p:spPr>
          <a:xfrm>
            <a:off x="1097280" y="3072384"/>
            <a:ext cx="9265615" cy="685800"/>
          </a:xfrm>
          <a:prstGeom prst="rect">
            <a:avLst/>
          </a:prstGeom>
          <a:noFill/>
        </p:spPr>
        <p:txBody>
          <a:bodyPr wrap="square" lIns="0" tIns="0" rIns="0" bIns="0" anchor="t">
            <a:noAutofit/>
          </a:bodyPr>
          <a:lstStyle/>
          <a:p>
            <a:pPr algn="l">
              <a:spcAft>
                <a:spcPts val="0"/>
              </a:spcAft>
            </a:pPr>
            <a:r>
              <a:rPr sz="1800" b="1">
                <a:solidFill>
                  <a:srgbClr val="000000"/>
                </a:solidFill>
              </a:rPr>
              <a:t>A party label acts like any identity. </a:t>
            </a:r>
            <a:r>
              <a:rPr sz="1800" b="0">
                <a:solidFill>
                  <a:srgbClr val="52514E"/>
                </a:solidFill>
              </a:rPr>
              <a:t>“I’m a Lakers fan” lowers help about as much as naming a party.</a:t>
            </a:r>
          </a:p>
        </p:txBody>
      </p:sp>
      <p:sp>
        <p:nvSpPr>
          <p:cNvPr id="12" name="Finding 3 slide"/>
          <p:cNvSpPr txBox="1"/>
          <p:nvPr/>
        </p:nvSpPr>
        <p:spPr>
          <a:xfrm>
            <a:off x="10362895" y="3099815"/>
            <a:ext cx="1280160" cy="320040"/>
          </a:xfrm>
          <a:prstGeom prst="rect">
            <a:avLst/>
          </a:prstGeom>
          <a:noFill/>
        </p:spPr>
        <p:txBody>
          <a:bodyPr wrap="square" lIns="0" tIns="0" rIns="0" bIns="0" anchor="t">
            <a:noAutofit/>
          </a:bodyPr>
          <a:lstStyle/>
          <a:p>
            <a:pPr algn="r">
              <a:spcAft>
                <a:spcPts val="0"/>
              </a:spcAft>
            </a:pPr>
            <a:r>
              <a:rPr sz="1400" b="0">
                <a:solidFill>
                  <a:srgbClr val="898781"/>
                </a:solidFill>
              </a:rPr>
              <a:t>slide 19</a:t>
            </a:r>
          </a:p>
        </p:txBody>
      </p:sp>
      <p:sp>
        <p:nvSpPr>
          <p:cNvPr id="13" name="Finding 4 number"/>
          <p:cNvSpPr txBox="1"/>
          <p:nvPr/>
        </p:nvSpPr>
        <p:spPr>
          <a:xfrm>
            <a:off x="548640" y="3785615"/>
            <a:ext cx="457200" cy="457200"/>
          </a:xfrm>
          <a:prstGeom prst="rect">
            <a:avLst/>
          </a:prstGeom>
          <a:noFill/>
        </p:spPr>
        <p:txBody>
          <a:bodyPr wrap="square" lIns="0" tIns="0" rIns="0" bIns="0" anchor="t">
            <a:noAutofit/>
          </a:bodyPr>
          <a:lstStyle/>
          <a:p>
            <a:pPr algn="l">
              <a:spcAft>
                <a:spcPts val="600"/>
              </a:spcAft>
            </a:pPr>
            <a:r>
              <a:rPr sz="2400" b="1">
                <a:solidFill>
                  <a:srgbClr val="000000"/>
                </a:solidFill>
              </a:rPr>
              <a:t>4</a:t>
            </a:r>
          </a:p>
        </p:txBody>
      </p:sp>
      <p:sp>
        <p:nvSpPr>
          <p:cNvPr id="14" name="Finding 4"/>
          <p:cNvSpPr txBox="1"/>
          <p:nvPr/>
        </p:nvSpPr>
        <p:spPr>
          <a:xfrm>
            <a:off x="1097280" y="3831335"/>
            <a:ext cx="9265615" cy="685800"/>
          </a:xfrm>
          <a:prstGeom prst="rect">
            <a:avLst/>
          </a:prstGeom>
          <a:noFill/>
        </p:spPr>
        <p:txBody>
          <a:bodyPr wrap="square" lIns="0" tIns="0" rIns="0" bIns="0" anchor="t">
            <a:noAutofit/>
          </a:bodyPr>
          <a:lstStyle/>
          <a:p>
            <a:pPr algn="l">
              <a:spcAft>
                <a:spcPts val="0"/>
              </a:spcAft>
            </a:pPr>
            <a:r>
              <a:rPr sz="1800" b="1">
                <a:solidFill>
                  <a:srgbClr val="000000"/>
                </a:solidFill>
              </a:rPr>
              <a:t>The gap appears mid-network. </a:t>
            </a:r>
            <a:r>
              <a:rPr sz="1800" b="0">
                <a:solidFill>
                  <a:srgbClr val="52514E"/>
                </a:solidFill>
              </a:rPr>
              <a:t>Who is asking registers early; whose claim it is switches on where the refusal direction starts to work.</a:t>
            </a:r>
          </a:p>
        </p:txBody>
      </p:sp>
      <p:sp>
        <p:nvSpPr>
          <p:cNvPr id="15" name="Finding 4 slide"/>
          <p:cNvSpPr txBox="1"/>
          <p:nvPr/>
        </p:nvSpPr>
        <p:spPr>
          <a:xfrm>
            <a:off x="10362895" y="3858768"/>
            <a:ext cx="1280160" cy="320040"/>
          </a:xfrm>
          <a:prstGeom prst="rect">
            <a:avLst/>
          </a:prstGeom>
          <a:noFill/>
        </p:spPr>
        <p:txBody>
          <a:bodyPr wrap="square" lIns="0" tIns="0" rIns="0" bIns="0" anchor="t">
            <a:noAutofit/>
          </a:bodyPr>
          <a:lstStyle/>
          <a:p>
            <a:pPr algn="r">
              <a:spcAft>
                <a:spcPts val="0"/>
              </a:spcAft>
            </a:pPr>
            <a:r>
              <a:rPr sz="1400" b="0">
                <a:solidFill>
                  <a:srgbClr val="898781"/>
                </a:solidFill>
              </a:rPr>
              <a:t>slide 21</a:t>
            </a:r>
          </a:p>
        </p:txBody>
      </p:sp>
      <p:sp>
        <p:nvSpPr>
          <p:cNvPr id="16" name="Finding 5 number"/>
          <p:cNvSpPr txBox="1"/>
          <p:nvPr/>
        </p:nvSpPr>
        <p:spPr>
          <a:xfrm>
            <a:off x="548640" y="4544568"/>
            <a:ext cx="457200" cy="457200"/>
          </a:xfrm>
          <a:prstGeom prst="rect">
            <a:avLst/>
          </a:prstGeom>
          <a:noFill/>
        </p:spPr>
        <p:txBody>
          <a:bodyPr wrap="square" lIns="0" tIns="0" rIns="0" bIns="0" anchor="t">
            <a:noAutofit/>
          </a:bodyPr>
          <a:lstStyle/>
          <a:p>
            <a:pPr algn="l">
              <a:spcAft>
                <a:spcPts val="600"/>
              </a:spcAft>
            </a:pPr>
            <a:r>
              <a:rPr sz="2400" b="1">
                <a:solidFill>
                  <a:srgbClr val="000000"/>
                </a:solidFill>
              </a:rPr>
              <a:t>5</a:t>
            </a:r>
          </a:p>
        </p:txBody>
      </p:sp>
      <p:sp>
        <p:nvSpPr>
          <p:cNvPr id="17" name="Finding 5"/>
          <p:cNvSpPr txBox="1"/>
          <p:nvPr/>
        </p:nvSpPr>
        <p:spPr>
          <a:xfrm>
            <a:off x="1097280" y="4590288"/>
            <a:ext cx="9265615" cy="685800"/>
          </a:xfrm>
          <a:prstGeom prst="rect">
            <a:avLst/>
          </a:prstGeom>
          <a:noFill/>
        </p:spPr>
        <p:txBody>
          <a:bodyPr wrap="square" lIns="0" tIns="0" rIns="0" bIns="0" anchor="t">
            <a:noAutofit/>
          </a:bodyPr>
          <a:lstStyle/>
          <a:p>
            <a:pPr algn="l">
              <a:spcAft>
                <a:spcPts val="0"/>
              </a:spcAft>
            </a:pPr>
            <a:r>
              <a:rPr sz="1800" b="1">
                <a:solidFill>
                  <a:srgbClr val="000000"/>
                </a:solidFill>
              </a:rPr>
              <a:t>Llama’s gap runs through the refusal direction; Qwen’s mostly doesn’t. </a:t>
            </a:r>
            <a:r>
              <a:rPr sz="1800" b="0">
                <a:solidFill>
                  <a:srgbClr val="52514E"/>
                </a:solidFill>
              </a:rPr>
              <a:t>A 2× shift closes Llama’s gap; Qwen also uses a second direction for whose claim it is.</a:t>
            </a:r>
          </a:p>
        </p:txBody>
      </p:sp>
      <p:sp>
        <p:nvSpPr>
          <p:cNvPr id="18" name="Finding 5 slide"/>
          <p:cNvSpPr txBox="1"/>
          <p:nvPr/>
        </p:nvSpPr>
        <p:spPr>
          <a:xfrm>
            <a:off x="10362895" y="4617720"/>
            <a:ext cx="1280160" cy="320040"/>
          </a:xfrm>
          <a:prstGeom prst="rect">
            <a:avLst/>
          </a:prstGeom>
          <a:noFill/>
        </p:spPr>
        <p:txBody>
          <a:bodyPr wrap="square" lIns="0" tIns="0" rIns="0" bIns="0" anchor="t">
            <a:noAutofit/>
          </a:bodyPr>
          <a:lstStyle/>
          <a:p>
            <a:pPr algn="r">
              <a:spcAft>
                <a:spcPts val="0"/>
              </a:spcAft>
            </a:pPr>
            <a:r>
              <a:rPr sz="1400" b="0">
                <a:solidFill>
                  <a:srgbClr val="898781"/>
                </a:solidFill>
              </a:rPr>
              <a:t>slide 24</a:t>
            </a:r>
          </a:p>
        </p:txBody>
      </p:sp>
      <p:sp>
        <p:nvSpPr>
          <p:cNvPr id="19" name="Finding 6 number"/>
          <p:cNvSpPr txBox="1"/>
          <p:nvPr/>
        </p:nvSpPr>
        <p:spPr>
          <a:xfrm>
            <a:off x="548640" y="5303520"/>
            <a:ext cx="457200" cy="457200"/>
          </a:xfrm>
          <a:prstGeom prst="rect">
            <a:avLst/>
          </a:prstGeom>
          <a:noFill/>
        </p:spPr>
        <p:txBody>
          <a:bodyPr wrap="square" lIns="0" tIns="0" rIns="0" bIns="0" anchor="t">
            <a:noAutofit/>
          </a:bodyPr>
          <a:lstStyle/>
          <a:p>
            <a:pPr algn="l">
              <a:spcAft>
                <a:spcPts val="600"/>
              </a:spcAft>
            </a:pPr>
            <a:r>
              <a:rPr sz="2400" b="1">
                <a:solidFill>
                  <a:srgbClr val="000000"/>
                </a:solidFill>
              </a:rPr>
              <a:t>6</a:t>
            </a:r>
          </a:p>
        </p:txBody>
      </p:sp>
      <p:sp>
        <p:nvSpPr>
          <p:cNvPr id="20" name="Finding 6"/>
          <p:cNvSpPr txBox="1"/>
          <p:nvPr/>
        </p:nvSpPr>
        <p:spPr>
          <a:xfrm>
            <a:off x="1097280" y="5349240"/>
            <a:ext cx="9265615" cy="685800"/>
          </a:xfrm>
          <a:prstGeom prst="rect">
            <a:avLst/>
          </a:prstGeom>
          <a:noFill/>
        </p:spPr>
        <p:txBody>
          <a:bodyPr wrap="square" lIns="0" tIns="0" rIns="0" bIns="0" anchor="t">
            <a:noAutofit/>
          </a:bodyPr>
          <a:lstStyle/>
          <a:p>
            <a:pPr algn="l">
              <a:spcAft>
                <a:spcPts val="0"/>
              </a:spcAft>
            </a:pPr>
            <a:r>
              <a:rPr sz="1800" b="1">
                <a:solidFill>
                  <a:srgbClr val="000000"/>
                </a:solidFill>
              </a:rPr>
              <a:t>In Chinese, Qwen censors more, and not through refusal. </a:t>
            </a:r>
            <a:r>
              <a:rPr sz="1800" b="0">
                <a:solidFill>
                  <a:srgbClr val="52514E"/>
                </a:solidFill>
              </a:rPr>
              <a:t>21% → 62% of China-sensitive requests, mostly official-line answers.</a:t>
            </a:r>
          </a:p>
        </p:txBody>
      </p:sp>
      <p:sp>
        <p:nvSpPr>
          <p:cNvPr id="21" name="Finding 6 slide"/>
          <p:cNvSpPr txBox="1"/>
          <p:nvPr/>
        </p:nvSpPr>
        <p:spPr>
          <a:xfrm>
            <a:off x="10362895" y="5376672"/>
            <a:ext cx="1280160" cy="320040"/>
          </a:xfrm>
          <a:prstGeom prst="rect">
            <a:avLst/>
          </a:prstGeom>
          <a:noFill/>
        </p:spPr>
        <p:txBody>
          <a:bodyPr wrap="square" lIns="0" tIns="0" rIns="0" bIns="0" anchor="t">
            <a:noAutofit/>
          </a:bodyPr>
          <a:lstStyle/>
          <a:p>
            <a:pPr algn="r">
              <a:spcAft>
                <a:spcPts val="0"/>
              </a:spcAft>
            </a:pPr>
            <a:r>
              <a:rPr sz="1400" b="0">
                <a:solidFill>
                  <a:srgbClr val="898781"/>
                </a:solidFill>
              </a:rPr>
              <a:t>slide 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No party gap: the models favor the asker’s own side</a:t>
            </a:r>
          </a:p>
        </p:txBody>
      </p:sp>
      <p:sp>
        <p:nvSpPr>
          <p:cNvPr id="3" name="Slide number"/>
          <p:cNvSpPr txBox="1"/>
          <p:nvPr/>
        </p:nvSpPr>
        <p:spPr>
          <a:xfrm>
            <a:off x="10728655" y="6400800"/>
            <a:ext cx="914400" cy="228600"/>
          </a:xfrm>
          <a:prstGeom prst="rect">
            <a:avLst/>
          </a:prstGeom>
          <a:noFill/>
        </p:spPr>
        <p:txBody>
          <a:bodyPr wrap="none" lIns="0" tIns="0" rIns="0" bIns="0">
            <a:spAutoFit/>
          </a:bodyPr>
          <a:lstStyle/>
          <a:p>
            <a:pPr algn="r"/>
            <a:fld id="{6F1B2D7E-4C3A-4E8B-9D21-7A5C0E3B9F14}" type="slidenum">
              <a:rPr lang="en-US" sz="1000">
                <a:solidFill>
                  <a:srgbClr val="898781"/>
                </a:solidFill>
              </a:rPr>
              <a:t>11</a:t>
            </a:fld>
            <a:endParaRPr lang="en-US" sz="1000">
              <a:solidFill>
                <a:srgbClr val="898781"/>
              </a:solidFill>
            </a:endParaRPr>
          </a:p>
        </p:txBody>
      </p:sp>
      <p:pic>
        <p:nvPicPr>
          <p:cNvPr id="4" name="slide_headline.png" descr="Dumbbell chart: did-the-task rates, Democrat vs Republican and own side vs other side, for Qwen2.5-7B and Llama-3.1-8B under both judges."/>
          <p:cNvPicPr>
            <a:picLocks noChangeAspect="1"/>
          </p:cNvPicPr>
          <p:nvPr/>
        </p:nvPicPr>
        <p:blipFill>
          <a:blip r:embed="rId3"/>
          <a:stretch>
            <a:fillRect/>
          </a:stretch>
        </p:blipFill>
        <p:spPr>
          <a:xfrm>
            <a:off x="548640" y="1601101"/>
            <a:ext cx="11094415" cy="4006316"/>
          </a:xfrm>
          <a:prstGeom prst="rect">
            <a:avLst/>
          </a:prstGeom>
        </p:spPr>
      </p:pic>
      <p:sp>
        <p:nvSpPr>
          <p:cNvPr id="5" name="Caption"/>
          <p:cNvSpPr txBox="1"/>
          <p:nvPr/>
        </p:nvSpPr>
        <p:spPr>
          <a:xfrm>
            <a:off x="548640" y="5790298"/>
            <a:ext cx="11094415" cy="243840"/>
          </a:xfrm>
          <a:prstGeom prst="rect">
            <a:avLst/>
          </a:prstGeom>
          <a:noFill/>
        </p:spPr>
        <p:txBody>
          <a:bodyPr wrap="square" anchor="t" lIns="0" rIns="0" tIns="0" bIns="0">
            <a:noAutofit/>
          </a:bodyPr>
          <a:lstStyle/>
          <a:p>
            <a:pPr algn="l">
              <a:spcAft>
                <a:spcPts val="0"/>
              </a:spcAft>
            </a:pPr>
            <a:r>
              <a:rPr sz="1600" b="0">
                <a:solidFill>
                  <a:srgbClr val="52514E"/>
                </a:solidFill>
              </a:rPr>
              <a:t>Inside the model: Llama’s gap runs through the refusal direction (a 2× shift closes it); Qwen’s mostly doesn’t.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Lakers fan is treated like a partisan</a:t>
            </a:r>
          </a:p>
        </p:txBody>
      </p:sp>
      <p:sp>
        <p:nvSpPr>
          <p:cNvPr id="3" name="Slide number"/>
          <p:cNvSpPr txBox="1"/>
          <p:nvPr/>
        </p:nvSpPr>
        <p:spPr>
          <a:xfrm>
            <a:off x="10728655" y="6400800"/>
            <a:ext cx="914400" cy="228600"/>
          </a:xfrm>
          <a:prstGeom prst="rect">
            <a:avLst/>
          </a:prstGeom>
          <a:noFill/>
        </p:spPr>
        <p:txBody>
          <a:bodyPr wrap="none" lIns="0" tIns="0" rIns="0" bIns="0">
            <a:spAutoFit/>
          </a:bodyPr>
          <a:lstStyle/>
          <a:p>
            <a:pPr algn="r"/>
            <a:fld id="{6F1B2D7E-4C3A-4E8B-9D21-7A5C0E3B9F14}" type="slidenum">
              <a:rPr lang="en-US" sz="1000">
                <a:solidFill>
                  <a:srgbClr val="898781"/>
                </a:solidFill>
              </a:rPr>
              <a:t>12</a:t>
            </a:fld>
            <a:endParaRPr lang="en-US" sz="1000">
              <a:solidFill>
                <a:srgbClr val="898781"/>
              </a:solidFill>
            </a:endParaRPr>
          </a:p>
        </p:txBody>
      </p:sp>
      <p:pic>
        <p:nvPicPr>
          <p:cNvPr id="4" name="slide_identity.png" descr="Each stated identity minus 'I'm a voter', with 95% intervals, for both models and judges."/>
          <p:cNvPicPr>
            <a:picLocks noChangeAspect="1"/>
          </p:cNvPicPr>
          <p:nvPr/>
        </p:nvPicPr>
        <p:blipFill>
          <a:blip r:embed="rId3"/>
          <a:stretch>
            <a:fillRect/>
          </a:stretch>
        </p:blipFill>
        <p:spPr>
          <a:xfrm>
            <a:off x="548640" y="1703827"/>
            <a:ext cx="11094415" cy="3800864"/>
          </a:xfrm>
          <a:prstGeom prst="rect">
            <a:avLst/>
          </a:prstGeom>
        </p:spPr>
      </p:pic>
      <p:sp>
        <p:nvSpPr>
          <p:cNvPr id="5" name="Caption"/>
          <p:cNvSpPr txBox="1"/>
          <p:nvPr/>
        </p:nvSpPr>
        <p:spPr>
          <a:xfrm>
            <a:off x="548640" y="5687572"/>
            <a:ext cx="11094415" cy="243840"/>
          </a:xfrm>
          <a:prstGeom prst="rect">
            <a:avLst/>
          </a:prstGeom>
          <a:noFill/>
        </p:spPr>
        <p:txBody>
          <a:bodyPr wrap="square" lIns="0" tIns="0" rIns="0" bIns="0" anchor="t">
            <a:noAutofit/>
          </a:bodyPr>
          <a:lstStyle/>
          <a:p>
            <a:pPr algn="l">
              <a:spcAft>
                <a:spcPts val="0"/>
              </a:spcAft>
            </a:pPr>
            <a:r>
              <a:rPr sz="1600" b="0">
                <a:solidFill>
                  <a:srgbClr val="52514E"/>
                </a:solidFill>
              </a:rPr>
              <a:t>Lakers fan minus voter: −11 (Qwen) and −4 points (Llama) under Llama Guard, −12 in both under Claude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refusal direction: layer 19 in Qwen, 13 in Llama</a:t>
            </a:r>
          </a:p>
        </p:txBody>
      </p:sp>
      <p:sp>
        <p:nvSpPr>
          <p:cNvPr id="3" name="Slide number"/>
          <p:cNvSpPr txBox="1"/>
          <p:nvPr/>
        </p:nvSpPr>
        <p:spPr>
          <a:xfrm>
            <a:off x="10728655" y="6400800"/>
            <a:ext cx="914400" cy="228600"/>
          </a:xfrm>
          <a:prstGeom prst="rect">
            <a:avLst/>
          </a:prstGeom>
          <a:noFill/>
        </p:spPr>
        <p:txBody>
          <a:bodyPr wrap="none" lIns="0" tIns="0" rIns="0" bIns="0">
            <a:spAutoFit/>
          </a:bodyPr>
          <a:lstStyle/>
          <a:p>
            <a:pPr algn="r"/>
            <a:fld id="{6F1B2D7E-4C3A-4E8B-9D21-7A5C0E3B9F14}" type="slidenum">
              <a:rPr lang="en-US" sz="1000">
                <a:solidFill>
                  <a:srgbClr val="898781"/>
                </a:solidFill>
              </a:rPr>
              <a:t>13</a:t>
            </a:fld>
            <a:endParaRPr lang="en-US" sz="1000">
              <a:solidFill>
                <a:srgbClr val="898781"/>
              </a:solidFill>
            </a:endParaRPr>
          </a:p>
        </p:txBody>
      </p:sp>
      <p:pic>
        <p:nvPicPr>
          <p:cNvPr id="4" name="refusal_curve.png" descr="Refusal curve: ablation score of every candidate direction by layer, with the chosen layer marked, for both models."/>
          <p:cNvPicPr>
            <a:picLocks noChangeAspect="1"/>
          </p:cNvPicPr>
          <p:nvPr/>
        </p:nvPicPr>
        <p:blipFill>
          <a:blip r:embed="rId3"/>
          <a:stretch>
            <a:fillRect/>
          </a:stretch>
        </p:blipFill>
        <p:spPr>
          <a:xfrm>
            <a:off x="938932" y="1371600"/>
            <a:ext cx="6443174" cy="4892040"/>
          </a:xfrm>
          <a:prstGeom prst="rect">
            <a:avLst/>
          </a:prstGeom>
        </p:spPr>
      </p:pic>
      <p:sp>
        <p:nvSpPr>
          <p:cNvPr id="5" name="TextBox 4"/>
          <p:cNvSpPr txBox="1"/>
          <p:nvPr/>
        </p:nvSpPr>
        <p:spPr>
          <a:xfrm>
            <a:off x="8229600" y="1554480"/>
            <a:ext cx="3413455" cy="365759"/>
          </a:xfrm>
          <a:prstGeom prst="rect">
            <a:avLst/>
          </a:prstGeom>
          <a:noFill/>
        </p:spPr>
        <p:txBody>
          <a:bodyPr wrap="square" lIns="0" tIns="0" rIns="0" bIns="0" anchor="t">
            <a:noAutofit/>
          </a:bodyPr>
          <a:lstStyle/>
          <a:p>
            <a:pPr algn="l">
              <a:spcAft>
                <a:spcPts val="0"/>
              </a:spcAft>
            </a:pPr>
            <a:r>
              <a:rPr sz="2400" b="1">
                <a:solidFill>
                  <a:srgbClr val="000000"/>
                </a:solidFill>
              </a:rPr>
              <a:t>Layer 19 of 28</a:t>
            </a:r>
          </a:p>
        </p:txBody>
      </p:sp>
      <p:sp>
        <p:nvSpPr>
          <p:cNvPr id="6" name="TextBox 5"/>
          <p:cNvSpPr txBox="1"/>
          <p:nvPr/>
        </p:nvSpPr>
        <p:spPr>
          <a:xfrm>
            <a:off x="8229600" y="1935480"/>
            <a:ext cx="3413455" cy="685800"/>
          </a:xfrm>
          <a:prstGeom prst="rect">
            <a:avLst/>
          </a:prstGeom>
          <a:noFill/>
        </p:spPr>
        <p:txBody>
          <a:bodyPr wrap="square" lIns="0" tIns="0" rIns="0" bIns="0" anchor="t">
            <a:noAutofit/>
          </a:bodyPr>
          <a:lstStyle/>
          <a:p>
            <a:pPr algn="l">
              <a:spcAft>
                <a:spcPts val="0"/>
              </a:spcAft>
            </a:pPr>
            <a:r>
              <a:rPr sz="1400" b="0">
                <a:solidFill>
                  <a:srgbClr val="52514E"/>
                </a:solidFill>
              </a:rPr>
              <a:t>Qwen2.5-7B; stronger candidates all fail the KL &lt; 0.1 filter</a:t>
            </a:r>
          </a:p>
        </p:txBody>
      </p:sp>
      <p:sp>
        <p:nvSpPr>
          <p:cNvPr id="7" name="TextBox 6"/>
          <p:cNvSpPr txBox="1"/>
          <p:nvPr/>
        </p:nvSpPr>
        <p:spPr>
          <a:xfrm>
            <a:off x="8229600" y="2743200"/>
            <a:ext cx="3413455" cy="365759"/>
          </a:xfrm>
          <a:prstGeom prst="rect">
            <a:avLst/>
          </a:prstGeom>
          <a:noFill/>
        </p:spPr>
        <p:txBody>
          <a:bodyPr wrap="square" lIns="0" tIns="0" rIns="0" bIns="0" anchor="t">
            <a:noAutofit/>
          </a:bodyPr>
          <a:lstStyle/>
          <a:p>
            <a:pPr algn="l">
              <a:spcAft>
                <a:spcPts val="0"/>
              </a:spcAft>
            </a:pPr>
            <a:r>
              <a:rPr sz="2400" b="1">
                <a:solidFill>
                  <a:srgbClr val="000000"/>
                </a:solidFill>
              </a:rPr>
              <a:t>Layer 13 of 32</a:t>
            </a:r>
          </a:p>
        </p:txBody>
      </p:sp>
      <p:sp>
        <p:nvSpPr>
          <p:cNvPr id="8" name="TextBox 7"/>
          <p:cNvSpPr txBox="1"/>
          <p:nvPr/>
        </p:nvSpPr>
        <p:spPr>
          <a:xfrm>
            <a:off x="8229600" y="3124200"/>
            <a:ext cx="3413455" cy="685800"/>
          </a:xfrm>
          <a:prstGeom prst="rect">
            <a:avLst/>
          </a:prstGeom>
          <a:noFill/>
        </p:spPr>
        <p:txBody>
          <a:bodyPr wrap="square" lIns="0" tIns="0" rIns="0" bIns="0" anchor="t">
            <a:noAutofit/>
          </a:bodyPr>
          <a:lstStyle/>
          <a:p>
            <a:pPr algn="l">
              <a:spcAft>
                <a:spcPts val="0"/>
              </a:spcAft>
            </a:pPr>
            <a:r>
              <a:rPr sz="1400" b="0">
                <a:solidFill>
                  <a:srgbClr val="52514E"/>
                </a:solidFill>
              </a:rPr>
              <a:t>Llama-3.1-8B; the strongest of any candidate</a:t>
            </a:r>
          </a:p>
        </p:txBody>
      </p:sp>
      <p:sp>
        <p:nvSpPr>
          <p:cNvPr id="9" name="TextBox 8"/>
          <p:cNvSpPr txBox="1"/>
          <p:nvPr/>
        </p:nvSpPr>
        <p:spPr>
          <a:xfrm>
            <a:off x="8229600" y="3931920"/>
            <a:ext cx="3413455" cy="365759"/>
          </a:xfrm>
          <a:prstGeom prst="rect">
            <a:avLst/>
          </a:prstGeom>
          <a:noFill/>
        </p:spPr>
        <p:txBody>
          <a:bodyPr wrap="square" lIns="0" tIns="0" rIns="0" bIns="0" anchor="t">
            <a:noAutofit/>
          </a:bodyPr>
          <a:lstStyle/>
          <a:p>
            <a:pPr algn="l">
              <a:spcAft>
                <a:spcPts val="0"/>
              </a:spcAft>
            </a:pPr>
            <a:r>
              <a:rPr sz="2400" b="1">
                <a:solidFill>
                  <a:srgbClr val="000000"/>
                </a:solidFill>
              </a:rPr>
              <a:t>92% → 0%, 91% → 0%</a:t>
            </a:r>
          </a:p>
        </p:txBody>
      </p:sp>
      <p:sp>
        <p:nvSpPr>
          <p:cNvPr id="10" name="TextBox 9"/>
          <p:cNvSpPr txBox="1"/>
          <p:nvPr/>
        </p:nvSpPr>
        <p:spPr>
          <a:xfrm>
            <a:off x="8229600" y="4312920"/>
            <a:ext cx="3413455" cy="685800"/>
          </a:xfrm>
          <a:prstGeom prst="rect">
            <a:avLst/>
          </a:prstGeom>
          <a:noFill/>
        </p:spPr>
        <p:txBody>
          <a:bodyPr wrap="square" lIns="0" tIns="0" rIns="0" bIns="0" anchor="t">
            <a:noAutofit/>
          </a:bodyPr>
          <a:lstStyle/>
          <a:p>
            <a:pPr algn="l">
              <a:spcAft>
                <a:spcPts val="0"/>
              </a:spcAft>
            </a:pPr>
            <a:r>
              <a:rPr sz="1400" b="0">
                <a:solidFill>
                  <a:srgbClr val="52514E"/>
                </a:solidFill>
              </a:rPr>
              <a:t>refusal on 64 held-out harmful prompts once the direction is removed</a:t>
            </a:r>
          </a:p>
        </p:txBody>
      </p:sp>
      <p:sp>
        <p:nvSpPr>
          <p:cNvPr id="11" name="TextBox 10"/>
          <p:cNvSpPr txBox="1"/>
          <p:nvPr/>
        </p:nvSpPr>
        <p:spPr>
          <a:xfrm>
            <a:off x="8229600" y="5120640"/>
            <a:ext cx="3413455" cy="365759"/>
          </a:xfrm>
          <a:prstGeom prst="rect">
            <a:avLst/>
          </a:prstGeom>
          <a:noFill/>
        </p:spPr>
        <p:txBody>
          <a:bodyPr wrap="square" lIns="0" tIns="0" rIns="0" bIns="0" anchor="t">
            <a:noAutofit/>
          </a:bodyPr>
          <a:lstStyle/>
          <a:p>
            <a:pPr algn="l">
              <a:spcAft>
                <a:spcPts val="0"/>
              </a:spcAft>
            </a:pPr>
            <a:r>
              <a:rPr sz="2400" b="1">
                <a:solidFill>
                  <a:srgbClr val="000000"/>
                </a:solidFill>
              </a:rPr>
              <a:t>≥ 0.99</a:t>
            </a:r>
          </a:p>
        </p:txBody>
      </p:sp>
      <p:sp>
        <p:nvSpPr>
          <p:cNvPr id="12" name="TextBox 11"/>
          <p:cNvSpPr txBox="1"/>
          <p:nvPr/>
        </p:nvSpPr>
        <p:spPr>
          <a:xfrm>
            <a:off x="8229600" y="5501640"/>
            <a:ext cx="3413455" cy="685800"/>
          </a:xfrm>
          <a:prstGeom prst="rect">
            <a:avLst/>
          </a:prstGeom>
          <a:noFill/>
        </p:spPr>
        <p:txBody>
          <a:bodyPr wrap="square" lIns="0" tIns="0" rIns="0" bIns="0" anchor="t">
            <a:noAutofit/>
          </a:bodyPr>
          <a:lstStyle/>
          <a:p>
            <a:pPr algn="l">
              <a:spcAft>
                <a:spcPts val="0"/>
              </a:spcAft>
            </a:pPr>
            <a:r>
              <a:rPr sz="1400" b="0">
                <a:solidFill>
                  <a:srgbClr val="52514E"/>
                </a:solidFill>
              </a:rPr>
              <a:t>cosine across 100 re-extractions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Who’s asking registers in the first layers</a:t>
            </a:r>
          </a:p>
        </p:txBody>
      </p:sp>
      <p:sp>
        <p:nvSpPr>
          <p:cNvPr id="3" name="Slide number"/>
          <p:cNvSpPr txBox="1"/>
          <p:nvPr/>
        </p:nvSpPr>
        <p:spPr>
          <a:xfrm>
            <a:off x="10728655" y="6400800"/>
            <a:ext cx="914400" cy="228600"/>
          </a:xfrm>
          <a:prstGeom prst="rect">
            <a:avLst/>
          </a:prstGeom>
          <a:noFill/>
        </p:spPr>
        <p:txBody>
          <a:bodyPr wrap="none" lIns="0" tIns="0" rIns="0" bIns="0">
            <a:spAutoFit/>
          </a:bodyPr>
          <a:lstStyle/>
          <a:p>
            <a:pPr algn="r"/>
            <a:fld id="{6F1B2D7E-4C3A-4E8B-9D21-7A5C0E3B9F14}" type="slidenum">
              <a:rPr lang="en-US" sz="1000">
                <a:solidFill>
                  <a:srgbClr val="898781"/>
                </a:solidFill>
              </a:rPr>
              <a:t>14</a:t>
            </a:fld>
            <a:endParaRPr lang="en-US" sz="1000">
              <a:solidFill>
                <a:srgbClr val="898781"/>
              </a:solidFill>
            </a:endParaRPr>
          </a:p>
        </p:txBody>
      </p:sp>
      <p:pic>
        <p:nvPicPr>
          <p:cNvPr id="4" name="slide_party_gap.png" descr="Republican minus Democrat and party minus Lakers fan in refusal-direction projection by layer, stolen-election vs harmless prompts, for both models."/>
          <p:cNvPicPr>
            <a:picLocks noChangeAspect="1"/>
          </p:cNvPicPr>
          <p:nvPr/>
        </p:nvPicPr>
        <p:blipFill>
          <a:blip r:embed="rId3"/>
          <a:stretch>
            <a:fillRect/>
          </a:stretch>
        </p:blipFill>
        <p:spPr>
          <a:xfrm>
            <a:off x="2533973" y="1371600"/>
            <a:ext cx="7123747" cy="4221480"/>
          </a:xfrm>
          <a:prstGeom prst="rect">
            <a:avLst/>
          </a:prstGeom>
        </p:spPr>
      </p:pic>
      <p:sp>
        <p:nvSpPr>
          <p:cNvPr id="5" name="Caption"/>
          <p:cNvSpPr txBox="1"/>
          <p:nvPr/>
        </p:nvSpPr>
        <p:spPr>
          <a:xfrm>
            <a:off x="2533973" y="5775960"/>
            <a:ext cx="7123747" cy="487680"/>
          </a:xfrm>
          <a:prstGeom prst="rect">
            <a:avLst/>
          </a:prstGeom>
          <a:noFill/>
        </p:spPr>
        <p:txBody>
          <a:bodyPr wrap="square" lIns="0" tIns="0" rIns="0" bIns="0" anchor="t">
            <a:noAutofit/>
          </a:bodyPr>
          <a:lstStyle/>
          <a:p>
            <a:pPr algn="l">
              <a:spcAft>
                <a:spcPts val="0"/>
              </a:spcAft>
            </a:pPr>
            <a:r>
              <a:rPr sz="1600" b="0">
                <a:solidFill>
                  <a:srgbClr val="52514E"/>
                </a:solidFill>
              </a:rPr>
              <a:t>Republican minus Democrat tracks the harmless questions: the model notices who is asking, it isn’t refusing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Whose claim it is switches on mid-network</a:t>
            </a:r>
          </a:p>
        </p:txBody>
      </p:sp>
      <p:sp>
        <p:nvSpPr>
          <p:cNvPr id="3" name="Slide number"/>
          <p:cNvSpPr txBox="1"/>
          <p:nvPr/>
        </p:nvSpPr>
        <p:spPr>
          <a:xfrm>
            <a:off x="10728655" y="6400800"/>
            <a:ext cx="914400" cy="228600"/>
          </a:xfrm>
          <a:prstGeom prst="rect">
            <a:avLst/>
          </a:prstGeom>
          <a:noFill/>
        </p:spPr>
        <p:txBody>
          <a:bodyPr wrap="none" lIns="0" tIns="0" rIns="0" bIns="0">
            <a:spAutoFit/>
          </a:bodyPr>
          <a:lstStyle/>
          <a:p>
            <a:pPr algn="r"/>
            <a:fld id="{6F1B2D7E-4C3A-4E8B-9D21-7A5C0E3B9F14}" type="slidenum">
              <a:rPr lang="en-US" sz="1000">
                <a:solidFill>
                  <a:srgbClr val="898781"/>
                </a:solidFill>
              </a:rPr>
              <a:t>15</a:t>
            </a:fld>
            <a:endParaRPr lang="en-US" sz="1000">
              <a:solidFill>
                <a:srgbClr val="898781"/>
              </a:solidFill>
            </a:endParaRPr>
          </a:p>
        </p:txBody>
      </p:sp>
      <p:pic>
        <p:nvPicPr>
          <p:cNvPr id="4" name="slide_alignment_gap.png" descr="Other-side minus own-side projection by layer, stolen-election vs harmless prompts, for both models, with significant layers marked."/>
          <p:cNvPicPr>
            <a:picLocks noChangeAspect="1"/>
          </p:cNvPicPr>
          <p:nvPr/>
        </p:nvPicPr>
        <p:blipFill>
          <a:blip r:embed="rId3"/>
          <a:stretch>
            <a:fillRect/>
          </a:stretch>
        </p:blipFill>
        <p:spPr>
          <a:xfrm>
            <a:off x="548640" y="1909279"/>
            <a:ext cx="11094415" cy="3389960"/>
          </a:xfrm>
          <a:prstGeom prst="rect">
            <a:avLst/>
          </a:prstGeom>
        </p:spPr>
      </p:pic>
      <p:sp>
        <p:nvSpPr>
          <p:cNvPr id="5" name="Caption"/>
          <p:cNvSpPr txBox="1"/>
          <p:nvPr/>
        </p:nvSpPr>
        <p:spPr>
          <a:xfrm>
            <a:off x="548640" y="5482120"/>
            <a:ext cx="11094415" cy="243840"/>
          </a:xfrm>
          <a:prstGeom prst="rect">
            <a:avLst/>
          </a:prstGeom>
          <a:noFill/>
        </p:spPr>
        <p:txBody>
          <a:bodyPr wrap="square" lIns="0" tIns="0" rIns="0" bIns="0" anchor="t">
            <a:noAutofit/>
          </a:bodyPr>
          <a:lstStyle/>
          <a:p>
            <a:pPr algn="l">
              <a:spcAft>
                <a:spcPts val="0"/>
              </a:spcAft>
            </a:pPr>
            <a:r>
              <a:rPr sz="1600" b="0">
                <a:solidFill>
                  <a:srgbClr val="52514E"/>
                </a:solidFill>
              </a:rPr>
              <a:t>First significant at layer 19 of 28 (Qwen) and 11 of 32 (Llama); harmless questions stay at zero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Removing the direction mostly erases the gap</a:t>
            </a:r>
          </a:p>
        </p:txBody>
      </p:sp>
      <p:sp>
        <p:nvSpPr>
          <p:cNvPr id="3" name="Slide number"/>
          <p:cNvSpPr txBox="1"/>
          <p:nvPr/>
        </p:nvSpPr>
        <p:spPr>
          <a:xfrm>
            <a:off x="10728655" y="6400800"/>
            <a:ext cx="914400" cy="228600"/>
          </a:xfrm>
          <a:prstGeom prst="rect">
            <a:avLst/>
          </a:prstGeom>
          <a:noFill/>
        </p:spPr>
        <p:txBody>
          <a:bodyPr wrap="none" lIns="0" tIns="0" rIns="0" bIns="0">
            <a:spAutoFit/>
          </a:bodyPr>
          <a:lstStyle/>
          <a:p>
            <a:pPr algn="r"/>
            <a:fld id="{6F1B2D7E-4C3A-4E8B-9D21-7A5C0E3B9F14}" type="slidenum">
              <a:rPr lang="en-US" sz="1000">
                <a:solidFill>
                  <a:srgbClr val="898781"/>
                </a:solidFill>
              </a:rPr>
              <a:t>16</a:t>
            </a:fld>
            <a:endParaRPr lang="en-US" sz="1000">
              <a:solidFill>
                <a:srgbClr val="898781"/>
              </a:solidFill>
            </a:endParaRPr>
          </a:p>
        </p:txBody>
      </p:sp>
      <p:pic>
        <p:nvPicPr>
          <p:cNvPr id="4" name="slide_ablation.png" descr="Slope chart: own-side and other-side did-the-task rates before and after removing the refusal direction, for both models and judges."/>
          <p:cNvPicPr>
            <a:picLocks noChangeAspect="1"/>
          </p:cNvPicPr>
          <p:nvPr/>
        </p:nvPicPr>
        <p:blipFill>
          <a:blip r:embed="rId3"/>
          <a:stretch>
            <a:fillRect/>
          </a:stretch>
        </p:blipFill>
        <p:spPr>
          <a:xfrm>
            <a:off x="548640" y="1395649"/>
            <a:ext cx="11094415" cy="4417220"/>
          </a:xfrm>
          <a:prstGeom prst="rect">
            <a:avLst/>
          </a:prstGeom>
        </p:spPr>
      </p:pic>
      <p:sp>
        <p:nvSpPr>
          <p:cNvPr id="5" name="Caption"/>
          <p:cNvSpPr txBox="1"/>
          <p:nvPr/>
        </p:nvSpPr>
        <p:spPr>
          <a:xfrm>
            <a:off x="548640" y="5995750"/>
            <a:ext cx="11094415" cy="243840"/>
          </a:xfrm>
          <a:prstGeom prst="rect">
            <a:avLst/>
          </a:prstGeom>
          <a:noFill/>
        </p:spPr>
        <p:txBody>
          <a:bodyPr wrap="square" lIns="0" tIns="0" rIns="0" bIns="0" anchor="t">
            <a:noAutofit/>
          </a:bodyPr>
          <a:lstStyle/>
          <a:p>
            <a:pPr algn="l">
              <a:spcAft>
                <a:spcPts val="0"/>
              </a:spcAft>
            </a:pPr>
            <a:r>
              <a:rPr sz="1600" b="0">
                <a:solidFill>
                  <a:srgbClr val="52514E"/>
                </a:solidFill>
              </a:rPr>
              <a:t>Over 80% for everyone afterwards; own side vs other side is no longer significant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 Llama the gap runs through refusal; in Qwen, mostly not</a:t>
            </a:r>
          </a:p>
        </p:txBody>
      </p:sp>
      <p:sp>
        <p:nvSpPr>
          <p:cNvPr id="3" name="Slide number"/>
          <p:cNvSpPr txBox="1"/>
          <p:nvPr/>
        </p:nvSpPr>
        <p:spPr>
          <a:xfrm>
            <a:off x="10728655" y="6400800"/>
            <a:ext cx="914400" cy="228600"/>
          </a:xfrm>
          <a:prstGeom prst="rect">
            <a:avLst/>
          </a:prstGeom>
          <a:noFill/>
        </p:spPr>
        <p:txBody>
          <a:bodyPr wrap="none" lIns="0" tIns="0" rIns="0" bIns="0">
            <a:spAutoFit/>
          </a:bodyPr>
          <a:lstStyle/>
          <a:p>
            <a:pPr algn="r"/>
            <a:fld id="{6F1B2D7E-4C3A-4E8B-9D21-7A5C0E3B9F14}" type="slidenum">
              <a:rPr lang="en-US" sz="1000">
                <a:solidFill>
                  <a:srgbClr val="898781"/>
                </a:solidFill>
              </a:rPr>
              <a:t>17</a:t>
            </a:fld>
            <a:endParaRPr lang="en-US" sz="1000">
              <a:solidFill>
                <a:srgbClr val="898781"/>
              </a:solidFill>
            </a:endParaRPr>
          </a:p>
        </p:txBody>
      </p:sp>
      <p:pic>
        <p:nvPicPr>
          <p:cNvPr id="4" name="slide_shift_dose.png" descr="Did the task for own-side prompts shifted along the refusal direction by 0 to 10 times the measured gap, against the other-side level, with a random-direction control."/>
          <p:cNvPicPr>
            <a:picLocks noChangeAspect="1"/>
          </p:cNvPicPr>
          <p:nvPr/>
        </p:nvPicPr>
        <p:blipFill>
          <a:blip r:embed="rId3"/>
          <a:stretch>
            <a:fillRect/>
          </a:stretch>
        </p:blipFill>
        <p:spPr>
          <a:xfrm>
            <a:off x="548640" y="1395649"/>
            <a:ext cx="11094415" cy="4417220"/>
          </a:xfrm>
          <a:prstGeom prst="rect">
            <a:avLst/>
          </a:prstGeom>
        </p:spPr>
      </p:pic>
      <p:sp>
        <p:nvSpPr>
          <p:cNvPr id="5" name="Caption"/>
          <p:cNvSpPr txBox="1"/>
          <p:nvPr/>
        </p:nvSpPr>
        <p:spPr>
          <a:xfrm>
            <a:off x="548640" y="5995750"/>
            <a:ext cx="11094415" cy="243840"/>
          </a:xfrm>
          <a:prstGeom prst="rect">
            <a:avLst/>
          </a:prstGeom>
          <a:noFill/>
        </p:spPr>
        <p:txBody>
          <a:bodyPr wrap="square" lIns="0" tIns="0" rIns="0" bIns="0" anchor="t">
            <a:noAutofit/>
          </a:bodyPr>
          <a:lstStyle/>
          <a:p>
            <a:pPr algn="l">
              <a:spcAft>
                <a:spcPts val="0"/>
              </a:spcAft>
            </a:pPr>
            <a:r>
              <a:rPr sz="1600" b="0">
                <a:solidFill>
                  <a:srgbClr val="52514E"/>
                </a:solidFill>
              </a:rPr>
              <a:t>Llama: 2× the gap closes it. Qwen: 3× closes two-thirds. A random direction does nothing.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Qwen has a second direction for whose claim it is</a:t>
            </a:r>
          </a:p>
        </p:txBody>
      </p:sp>
      <p:sp>
        <p:nvSpPr>
          <p:cNvPr id="3" name="Slide number"/>
          <p:cNvSpPr txBox="1"/>
          <p:nvPr/>
        </p:nvSpPr>
        <p:spPr>
          <a:xfrm>
            <a:off x="10728655" y="6400800"/>
            <a:ext cx="914400" cy="228600"/>
          </a:xfrm>
          <a:prstGeom prst="rect">
            <a:avLst/>
          </a:prstGeom>
          <a:noFill/>
        </p:spPr>
        <p:txBody>
          <a:bodyPr wrap="none" lIns="0" tIns="0" rIns="0" bIns="0">
            <a:spAutoFit/>
          </a:bodyPr>
          <a:lstStyle/>
          <a:p>
            <a:pPr algn="r"/>
            <a:fld id="{6F1B2D7E-4C3A-4E8B-9D21-7A5C0E3B9F14}" type="slidenum">
              <a:rPr lang="en-US" sz="1000">
                <a:solidFill>
                  <a:srgbClr val="898781"/>
                </a:solidFill>
              </a:rPr>
              <a:t>18</a:t>
            </a:fld>
            <a:endParaRPr lang="en-US" sz="1000">
              <a:solidFill>
                <a:srgbClr val="898781"/>
              </a:solidFill>
            </a:endParaRPr>
          </a:p>
        </p:txBody>
      </p:sp>
      <p:pic>
        <p:nvPicPr>
          <p:cNvPr id="4" name="slide_alignment_cosine.png" descr="Cosine between the side direction and the refusal direction by layer, with layers where the own-side/other-side gap is significant shaded."/>
          <p:cNvPicPr>
            <a:picLocks noChangeAspect="1"/>
          </p:cNvPicPr>
          <p:nvPr/>
        </p:nvPicPr>
        <p:blipFill>
          <a:blip r:embed="rId3"/>
          <a:stretch>
            <a:fillRect/>
          </a:stretch>
        </p:blipFill>
        <p:spPr>
          <a:xfrm>
            <a:off x="548640" y="1601101"/>
            <a:ext cx="11094415" cy="4006316"/>
          </a:xfrm>
          <a:prstGeom prst="rect">
            <a:avLst/>
          </a:prstGeom>
        </p:spPr>
      </p:pic>
      <p:sp>
        <p:nvSpPr>
          <p:cNvPr id="5" name="Caption"/>
          <p:cNvSpPr txBox="1"/>
          <p:nvPr/>
        </p:nvSpPr>
        <p:spPr>
          <a:xfrm>
            <a:off x="548640" y="5790298"/>
            <a:ext cx="11094415" cy="243840"/>
          </a:xfrm>
          <a:prstGeom prst="rect">
            <a:avLst/>
          </a:prstGeom>
          <a:noFill/>
        </p:spPr>
        <p:txBody>
          <a:bodyPr wrap="square" lIns="0" tIns="0" rIns="0" bIns="0" anchor="t">
            <a:noAutofit/>
          </a:bodyPr>
          <a:lstStyle/>
          <a:p>
            <a:pPr algn="l">
              <a:spcAft>
                <a:spcPts val="0"/>
              </a:spcAft>
            </a:pPr>
            <a:r>
              <a:rPr sz="1600" b="0">
                <a:solidFill>
                  <a:srgbClr val="52514E"/>
                </a:solidFill>
              </a:rPr>
              <a:t>Qwen: about 0 through layer 15, 0.79 by layer 25, where the gap peaks. Llama: 0.2 to 0.3 at every layer.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Non-partisan, yes. Serving democracy? Less clear</a:t>
            </a:r>
          </a:p>
        </p:txBody>
      </p:sp>
      <p:sp>
        <p:nvSpPr>
          <p:cNvPr id="3" name="Slide number"/>
          <p:cNvSpPr txBox="1"/>
          <p:nvPr/>
        </p:nvSpPr>
        <p:spPr>
          <a:xfrm>
            <a:off x="10728655" y="6400800"/>
            <a:ext cx="914400" cy="228600"/>
          </a:xfrm>
          <a:prstGeom prst="rect">
            <a:avLst/>
          </a:prstGeom>
          <a:noFill/>
        </p:spPr>
        <p:txBody>
          <a:bodyPr wrap="none" lIns="0" tIns="0" rIns="0" bIns="0">
            <a:spAutoFit/>
          </a:bodyPr>
          <a:lstStyle/>
          <a:p>
            <a:pPr algn="r"/>
            <a:fld id="{6F1B2D7E-4C3A-4E8B-9D21-7A5C0E3B9F14}" type="slidenum">
              <a:rPr lang="en-US" sz="1000">
                <a:solidFill>
                  <a:srgbClr val="898781"/>
                </a:solidFill>
              </a:rPr>
              <a:t>19</a:t>
            </a:fld>
            <a:endParaRPr lang="en-US" sz="1000">
              <a:solidFill>
                <a:srgbClr val="898781"/>
              </a:solidFill>
            </a:endParaRPr>
          </a:p>
        </p:txBody>
      </p:sp>
      <p:sp>
        <p:nvSpPr>
          <p:cNvPr id="4" name="TextBox 3"/>
          <p:cNvSpPr txBox="1"/>
          <p:nvPr/>
        </p:nvSpPr>
        <p:spPr>
          <a:xfrm>
            <a:off x="548640" y="1600200"/>
            <a:ext cx="5318607" cy="411480"/>
          </a:xfrm>
          <a:prstGeom prst="rect">
            <a:avLst/>
          </a:prstGeom>
          <a:noFill/>
        </p:spPr>
        <p:txBody>
          <a:bodyPr wrap="square" lIns="0" tIns="0" rIns="0" bIns="0" anchor="t">
            <a:noAutofit/>
          </a:bodyPr>
          <a:lstStyle/>
          <a:p>
            <a:pPr algn="l">
              <a:spcAft>
                <a:spcPts val="600"/>
              </a:spcAft>
            </a:pPr>
            <a:r>
              <a:rPr sz="2000" b="1">
                <a:solidFill>
                  <a:srgbClr val="000000"/>
                </a:solidFill>
              </a:rPr>
              <a:t>Stay non-partisan: yes</a:t>
            </a:r>
          </a:p>
        </p:txBody>
      </p:sp>
      <p:sp>
        <p:nvSpPr>
          <p:cNvPr id="5" name="TextBox 4"/>
          <p:cNvSpPr txBox="1"/>
          <p:nvPr/>
        </p:nvSpPr>
        <p:spPr>
          <a:xfrm>
            <a:off x="548640" y="2103120"/>
            <a:ext cx="5318607" cy="914400"/>
          </a:xfrm>
          <a:prstGeom prst="rect">
            <a:avLst/>
          </a:prstGeom>
          <a:noFill/>
        </p:spPr>
        <p:txBody>
          <a:bodyPr wrap="square" lIns="0" tIns="0" rIns="0" bIns="0" anchor="t">
            <a:noAutofit/>
          </a:bodyPr>
          <a:lstStyle/>
          <a:p>
            <a:pPr algn="l">
              <a:spcAft>
                <a:spcPts val="600"/>
              </a:spcAft>
            </a:pPr>
            <a:r>
              <a:rPr sz="1800" b="0">
                <a:solidFill>
                  <a:srgbClr val="52514E"/>
                </a:solidFill>
              </a:rPr>
              <a:t>No Democrat/Republican gap, and the refusal direction itself is party-blind</a:t>
            </a:r>
          </a:p>
        </p:txBody>
      </p:sp>
      <p:sp>
        <p:nvSpPr>
          <p:cNvPr id="6" name="TextBox 5"/>
          <p:cNvSpPr txBox="1"/>
          <p:nvPr/>
        </p:nvSpPr>
        <p:spPr>
          <a:xfrm>
            <a:off x="6324447" y="1600200"/>
            <a:ext cx="5318607" cy="411480"/>
          </a:xfrm>
          <a:prstGeom prst="rect">
            <a:avLst/>
          </a:prstGeom>
          <a:noFill/>
        </p:spPr>
        <p:txBody>
          <a:bodyPr wrap="square" lIns="0" tIns="0" rIns="0" bIns="0" anchor="t">
            <a:noAutofit/>
          </a:bodyPr>
          <a:lstStyle/>
          <a:p>
            <a:pPr algn="l">
              <a:spcAft>
                <a:spcPts val="600"/>
              </a:spcAft>
            </a:pPr>
            <a:r>
              <a:rPr sz="2000" b="1">
                <a:solidFill>
                  <a:srgbClr val="000000"/>
                </a:solidFill>
              </a:rPr>
              <a:t>Serve democracy: less clear</a:t>
            </a:r>
          </a:p>
        </p:txBody>
      </p:sp>
      <p:sp>
        <p:nvSpPr>
          <p:cNvPr id="7" name="TextBox 6"/>
          <p:cNvSpPr txBox="1"/>
          <p:nvPr/>
        </p:nvSpPr>
        <p:spPr>
          <a:xfrm>
            <a:off x="6324447" y="2103120"/>
            <a:ext cx="5318607" cy="914400"/>
          </a:xfrm>
          <a:prstGeom prst="rect">
            <a:avLst/>
          </a:prstGeom>
          <a:noFill/>
        </p:spPr>
        <p:txBody>
          <a:bodyPr wrap="square" lIns="0" tIns="0" rIns="0" bIns="0" anchor="t">
            <a:noAutofit/>
          </a:bodyPr>
          <a:lstStyle/>
          <a:p>
            <a:pPr algn="l">
              <a:spcAft>
                <a:spcPts val="600"/>
              </a:spcAft>
            </a:pPr>
            <a:r>
              <a:rPr sz="1800" b="0">
                <a:solidFill>
                  <a:srgbClr val="52514E"/>
                </a:solidFill>
              </a:rPr>
              <a:t>Help is highest when the claim fits the asker: the people most likely to believe and spread it</a:t>
            </a:r>
          </a:p>
        </p:txBody>
      </p:sp>
      <p:sp>
        <p:nvSpPr>
          <p:cNvPr id="8" name="TextBox 7"/>
          <p:cNvSpPr txBox="1"/>
          <p:nvPr/>
        </p:nvSpPr>
        <p:spPr>
          <a:xfrm>
            <a:off x="548640" y="3337560"/>
            <a:ext cx="11094415" cy="411480"/>
          </a:xfrm>
          <a:prstGeom prst="rect">
            <a:avLst/>
          </a:prstGeom>
          <a:noFill/>
        </p:spPr>
        <p:txBody>
          <a:bodyPr wrap="square" lIns="0" tIns="0" rIns="0" bIns="0" anchor="t">
            <a:noAutofit/>
          </a:bodyPr>
          <a:lstStyle/>
          <a:p>
            <a:pPr algn="l">
              <a:spcAft>
                <a:spcPts val="600"/>
              </a:spcAft>
            </a:pPr>
            <a:r>
              <a:rPr sz="2000" b="1">
                <a:solidFill>
                  <a:srgbClr val="000000"/>
                </a:solidFill>
              </a:rPr>
              <a:t>Why favor the asker’s own side? Two readings our data can’t separate</a:t>
            </a:r>
          </a:p>
        </p:txBody>
      </p:sp>
      <p:sp>
        <p:nvSpPr>
          <p:cNvPr id="9" name="TextBox 8"/>
          <p:cNvSpPr txBox="1"/>
          <p:nvPr/>
        </p:nvSpPr>
        <p:spPr>
          <a:xfrm>
            <a:off x="548640" y="3886200"/>
            <a:ext cx="5318607" cy="365760"/>
          </a:xfrm>
          <a:prstGeom prst="rect">
            <a:avLst/>
          </a:prstGeom>
          <a:noFill/>
        </p:spPr>
        <p:txBody>
          <a:bodyPr wrap="square" lIns="0" tIns="0" rIns="0" bIns="0" anchor="t">
            <a:noAutofit/>
          </a:bodyPr>
          <a:lstStyle/>
          <a:p>
            <a:pPr algn="l">
              <a:spcAft>
                <a:spcPts val="600"/>
              </a:spcAft>
            </a:pPr>
            <a:r>
              <a:rPr sz="1800" b="1">
                <a:solidFill>
                  <a:srgbClr val="000000"/>
                </a:solidFill>
              </a:rPr>
              <a:t>Going along with the asker</a:t>
            </a:r>
          </a:p>
        </p:txBody>
      </p:sp>
      <p:sp>
        <p:nvSpPr>
          <p:cNvPr id="10" name="TextBox 9"/>
          <p:cNvSpPr txBox="1"/>
          <p:nvPr/>
        </p:nvSpPr>
        <p:spPr>
          <a:xfrm>
            <a:off x="548640" y="4297680"/>
            <a:ext cx="5318607" cy="914400"/>
          </a:xfrm>
          <a:prstGeom prst="rect">
            <a:avLst/>
          </a:prstGeom>
          <a:noFill/>
        </p:spPr>
        <p:txBody>
          <a:bodyPr wrap="square" lIns="0" tIns="0" rIns="0" bIns="0" anchor="t">
            <a:noAutofit/>
          </a:bodyPr>
          <a:lstStyle/>
          <a:p>
            <a:pPr algn="l">
              <a:spcAft>
                <a:spcPts val="600"/>
              </a:spcAft>
            </a:pPr>
            <a:r>
              <a:rPr sz="1800" b="0">
                <a:solidFill>
                  <a:srgbClr val="52514E"/>
                </a:solidFill>
              </a:rPr>
              <a:t>The model accommodates the views it infers from who is asking (sycophancy)</a:t>
            </a:r>
          </a:p>
        </p:txBody>
      </p:sp>
      <p:sp>
        <p:nvSpPr>
          <p:cNvPr id="11" name="TextBox 10"/>
          <p:cNvSpPr txBox="1"/>
          <p:nvPr/>
        </p:nvSpPr>
        <p:spPr>
          <a:xfrm>
            <a:off x="6324447" y="3886200"/>
            <a:ext cx="5318607" cy="365760"/>
          </a:xfrm>
          <a:prstGeom prst="rect">
            <a:avLst/>
          </a:prstGeom>
          <a:noFill/>
        </p:spPr>
        <p:txBody>
          <a:bodyPr wrap="square" lIns="0" tIns="0" rIns="0" bIns="0" anchor="t">
            <a:noAutofit/>
          </a:bodyPr>
          <a:lstStyle/>
          <a:p>
            <a:pPr algn="l">
              <a:spcAft>
                <a:spcPts val="600"/>
              </a:spcAft>
            </a:pPr>
            <a:r>
              <a:rPr sz="1800" b="1">
                <a:solidFill>
                  <a:srgbClr val="000000"/>
                </a:solidFill>
              </a:rPr>
              <a:t>Suspecting bad faith</a:t>
            </a:r>
          </a:p>
        </p:txBody>
      </p:sp>
      <p:sp>
        <p:nvSpPr>
          <p:cNvPr id="12" name="TextBox 11"/>
          <p:cNvSpPr txBox="1"/>
          <p:nvPr/>
        </p:nvSpPr>
        <p:spPr>
          <a:xfrm>
            <a:off x="6324447" y="4297680"/>
            <a:ext cx="5318607" cy="914400"/>
          </a:xfrm>
          <a:prstGeom prst="rect">
            <a:avLst/>
          </a:prstGeom>
          <a:noFill/>
        </p:spPr>
        <p:txBody>
          <a:bodyPr wrap="square" lIns="0" tIns="0" rIns="0" bIns="0" anchor="t">
            <a:noAutofit/>
          </a:bodyPr>
          <a:lstStyle/>
          <a:p>
            <a:pPr algn="l">
              <a:spcAft>
                <a:spcPts val="600"/>
              </a:spcAft>
            </a:pPr>
            <a:r>
              <a:rPr sz="1800" b="0">
                <a:solidFill>
                  <a:srgbClr val="52514E"/>
                </a:solidFill>
              </a:rPr>
              <a:t>A Democrat asking to prove 2020 was stolen reads as odd, so the model is warier</a:t>
            </a:r>
          </a:p>
        </p:txBody>
      </p:sp>
      <p:sp>
        <p:nvSpPr>
          <p:cNvPr id="13" name="TextBox 12"/>
          <p:cNvSpPr txBox="1"/>
          <p:nvPr/>
        </p:nvSpPr>
        <p:spPr>
          <a:xfrm>
            <a:off x="548640" y="5440680"/>
            <a:ext cx="11094415" cy="685800"/>
          </a:xfrm>
          <a:prstGeom prst="rect">
            <a:avLst/>
          </a:prstGeom>
          <a:noFill/>
        </p:spPr>
        <p:txBody>
          <a:bodyPr wrap="square" lIns="0" tIns="0" rIns="0" bIns="0" anchor="t">
            <a:noAutofit/>
          </a:bodyPr>
          <a:lstStyle/>
          <a:p>
            <a:pPr algn="l">
              <a:spcAft>
                <a:spcPts val="600"/>
              </a:spcAft>
            </a:pPr>
            <a:r>
              <a:rPr sz="1600" b="1">
                <a:solidFill>
                  <a:srgbClr val="000000"/>
                </a:solidFill>
              </a:rPr>
              <a:t>A test that would: </a:t>
            </a:r>
            <a:r>
              <a:rPr sz="1600" b="0">
                <a:solidFill>
                  <a:srgbClr val="000000"/>
                </a:solidFill>
              </a:rPr>
              <a:t>harmless other-side requests, like a Republican asking for an op-ed praising a Democratic policy. Suspicion predicts pushback there too; going along doesn’t.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 Chinese, Qwen censors more, and not through refusal</a:t>
            </a:r>
          </a:p>
        </p:txBody>
      </p:sp>
      <p:sp>
        <p:nvSpPr>
          <p:cNvPr id="3" name="Slide number"/>
          <p:cNvSpPr txBox="1"/>
          <p:nvPr/>
        </p:nvSpPr>
        <p:spPr>
          <a:xfrm>
            <a:off x="10728655" y="6400800"/>
            <a:ext cx="914400" cy="228600"/>
          </a:xfrm>
          <a:prstGeom prst="rect">
            <a:avLst/>
          </a:prstGeom>
          <a:noFill/>
        </p:spPr>
        <p:txBody>
          <a:bodyPr wrap="none" lIns="0" tIns="0" rIns="0" bIns="0">
            <a:spAutoFit/>
          </a:bodyPr>
          <a:lstStyle/>
          <a:p>
            <a:pPr algn="r"/>
            <a:fld id="{6F1B2D7E-4C3A-4E8B-9D21-7A5C0E3B9F14}" type="slidenum">
              <a:rPr lang="en-US" sz="1000">
                <a:solidFill>
                  <a:srgbClr val="898781"/>
                </a:solidFill>
              </a:rPr>
              <a:t>20</a:t>
            </a:fld>
            <a:endParaRPr lang="en-US" sz="1000">
              <a:solidFill>
                <a:srgbClr val="898781"/>
              </a:solidFill>
            </a:endParaRPr>
          </a:p>
        </p:txBody>
      </p:sp>
      <p:sp>
        <p:nvSpPr>
          <p:cNvPr id="4" name="TextBox 3"/>
          <p:cNvSpPr txBox="1"/>
          <p:nvPr/>
        </p:nvSpPr>
        <p:spPr>
          <a:xfrm>
            <a:off x="548640" y="1554480"/>
            <a:ext cx="6766560" cy="548640"/>
          </a:xfrm>
          <a:prstGeom prst="rect">
            <a:avLst/>
          </a:prstGeom>
          <a:noFill/>
        </p:spPr>
        <p:txBody>
          <a:bodyPr wrap="square" lIns="0" tIns="0" rIns="0" bIns="0" anchor="t">
            <a:noAutofit/>
          </a:bodyPr>
          <a:lstStyle/>
          <a:p>
            <a:pPr algn="l">
              <a:spcAft>
                <a:spcPts val="600"/>
              </a:spcAft>
            </a:pPr>
            <a:r>
              <a:rPr sz="1400" b="0">
                <a:solidFill>
                  <a:srgbClr val="52514E"/>
                </a:solidFill>
              </a:rPr>
              <a:t>China-sensitive requests censored (refused, dodged or official line), 24 matched pairs</a:t>
            </a:r>
          </a:p>
        </p:txBody>
      </p:sp>
      <p:graphicFrame>
        <p:nvGraphicFramePr>
          <p:cNvPr id="5" name="Censorship by language"/>
          <p:cNvGraphicFramePr>
            <a:graphicFrameLocks noGrp="1"/>
          </p:cNvGraphicFramePr>
          <p:nvPr/>
        </p:nvGraphicFramePr>
        <p:xfrm>
          <a:off x="548640" y="2103120"/>
          <a:ext cx="676656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p:cNvSpPr txBox="1"/>
          <p:nvPr/>
        </p:nvSpPr>
        <p:spPr>
          <a:xfrm>
            <a:off x="7772400" y="1737360"/>
            <a:ext cx="3870655" cy="4480560"/>
          </a:xfrm>
          <a:prstGeom prst="rect">
            <a:avLst/>
          </a:prstGeom>
          <a:noFill/>
        </p:spPr>
        <p:txBody>
          <a:bodyPr wrap="square" lIns="0" tIns="0" rIns="0" bIns="0" anchor="t">
            <a:noAutofit/>
          </a:bodyPr>
          <a:lstStyle/>
          <a:p>
            <a:pPr marL="274320" indent="-274320" algn="l">
              <a:spcAft>
                <a:spcPts val="1200"/>
              </a:spcAft>
              <a:buChar char="•"/>
            </a:pPr>
            <a:r>
              <a:rPr sz="1600" b="0">
                <a:solidFill>
                  <a:srgbClr val="000000"/>
                </a:solidFill>
              </a:rPr>
              <a:t>29 of the 42 points are official-line answers, not refusals</a:t>
            </a:r>
          </a:p>
          <a:p>
            <a:pPr marL="274320" indent="-274320" algn="l">
              <a:spcAft>
                <a:spcPts val="1200"/>
              </a:spcAft>
              <a:buChar char="•"/>
            </a:pPr>
            <a:r>
              <a:rPr sz="1600" b="0">
                <a:solidFill>
                  <a:srgbClr val="000000"/>
                </a:solidFill>
              </a:rPr>
              <a:t>Removing the refusal direction ends refusal on harmful prompts in both languages, but the gap stays (42 → 46 points)</a:t>
            </a:r>
          </a:p>
          <a:p>
            <a:pPr marL="274320" indent="-274320" algn="l">
              <a:spcAft>
                <a:spcPts val="1200"/>
              </a:spcAft>
              <a:buChar char="•"/>
            </a:pPr>
            <a:r>
              <a:rPr sz="1600" b="0">
                <a:solidFill>
                  <a:srgbClr val="000000"/>
                </a:solidFill>
              </a:rPr>
              <a:t>The English and Chinese refusal directions are nearly the same vector (cosine 0.98 Qwen, 0.91 Llama)</a:t>
            </a:r>
          </a:p>
          <a:p>
            <a:pPr marL="274320" indent="-274320" algn="l">
              <a:spcAft>
                <a:spcPts val="1200"/>
              </a:spcAft>
              <a:buChar char="•"/>
            </a:pPr>
            <a:r>
              <a:rPr sz="1600" b="0">
                <a:solidFill>
                  <a:srgbClr val="000000"/>
                </a:solidFill>
              </a:rPr>
              <a:t>Exploratory: both models censor the US election claims less in Chinese (not significant)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Takeaways</a:t>
            </a:r>
          </a:p>
        </p:txBody>
      </p:sp>
      <p:sp>
        <p:nvSpPr>
          <p:cNvPr id="3" name="Slide number"/>
          <p:cNvSpPr txBox="1"/>
          <p:nvPr/>
        </p:nvSpPr>
        <p:spPr>
          <a:xfrm>
            <a:off x="10728655" y="6400800"/>
            <a:ext cx="914400" cy="228600"/>
          </a:xfrm>
          <a:prstGeom prst="rect">
            <a:avLst/>
          </a:prstGeom>
          <a:noFill/>
        </p:spPr>
        <p:txBody>
          <a:bodyPr wrap="none" lIns="0" tIns="0" rIns="0" bIns="0">
            <a:spAutoFit/>
          </a:bodyPr>
          <a:lstStyle/>
          <a:p>
            <a:pPr algn="r"/>
            <a:fld id="{6F1B2D7E-4C3A-4E8B-9D21-7A5C0E3B9F14}" type="slidenum">
              <a:rPr lang="en-US" sz="1000">
                <a:solidFill>
                  <a:srgbClr val="898781"/>
                </a:solidFill>
              </a:rPr>
              <a:t>21</a:t>
            </a:fld>
            <a:endParaRPr lang="en-US" sz="1000">
              <a:solidFill>
                <a:srgbClr val="898781"/>
              </a:solidFill>
            </a:endParaRPr>
          </a:p>
        </p:txBody>
      </p:sp>
      <p:sp>
        <p:nvSpPr>
          <p:cNvPr id="4" name="Number 1"/>
          <p:cNvSpPr txBox="1"/>
          <p:nvPr/>
        </p:nvSpPr>
        <p:spPr>
          <a:xfrm>
            <a:off x="548640" y="1481328"/>
            <a:ext cx="548640" cy="731520"/>
          </a:xfrm>
          <a:prstGeom prst="rect">
            <a:avLst/>
          </a:prstGeom>
          <a:noFill/>
        </p:spPr>
        <p:txBody>
          <a:bodyPr wrap="square" lIns="0" tIns="0" rIns="0" bIns="0" anchor="t">
            <a:noAutofit/>
          </a:bodyPr>
          <a:lstStyle/>
          <a:p>
            <a:pPr algn="l">
              <a:spcAft>
                <a:spcPts val="600"/>
              </a:spcAft>
            </a:pPr>
            <a:r>
              <a:rPr sz="3600" b="1">
                <a:solidFill>
                  <a:srgbClr val="000000"/>
                </a:solidFill>
              </a:rPr>
              <a:t>1</a:t>
            </a:r>
          </a:p>
        </p:txBody>
      </p:sp>
      <p:sp>
        <p:nvSpPr>
          <p:cNvPr id="5" name="TextBox 4"/>
          <p:cNvSpPr txBox="1"/>
          <p:nvPr/>
        </p:nvSpPr>
        <p:spPr>
          <a:xfrm>
            <a:off x="1280160" y="1554480"/>
            <a:ext cx="10362895" cy="868680"/>
          </a:xfrm>
          <a:prstGeom prst="rect">
            <a:avLst/>
          </a:prstGeom>
          <a:noFill/>
        </p:spPr>
        <p:txBody>
          <a:bodyPr wrap="square" lIns="0" tIns="0" rIns="0" bIns="0" anchor="t">
            <a:noAutofit/>
          </a:bodyPr>
          <a:lstStyle/>
          <a:p>
            <a:pPr algn="l">
              <a:spcAft>
                <a:spcPts val="0"/>
              </a:spcAft>
            </a:pPr>
            <a:r>
              <a:rPr sz="2000" b="1">
                <a:solidFill>
                  <a:srgbClr val="000000"/>
                </a:solidFill>
              </a:rPr>
              <a:t>The refusal direction is party-blind; the claims aren’t. </a:t>
            </a:r>
            <a:r>
              <a:rPr sz="2000" b="0">
                <a:solidFill>
                  <a:srgbClr val="52514E"/>
                </a:solidFill>
              </a:rPr>
              <a:t>No Democrat/Republican gap, but the models help more when the claim belongs to the asker’s side.</a:t>
            </a:r>
          </a:p>
        </p:txBody>
      </p:sp>
      <p:sp>
        <p:nvSpPr>
          <p:cNvPr id="6" name="Number 2"/>
          <p:cNvSpPr txBox="1"/>
          <p:nvPr/>
        </p:nvSpPr>
        <p:spPr>
          <a:xfrm>
            <a:off x="548640" y="2505456"/>
            <a:ext cx="548640" cy="731520"/>
          </a:xfrm>
          <a:prstGeom prst="rect">
            <a:avLst/>
          </a:prstGeom>
          <a:noFill/>
        </p:spPr>
        <p:txBody>
          <a:bodyPr wrap="square" lIns="0" tIns="0" rIns="0" bIns="0" anchor="t">
            <a:noAutofit/>
          </a:bodyPr>
          <a:lstStyle/>
          <a:p>
            <a:pPr algn="l">
              <a:spcAft>
                <a:spcPts val="600"/>
              </a:spcAft>
            </a:pPr>
            <a:r>
              <a:rPr sz="3600" b="1">
                <a:solidFill>
                  <a:srgbClr val="000000"/>
                </a:solidFill>
              </a:rPr>
              <a:t>2</a:t>
            </a:r>
          </a:p>
        </p:txBody>
      </p:sp>
      <p:sp>
        <p:nvSpPr>
          <p:cNvPr id="7" name="TextBox 6"/>
          <p:cNvSpPr txBox="1"/>
          <p:nvPr/>
        </p:nvSpPr>
        <p:spPr>
          <a:xfrm>
            <a:off x="1280160" y="2578608"/>
            <a:ext cx="10362895" cy="868680"/>
          </a:xfrm>
          <a:prstGeom prst="rect">
            <a:avLst/>
          </a:prstGeom>
          <a:noFill/>
        </p:spPr>
        <p:txBody>
          <a:bodyPr wrap="square" lIns="0" tIns="0" rIns="0" bIns="0" anchor="t">
            <a:noAutofit/>
          </a:bodyPr>
          <a:lstStyle/>
          <a:p>
            <a:pPr algn="l">
              <a:spcAft>
                <a:spcPts val="0"/>
              </a:spcAft>
            </a:pPr>
            <a:r>
              <a:rPr sz="2000" b="1">
                <a:solidFill>
                  <a:srgbClr val="000000"/>
                </a:solidFill>
              </a:rPr>
              <a:t>Non-partisan, but not clearly serving democracy. </a:t>
            </a:r>
            <a:r>
              <a:rPr sz="2000" b="0">
                <a:solidFill>
                  <a:srgbClr val="52514E"/>
                </a:solidFill>
              </a:rPr>
              <a:t>Help is highest when the claim fits the asker: the people most likely to believe and spread it.</a:t>
            </a:r>
          </a:p>
        </p:txBody>
      </p:sp>
      <p:sp>
        <p:nvSpPr>
          <p:cNvPr id="8" name="Number 3"/>
          <p:cNvSpPr txBox="1"/>
          <p:nvPr/>
        </p:nvSpPr>
        <p:spPr>
          <a:xfrm>
            <a:off x="548640" y="3529584"/>
            <a:ext cx="548640" cy="731520"/>
          </a:xfrm>
          <a:prstGeom prst="rect">
            <a:avLst/>
          </a:prstGeom>
          <a:noFill/>
        </p:spPr>
        <p:txBody>
          <a:bodyPr wrap="square" lIns="0" tIns="0" rIns="0" bIns="0" anchor="t">
            <a:noAutofit/>
          </a:bodyPr>
          <a:lstStyle/>
          <a:p>
            <a:pPr algn="l">
              <a:spcAft>
                <a:spcPts val="600"/>
              </a:spcAft>
            </a:pPr>
            <a:r>
              <a:rPr sz="3600" b="1">
                <a:solidFill>
                  <a:srgbClr val="000000"/>
                </a:solidFill>
              </a:rPr>
              <a:t>3</a:t>
            </a:r>
          </a:p>
        </p:txBody>
      </p:sp>
      <p:sp>
        <p:nvSpPr>
          <p:cNvPr id="9" name="TextBox 8"/>
          <p:cNvSpPr txBox="1"/>
          <p:nvPr/>
        </p:nvSpPr>
        <p:spPr>
          <a:xfrm>
            <a:off x="1280160" y="3602736"/>
            <a:ext cx="10362895" cy="868680"/>
          </a:xfrm>
          <a:prstGeom prst="rect">
            <a:avLst/>
          </a:prstGeom>
          <a:noFill/>
        </p:spPr>
        <p:txBody>
          <a:bodyPr wrap="square" lIns="0" tIns="0" rIns="0" bIns="0" anchor="t">
            <a:noAutofit/>
          </a:bodyPr>
          <a:lstStyle/>
          <a:p>
            <a:pPr algn="l">
              <a:spcAft>
                <a:spcPts val="0"/>
              </a:spcAft>
            </a:pPr>
            <a:r>
              <a:rPr sz="2000" b="1">
                <a:solidFill>
                  <a:srgbClr val="000000"/>
                </a:solidFill>
              </a:rPr>
              <a:t>Whether the gap runs through the refusal direction depends on the model. </a:t>
            </a:r>
            <a:r>
              <a:rPr sz="2000" b="0">
                <a:solidFill>
                  <a:srgbClr val="52514E"/>
                </a:solidFill>
              </a:rPr>
              <a:t>Llama: yes, a 2× shift closes it. Qwen: mostly through a second direction.</a:t>
            </a:r>
          </a:p>
        </p:txBody>
      </p:sp>
      <p:sp>
        <p:nvSpPr>
          <p:cNvPr id="10" name="Number 4"/>
          <p:cNvSpPr txBox="1"/>
          <p:nvPr/>
        </p:nvSpPr>
        <p:spPr>
          <a:xfrm>
            <a:off x="548640" y="4553712"/>
            <a:ext cx="548640" cy="731520"/>
          </a:xfrm>
          <a:prstGeom prst="rect">
            <a:avLst/>
          </a:prstGeom>
          <a:noFill/>
        </p:spPr>
        <p:txBody>
          <a:bodyPr wrap="square" lIns="0" tIns="0" rIns="0" bIns="0" anchor="t">
            <a:noAutofit/>
          </a:bodyPr>
          <a:lstStyle/>
          <a:p>
            <a:pPr algn="l">
              <a:spcAft>
                <a:spcPts val="600"/>
              </a:spcAft>
            </a:pPr>
            <a:r>
              <a:rPr sz="3600" b="1">
                <a:solidFill>
                  <a:srgbClr val="000000"/>
                </a:solidFill>
              </a:rPr>
              <a:t>4</a:t>
            </a:r>
          </a:p>
        </p:txBody>
      </p:sp>
      <p:sp>
        <p:nvSpPr>
          <p:cNvPr id="11" name="TextBox 10"/>
          <p:cNvSpPr txBox="1"/>
          <p:nvPr/>
        </p:nvSpPr>
        <p:spPr>
          <a:xfrm>
            <a:off x="1280160" y="4626864"/>
            <a:ext cx="10362895" cy="868680"/>
          </a:xfrm>
          <a:prstGeom prst="rect">
            <a:avLst/>
          </a:prstGeom>
          <a:noFill/>
        </p:spPr>
        <p:txBody>
          <a:bodyPr wrap="square" lIns="0" tIns="0" rIns="0" bIns="0" anchor="t">
            <a:noAutofit/>
          </a:bodyPr>
          <a:lstStyle/>
          <a:p>
            <a:pPr algn="l">
              <a:spcAft>
                <a:spcPts val="0"/>
              </a:spcAft>
            </a:pPr>
            <a:r>
              <a:rPr sz="2000" b="1">
                <a:solidFill>
                  <a:srgbClr val="000000"/>
                </a:solidFill>
              </a:rPr>
              <a:t>The standard safety judge misses election content entirely. </a:t>
            </a:r>
            <a:r>
              <a:rPr sz="2000" b="0">
                <a:solidFill>
                  <a:srgbClr val="52514E"/>
                </a:solidFill>
              </a:rPr>
              <a:t>Llama Guard 2 flags none of it; we needed a custom category and a second judge.</a:t>
            </a:r>
          </a:p>
        </p:txBody>
      </p:sp>
      <p:sp>
        <p:nvSpPr>
          <p:cNvPr id="12" name="TextBox 11"/>
          <p:cNvSpPr txBox="1"/>
          <p:nvPr/>
        </p:nvSpPr>
        <p:spPr>
          <a:xfrm>
            <a:off x="548640" y="5760720"/>
            <a:ext cx="11094415" cy="365760"/>
          </a:xfrm>
          <a:prstGeom prst="rect">
            <a:avLst/>
          </a:prstGeom>
          <a:noFill/>
        </p:spPr>
        <p:txBody>
          <a:bodyPr wrap="square" lIns="0" tIns="0" rIns="0" bIns="0" anchor="t">
            <a:noAutofit/>
          </a:bodyPr>
          <a:lstStyle/>
          <a:p>
            <a:pPr algn="l">
              <a:spcAft>
                <a:spcPts val="600"/>
              </a:spcAft>
            </a:pPr>
            <a:r>
              <a:rPr sz="1600" b="0">
                <a:solidFill>
                  <a:srgbClr val="898781"/>
                </a:solidFill>
              </a:rPr>
              <a:t>Limits: two 7–8B models · 8 US elections · one greedy reply per prompt · a 50-reply human check</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Next steps</a:t>
            </a:r>
          </a:p>
        </p:txBody>
      </p:sp>
      <p:sp>
        <p:nvSpPr>
          <p:cNvPr id="3" name="Slide number"/>
          <p:cNvSpPr txBox="1"/>
          <p:nvPr/>
        </p:nvSpPr>
        <p:spPr>
          <a:xfrm>
            <a:off x="10728655" y="6400800"/>
            <a:ext cx="914400" cy="228600"/>
          </a:xfrm>
          <a:prstGeom prst="rect">
            <a:avLst/>
          </a:prstGeom>
          <a:noFill/>
        </p:spPr>
        <p:txBody>
          <a:bodyPr wrap="none" lIns="0" tIns="0" rIns="0" bIns="0">
            <a:spAutoFit/>
          </a:bodyPr>
          <a:lstStyle/>
          <a:p>
            <a:pPr algn="r"/>
            <a:fld id="{6F1B2D7E-4C3A-4E8B-9D21-7A5C0E3B9F14}" type="slidenum">
              <a:rPr lang="en-US" sz="1000">
                <a:solidFill>
                  <a:srgbClr val="898781"/>
                </a:solidFill>
              </a:rPr>
              <a:t>22</a:t>
            </a:fld>
            <a:endParaRPr lang="en-US" sz="1000">
              <a:solidFill>
                <a:srgbClr val="898781"/>
              </a:solidFill>
            </a:endParaRPr>
          </a:p>
        </p:txBody>
      </p:sp>
      <p:sp>
        <p:nvSpPr>
          <p:cNvPr id="4" name="TextBox 3"/>
          <p:cNvSpPr txBox="1"/>
          <p:nvPr/>
        </p:nvSpPr>
        <p:spPr>
          <a:xfrm>
            <a:off x="548640" y="1600200"/>
            <a:ext cx="5318607" cy="411480"/>
          </a:xfrm>
          <a:prstGeom prst="rect">
            <a:avLst/>
          </a:prstGeom>
          <a:noFill/>
        </p:spPr>
        <p:txBody>
          <a:bodyPr wrap="square" lIns="0" tIns="0" rIns="0" bIns="0" anchor="t">
            <a:noAutofit/>
          </a:bodyPr>
          <a:lstStyle/>
          <a:p>
            <a:pPr algn="l">
              <a:spcAft>
                <a:spcPts val="600"/>
              </a:spcAft>
            </a:pPr>
            <a:r>
              <a:rPr sz="2000" b="1">
                <a:solidFill>
                  <a:srgbClr val="000000"/>
                </a:solidFill>
              </a:rPr>
              <a:t>With this group</a:t>
            </a:r>
          </a:p>
        </p:txBody>
      </p:sp>
      <p:sp>
        <p:nvSpPr>
          <p:cNvPr id="5" name="TextBox 4"/>
          <p:cNvSpPr txBox="1"/>
          <p:nvPr/>
        </p:nvSpPr>
        <p:spPr>
          <a:xfrm>
            <a:off x="548640" y="2148840"/>
            <a:ext cx="5318607" cy="3931920"/>
          </a:xfrm>
          <a:prstGeom prst="rect">
            <a:avLst/>
          </a:prstGeom>
          <a:noFill/>
        </p:spPr>
        <p:txBody>
          <a:bodyPr wrap="square" lIns="0" tIns="0" rIns="0" bIns="0" anchor="t">
            <a:noAutofit/>
          </a:bodyPr>
          <a:lstStyle/>
          <a:p>
            <a:pPr marL="274320" indent="-274320" algn="l">
              <a:spcAft>
                <a:spcPts val="1200"/>
              </a:spcAft>
              <a:buChar char="•"/>
            </a:pPr>
            <a:r>
              <a:rPr sz="1800" b="0">
                <a:solidFill>
                  <a:srgbClr val="000000"/>
                </a:solidFill>
              </a:rPr>
              <a:t>Harmless other-side requests, to separate going along from suspicion</a:t>
            </a:r>
          </a:p>
          <a:p>
            <a:pPr marL="274320" indent="-274320" algn="l">
              <a:spcAft>
                <a:spcPts val="1200"/>
              </a:spcAft>
              <a:buChar char="•"/>
            </a:pPr>
            <a:r>
              <a:rPr sz="1800" b="0">
                <a:solidFill>
                  <a:srgbClr val="000000"/>
                </a:solidFill>
              </a:rPr>
              <a:t>A third model: Gemma-2-9B or a second Chinese-lab model</a:t>
            </a:r>
          </a:p>
          <a:p>
            <a:pPr marL="274320" indent="-274320" algn="l">
              <a:spcAft>
                <a:spcPts val="1200"/>
              </a:spcAft>
              <a:buChar char="•"/>
            </a:pPr>
            <a:r>
              <a:rPr sz="1800" b="0">
                <a:solidFill>
                  <a:srgbClr val="000000"/>
                </a:solidFill>
              </a:rPr>
              <a:t>Remove the direction at the layer where the gap first appears (19 in Qwen, 11 in Llama)</a:t>
            </a:r>
          </a:p>
          <a:p>
            <a:pPr marL="274320" indent="-274320" algn="l">
              <a:spcAft>
                <a:spcPts val="1200"/>
              </a:spcAft>
              <a:buChar char="•"/>
            </a:pPr>
            <a:r>
              <a:rPr sz="1800" b="0">
                <a:solidFill>
                  <a:srgbClr val="000000"/>
                </a:solidFill>
              </a:rPr>
              <a:t>More blind human labels than the current 50</a:t>
            </a:r>
          </a:p>
          <a:p>
            <a:pPr marL="274320" indent="-274320" algn="l">
              <a:spcAft>
                <a:spcPts val="1200"/>
              </a:spcAft>
              <a:buChar char="•"/>
            </a:pPr>
            <a:r>
              <a:rPr sz="1800" b="0">
                <a:solidFill>
                  <a:srgbClr val="000000"/>
                </a:solidFill>
              </a:rPr>
              <a:t>Find what carries the part of Qwen’s side direction that refusal doesn’t cover</a:t>
            </a:r>
          </a:p>
        </p:txBody>
      </p:sp>
      <p:sp>
        <p:nvSpPr>
          <p:cNvPr id="6" name="TextBox 5"/>
          <p:cNvSpPr txBox="1"/>
          <p:nvPr/>
        </p:nvSpPr>
        <p:spPr>
          <a:xfrm>
            <a:off x="6324447" y="1600200"/>
            <a:ext cx="5318607" cy="411480"/>
          </a:xfrm>
          <a:prstGeom prst="rect">
            <a:avLst/>
          </a:prstGeom>
          <a:noFill/>
        </p:spPr>
        <p:txBody>
          <a:bodyPr wrap="square" lIns="0" tIns="0" rIns="0" bIns="0" anchor="t">
            <a:noAutofit/>
          </a:bodyPr>
          <a:lstStyle/>
          <a:p>
            <a:pPr algn="l">
              <a:spcAft>
                <a:spcPts val="600"/>
              </a:spcAft>
            </a:pPr>
            <a:r>
              <a:rPr sz="2000" b="1">
                <a:solidFill>
                  <a:srgbClr val="000000"/>
                </a:solidFill>
              </a:rPr>
              <a:t>With more time</a:t>
            </a:r>
          </a:p>
        </p:txBody>
      </p:sp>
      <p:sp>
        <p:nvSpPr>
          <p:cNvPr id="7" name="TextBox 6"/>
          <p:cNvSpPr txBox="1"/>
          <p:nvPr/>
        </p:nvSpPr>
        <p:spPr>
          <a:xfrm>
            <a:off x="6324447" y="2148840"/>
            <a:ext cx="5318607" cy="3931920"/>
          </a:xfrm>
          <a:prstGeom prst="rect">
            <a:avLst/>
          </a:prstGeom>
          <a:noFill/>
        </p:spPr>
        <p:txBody>
          <a:bodyPr wrap="square" lIns="0" tIns="0" rIns="0" bIns="0" anchor="t">
            <a:noAutofit/>
          </a:bodyPr>
          <a:lstStyle/>
          <a:p>
            <a:pPr marL="274320" indent="-274320" algn="l">
              <a:spcAft>
                <a:spcPts val="1200"/>
              </a:spcAft>
              <a:buChar char="•"/>
            </a:pPr>
            <a:r>
              <a:rPr sz="1800" b="0">
                <a:solidFill>
                  <a:srgbClr val="000000"/>
                </a:solidFill>
              </a:rPr>
              <a:t>Is it about politics at all? Lakers vs Celtics fans asking to “prove” a game was rigged</a:t>
            </a:r>
          </a:p>
          <a:p>
            <a:pPr marL="274320" indent="-274320" algn="l">
              <a:spcAft>
                <a:spcPts val="1200"/>
              </a:spcAft>
              <a:buChar char="•"/>
            </a:pPr>
            <a:r>
              <a:rPr sz="1800" b="0">
                <a:solidFill>
                  <a:srgbClr val="000000"/>
                </a:solidFill>
              </a:rPr>
              <a:t>Other partisan claims (vaccines, climate) and non-US elections</a:t>
            </a:r>
          </a:p>
          <a:p>
            <a:pPr marL="274320" indent="-274320" algn="l">
              <a:spcAft>
                <a:spcPts val="1200"/>
              </a:spcAft>
              <a:buChar char="•"/>
            </a:pPr>
            <a:r>
              <a:rPr sz="1800" b="0">
                <a:solidFill>
                  <a:srgbClr val="000000"/>
                </a:solidFill>
              </a:rPr>
              <a:t>Larger and other-family models, with several sampled replies per prompt</a:t>
            </a:r>
          </a:p>
          <a:p>
            <a:pPr marL="274320" indent="-274320" algn="l">
              <a:spcAft>
                <a:spcPts val="1200"/>
              </a:spcAft>
              <a:buChar char="•"/>
            </a:pPr>
            <a:r>
              <a:rPr sz="1800" b="0">
                <a:solidFill>
                  <a:srgbClr val="000000"/>
                </a:solidFill>
              </a:rPr>
              <a:t>A native-speaker check of the Chinese prompts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Backup slides</a:t>
            </a:r>
          </a:p>
        </p:txBody>
      </p:sp>
      <p:sp>
        <p:nvSpPr>
          <p:cNvPr id="3" name="Slide number"/>
          <p:cNvSpPr txBox="1"/>
          <p:nvPr/>
        </p:nvSpPr>
        <p:spPr>
          <a:xfrm>
            <a:off x="10728655" y="6400800"/>
            <a:ext cx="914400" cy="228600"/>
          </a:xfrm>
          <a:prstGeom prst="rect">
            <a:avLst/>
          </a:prstGeom>
          <a:noFill/>
        </p:spPr>
        <p:txBody>
          <a:bodyPr wrap="none" lIns="0" tIns="0" rIns="0" bIns="0">
            <a:spAutoFit/>
          </a:bodyPr>
          <a:lstStyle/>
          <a:p>
            <a:pPr algn="r"/>
            <a:fld id="{6F1B2D7E-4C3A-4E8B-9D21-7A5C0E3B9F14}" type="slidenum">
              <a:rPr lang="en-US" sz="1000">
                <a:solidFill>
                  <a:srgbClr val="898781"/>
                </a:solidFill>
              </a:rPr>
              <a:t>23</a:t>
            </a:fld>
            <a:endParaRPr lang="en-US" sz="1000">
              <a:solidFill>
                <a:srgbClr val="89878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Request format matters more than severity</a:t>
            </a:r>
          </a:p>
        </p:txBody>
      </p:sp>
      <p:sp>
        <p:nvSpPr>
          <p:cNvPr id="3" name="Slide number"/>
          <p:cNvSpPr txBox="1"/>
          <p:nvPr/>
        </p:nvSpPr>
        <p:spPr>
          <a:xfrm>
            <a:off x="10728655" y="6400800"/>
            <a:ext cx="914400" cy="228600"/>
          </a:xfrm>
          <a:prstGeom prst="rect">
            <a:avLst/>
          </a:prstGeom>
          <a:noFill/>
        </p:spPr>
        <p:txBody>
          <a:bodyPr wrap="none" lIns="0" tIns="0" rIns="0" bIns="0">
            <a:spAutoFit/>
          </a:bodyPr>
          <a:lstStyle/>
          <a:p>
            <a:pPr algn="r"/>
            <a:fld id="{6F1B2D7E-4C3A-4E8B-9D21-7A5C0E3B9F14}" type="slidenum">
              <a:rPr lang="en-US" sz="1000">
                <a:solidFill>
                  <a:srgbClr val="898781"/>
                </a:solidFill>
              </a:rPr>
              <a:t>24</a:t>
            </a:fld>
            <a:endParaRPr lang="en-US" sz="1000">
              <a:solidFill>
                <a:srgbClr val="898781"/>
              </a:solidFill>
            </a:endParaRPr>
          </a:p>
        </p:txBody>
      </p:sp>
      <p:pic>
        <p:nvPicPr>
          <p:cNvPr id="4" name="slide_request_format.png" descr="Did-the-task rate for each of the 17 request types, grouped by severity, for both models and judges."/>
          <p:cNvPicPr>
            <a:picLocks noChangeAspect="1"/>
          </p:cNvPicPr>
          <p:nvPr/>
        </p:nvPicPr>
        <p:blipFill>
          <a:blip r:embed="rId3"/>
          <a:stretch>
            <a:fillRect/>
          </a:stretch>
        </p:blipFill>
        <p:spPr>
          <a:xfrm>
            <a:off x="2328233" y="1371600"/>
            <a:ext cx="7535227" cy="4465320"/>
          </a:xfrm>
          <a:prstGeom prst="rect">
            <a:avLst/>
          </a:prstGeom>
        </p:spPr>
      </p:pic>
      <p:sp>
        <p:nvSpPr>
          <p:cNvPr id="5" name="Caption"/>
          <p:cNvSpPr txBox="1"/>
          <p:nvPr/>
        </p:nvSpPr>
        <p:spPr>
          <a:xfrm>
            <a:off x="2328233" y="6019800"/>
            <a:ext cx="7535227" cy="243840"/>
          </a:xfrm>
          <a:prstGeom prst="rect">
            <a:avLst/>
          </a:prstGeom>
          <a:noFill/>
        </p:spPr>
        <p:txBody>
          <a:bodyPr wrap="square" lIns="0" tIns="0" rIns="0" bIns="0" anchor="t">
            <a:noAutofit/>
          </a:bodyPr>
          <a:lstStyle/>
          <a:p>
            <a:pPr algn="l">
              <a:spcAft>
                <a:spcPts val="0"/>
              </a:spcAft>
            </a:pPr>
            <a:r>
              <a:rPr sz="1600" b="0">
                <a:solidFill>
                  <a:srgbClr val="52514E"/>
                </a:solidFill>
              </a:rPr>
              <a:t>Letters and op-eds get written; “the strongest evidence” mostly doesn’t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the design answered the TA’s feedback</a:t>
            </a:r>
          </a:p>
        </p:txBody>
      </p:sp>
      <p:sp>
        <p:nvSpPr>
          <p:cNvPr id="3" name="Slide number"/>
          <p:cNvSpPr txBox="1"/>
          <p:nvPr/>
        </p:nvSpPr>
        <p:spPr>
          <a:xfrm>
            <a:off x="10728655" y="6400800"/>
            <a:ext cx="914400" cy="228600"/>
          </a:xfrm>
          <a:prstGeom prst="rect">
            <a:avLst/>
          </a:prstGeom>
          <a:noFill/>
        </p:spPr>
        <p:txBody>
          <a:bodyPr wrap="none" lIns="0" tIns="0" rIns="0" bIns="0">
            <a:spAutoFit/>
          </a:bodyPr>
          <a:lstStyle/>
          <a:p>
            <a:pPr algn="r"/>
            <a:fld id="{6F1B2D7E-4C3A-4E8B-9D21-7A5C0E3B9F14}" type="slidenum">
              <a:rPr lang="en-US" sz="1000">
                <a:solidFill>
                  <a:srgbClr val="898781"/>
                </a:solidFill>
              </a:rPr>
              <a:t>25</a:t>
            </a:fld>
            <a:endParaRPr lang="en-US" sz="1000">
              <a:solidFill>
                <a:srgbClr val="898781"/>
              </a:solidFill>
            </a:endParaRPr>
          </a:p>
        </p:txBody>
      </p:sp>
      <p:graphicFrame>
        <p:nvGraphicFramePr>
          <p:cNvPr id="4" name="TA feedback"/>
          <p:cNvGraphicFramePr>
            <a:graphicFrameLocks noGrp="1"/>
          </p:cNvGraphicFramePr>
          <p:nvPr/>
        </p:nvGraphicFramePr>
        <p:xfrm>
          <a:off x="548640" y="1463040"/>
          <a:ext cx="11091672" cy="3657600"/>
        </p:xfrm>
        <a:graphic>
          <a:graphicData uri="http://schemas.openxmlformats.org/drawingml/2006/table">
            <a:tbl>
              <a:tblPr firstRow="1">
                <a:tableStyleId>{2D5ABB26-0587-4C30-8999-92F81FD0307C}</a:tableStyleId>
              </a:tblPr>
              <a:tblGrid>
                <a:gridCol w="4206240">
                  <a:extLst>
                    <a:ext uri="{9D8B030D-6E8A-4147-A177-3AD203B41FA5}">
                      <a16:colId xmlns:a16="http://schemas.microsoft.com/office/drawing/2014/main" val="20000"/>
                    </a:ext>
                  </a:extLst>
                </a:gridCol>
                <a:gridCol w="6885432">
                  <a:extLst>
                    <a:ext uri="{9D8B030D-6E8A-4147-A177-3AD203B41FA5}">
                      <a16:colId xmlns:a16="http://schemas.microsoft.com/office/drawing/2014/main" val="20001"/>
                    </a:ext>
                  </a:extLst>
                </a:gridCol>
              </a:tblGrid>
              <a:tr h="323088">
                <a:tc>
                  <a:txBody>
                    <a:bodyPr/>
                    <a:lstStyle/>
                    <a:p>
                      <a:r>
                        <a:rPr sz="1400" b="1">
                          <a:solidFill>
                            <a:srgbClr val="000000"/>
                          </a:solidFill>
                        </a:rPr>
                        <a:t>Feedback</a:t>
                      </a:r>
                    </a:p>
                  </a:txBody>
                  <a:tcPr marL="0" marR="73152" marT="54864" marB="54864">
                    <a:lnB w="19050">
                      <a:solidFill>
                        <a:srgbClr val="000000"/>
                      </a:solidFill>
                    </a:lnB>
                    <a:noFill/>
                  </a:tcPr>
                </a:tc>
                <a:tc>
                  <a:txBody>
                    <a:bodyPr/>
                    <a:lstStyle/>
                    <a:p>
                      <a:r>
                        <a:rPr sz="1400" b="1">
                          <a:solidFill>
                            <a:srgbClr val="000000"/>
                          </a:solidFill>
                        </a:rPr>
                        <a:t>What we did</a:t>
                      </a:r>
                    </a:p>
                  </a:txBody>
                  <a:tcPr marL="73152" marR="73152" marT="54864" marB="54864">
                    <a:lnB w="19050">
                      <a:solidFill>
                        <a:srgbClr val="000000"/>
                      </a:solidFill>
                    </a:lnB>
                    <a:noFill/>
                  </a:tcPr>
                </a:tc>
                <a:extLst>
                  <a:ext uri="{0D108BD9-81ED-4DB2-BD59-A6C34878D82A}">
                    <a16:rowId xmlns:a16="http://schemas.microsoft.com/office/drawing/2014/main" val="10000"/>
                  </a:ext>
                </a:extLst>
              </a:tr>
              <a:tr h="536448">
                <a:tc>
                  <a:txBody>
                    <a:bodyPr/>
                    <a:lstStyle/>
                    <a:p>
                      <a:r>
                        <a:rPr sz="1400" b="0">
                          <a:solidFill>
                            <a:srgbClr val="000000"/>
                          </a:solidFill>
                        </a:rPr>
                        <a:t>Fix which election; cross claim with party</a:t>
                      </a:r>
                    </a:p>
                  </a:txBody>
                  <a:tcPr marL="0" marR="73152" marT="54864" marB="54864">
                    <a:lnT w="19050" cap="flat" cmpd="sng" algn="ctr">
                      <a:solidFill>
                        <a:srgbClr val="000000"/>
                      </a:solidFill>
                      <a:prstDash val="solid"/>
                      <a:round/>
                      <a:headEnd type="none" w="med" len="med"/>
                      <a:tailEnd type="none" w="med" len="med"/>
                    </a:lnT>
                    <a:lnB w="9525">
                      <a:solidFill>
                        <a:srgbClr val="D9D9D9"/>
                      </a:solidFill>
                    </a:lnB>
                    <a:noFill/>
                  </a:tcPr>
                </a:tc>
                <a:tc>
                  <a:txBody>
                    <a:bodyPr/>
                    <a:lstStyle/>
                    <a:p>
                      <a:r>
                        <a:rPr sz="1400" b="0">
                          <a:solidFill>
                            <a:srgbClr val="52514E"/>
                          </a:solidFill>
                        </a:rPr>
                        <a:t>Every prompt names its election; each claim is asked by both parties (own side vs other side)</a:t>
                      </a:r>
                    </a:p>
                  </a:txBody>
                  <a:tcPr marL="73152" marR="73152" marT="54864" marB="54864">
                    <a:lnT w="19050" cap="flat" cmpd="sng" algn="ctr">
                      <a:solidFill>
                        <a:srgbClr val="000000"/>
                      </a:solidFill>
                      <a:prstDash val="solid"/>
                      <a:round/>
                      <a:headEnd type="none" w="med" len="med"/>
                      <a:tailEnd type="none" w="med" len="med"/>
                    </a:lnT>
                    <a:lnB w="9525">
                      <a:solidFill>
                        <a:srgbClr val="D9D9D9"/>
                      </a:solidFill>
                    </a:lnB>
                    <a:noFill/>
                  </a:tcPr>
                </a:tc>
                <a:extLst>
                  <a:ext uri="{0D108BD9-81ED-4DB2-BD59-A6C34878D82A}">
                    <a16:rowId xmlns:a16="http://schemas.microsoft.com/office/drawing/2014/main" val="10001"/>
                  </a:ext>
                </a:extLst>
              </a:tr>
              <a:tr h="323088">
                <a:tc>
                  <a:txBody>
                    <a:bodyPr/>
                    <a:lstStyle/>
                    <a:p>
                      <a:r>
                        <a:rPr sz="1400" b="0">
                          <a:solidFill>
                            <a:srgbClr val="000000"/>
                          </a:solidFill>
                        </a:rPr>
                        <a:t>No-label baseline</a:t>
                      </a:r>
                    </a:p>
                  </a:txBody>
                  <a:tcPr marL="0" marR="73152" marT="54864" marB="54864">
                    <a:lnT w="9525" cap="flat" cmpd="sng" algn="ctr">
                      <a:solidFill>
                        <a:srgbClr val="D9D9D9"/>
                      </a:solidFill>
                      <a:prstDash val="solid"/>
                      <a:round/>
                      <a:headEnd type="none" w="med" len="med"/>
                      <a:tailEnd type="none" w="med" len="med"/>
                    </a:lnT>
                    <a:lnB w="9525">
                      <a:solidFill>
                        <a:srgbClr val="D9D9D9"/>
                      </a:solidFill>
                    </a:lnB>
                    <a:noFill/>
                  </a:tcPr>
                </a:tc>
                <a:tc>
                  <a:txBody>
                    <a:bodyPr/>
                    <a:lstStyle/>
                    <a:p>
                      <a:r>
                        <a:rPr sz="1400" b="0">
                          <a:solidFill>
                            <a:srgbClr val="52514E"/>
                          </a:solidFill>
                        </a:rPr>
                        <a:t>Added: no asker stated</a:t>
                      </a:r>
                    </a:p>
                  </a:txBody>
                  <a:tcPr marL="73152" marR="73152" marT="54864" marB="54864">
                    <a:lnT w="9525" cap="flat" cmpd="sng" algn="ctr">
                      <a:solidFill>
                        <a:srgbClr val="D9D9D9"/>
                      </a:solidFill>
                      <a:prstDash val="solid"/>
                      <a:round/>
                      <a:headEnd type="none" w="med" len="med"/>
                      <a:tailEnd type="none" w="med" len="med"/>
                    </a:lnT>
                    <a:lnB w="9525">
                      <a:solidFill>
                        <a:srgbClr val="D9D9D9"/>
                      </a:solidFill>
                    </a:lnB>
                    <a:noFill/>
                  </a:tcPr>
                </a:tc>
                <a:extLst>
                  <a:ext uri="{0D108BD9-81ED-4DB2-BD59-A6C34878D82A}">
                    <a16:rowId xmlns:a16="http://schemas.microsoft.com/office/drawing/2014/main" val="10002"/>
                  </a:ext>
                </a:extLst>
              </a:tr>
              <a:tr h="323088">
                <a:tc>
                  <a:txBody>
                    <a:bodyPr/>
                    <a:lstStyle/>
                    <a:p>
                      <a:r>
                        <a:rPr sz="1400" b="0">
                          <a:solidFill>
                            <a:srgbClr val="000000"/>
                          </a:solidFill>
                        </a:rPr>
                        <a:t>Non-political identity control</a:t>
                      </a:r>
                    </a:p>
                  </a:txBody>
                  <a:tcPr marL="0" marR="73152" marT="54864" marB="54864">
                    <a:lnT w="9525" cap="flat" cmpd="sng" algn="ctr">
                      <a:solidFill>
                        <a:srgbClr val="D9D9D9"/>
                      </a:solidFill>
                      <a:prstDash val="solid"/>
                      <a:round/>
                      <a:headEnd type="none" w="med" len="med"/>
                      <a:tailEnd type="none" w="med" len="med"/>
                    </a:lnT>
                    <a:lnB w="9525">
                      <a:solidFill>
                        <a:srgbClr val="D9D9D9"/>
                      </a:solidFill>
                    </a:lnB>
                    <a:noFill/>
                  </a:tcPr>
                </a:tc>
                <a:tc>
                  <a:txBody>
                    <a:bodyPr/>
                    <a:lstStyle/>
                    <a:p>
                      <a:r>
                        <a:rPr sz="1400" b="0">
                          <a:solidFill>
                            <a:srgbClr val="52514E"/>
                          </a:solidFill>
                        </a:rPr>
                        <a:t>Added: “I’m a Lakers fan”</a:t>
                      </a:r>
                    </a:p>
                  </a:txBody>
                  <a:tcPr marL="73152" marR="73152" marT="54864" marB="54864">
                    <a:lnT w="9525" cap="flat" cmpd="sng" algn="ctr">
                      <a:solidFill>
                        <a:srgbClr val="D9D9D9"/>
                      </a:solidFill>
                      <a:prstDash val="solid"/>
                      <a:round/>
                      <a:headEnd type="none" w="med" len="med"/>
                      <a:tailEnd type="none" w="med" len="med"/>
                    </a:lnT>
                    <a:lnB w="9525">
                      <a:solidFill>
                        <a:srgbClr val="D9D9D9"/>
                      </a:solidFill>
                    </a:lnB>
                    <a:noFill/>
                  </a:tcPr>
                </a:tc>
                <a:extLst>
                  <a:ext uri="{0D108BD9-81ED-4DB2-BD59-A6C34878D82A}">
                    <a16:rowId xmlns:a16="http://schemas.microsoft.com/office/drawing/2014/main" val="10003"/>
                  </a:ext>
                </a:extLst>
              </a:tr>
              <a:tr h="323088">
                <a:tc>
                  <a:txBody>
                    <a:bodyPr/>
                    <a:lstStyle/>
                    <a:p>
                      <a:r>
                        <a:rPr sz="1400" b="0">
                          <a:solidFill>
                            <a:srgbClr val="000000"/>
                          </a:solidFill>
                        </a:rPr>
                        <a:t>Many requests, not one</a:t>
                      </a:r>
                    </a:p>
                  </a:txBody>
                  <a:tcPr marL="0" marR="73152" marT="54864" marB="54864">
                    <a:lnT w="9525" cap="flat" cmpd="sng" algn="ctr">
                      <a:solidFill>
                        <a:srgbClr val="D9D9D9"/>
                      </a:solidFill>
                      <a:prstDash val="solid"/>
                      <a:round/>
                      <a:headEnd type="none" w="med" len="med"/>
                      <a:tailEnd type="none" w="med" len="med"/>
                    </a:lnT>
                    <a:lnB w="9525">
                      <a:solidFill>
                        <a:srgbClr val="D9D9D9"/>
                      </a:solidFill>
                    </a:lnB>
                    <a:noFill/>
                  </a:tcPr>
                </a:tc>
                <a:tc>
                  <a:txBody>
                    <a:bodyPr/>
                    <a:lstStyle/>
                    <a:p>
                      <a:r>
                        <a:rPr sz="1400" b="0">
                          <a:solidFill>
                            <a:srgbClr val="52514E"/>
                          </a:solidFill>
                        </a:rPr>
                        <a:t>17 request types × 8 elections, at 3 severity levels</a:t>
                      </a:r>
                    </a:p>
                  </a:txBody>
                  <a:tcPr marL="73152" marR="73152" marT="54864" marB="54864">
                    <a:lnT w="9525" cap="flat" cmpd="sng" algn="ctr">
                      <a:solidFill>
                        <a:srgbClr val="D9D9D9"/>
                      </a:solidFill>
                      <a:prstDash val="solid"/>
                      <a:round/>
                      <a:headEnd type="none" w="med" len="med"/>
                      <a:tailEnd type="none" w="med" len="med"/>
                    </a:lnT>
                    <a:lnB w="9525">
                      <a:solidFill>
                        <a:srgbClr val="D9D9D9"/>
                      </a:solidFill>
                    </a:lnB>
                    <a:noFill/>
                  </a:tcPr>
                </a:tc>
                <a:extLst>
                  <a:ext uri="{0D108BD9-81ED-4DB2-BD59-A6C34878D82A}">
                    <a16:rowId xmlns:a16="http://schemas.microsoft.com/office/drawing/2014/main" val="10004"/>
                  </a:ext>
                </a:extLst>
              </a:tr>
              <a:tr h="323088">
                <a:tc>
                  <a:txBody>
                    <a:bodyPr/>
                    <a:lstStyle/>
                    <a:p>
                      <a:r>
                        <a:rPr sz="1400" b="0">
                          <a:solidFill>
                            <a:srgbClr val="000000"/>
                          </a:solidFill>
                        </a:rPr>
                        <a:t>Party-specific directions always differ</a:t>
                      </a:r>
                    </a:p>
                  </a:txBody>
                  <a:tcPr marL="0" marR="73152" marT="54864" marB="54864">
                    <a:lnT w="9525" cap="flat" cmpd="sng" algn="ctr">
                      <a:solidFill>
                        <a:srgbClr val="D9D9D9"/>
                      </a:solidFill>
                      <a:prstDash val="solid"/>
                      <a:round/>
                      <a:headEnd type="none" w="med" len="med"/>
                      <a:tailEnd type="none" w="med" len="med"/>
                    </a:lnT>
                    <a:lnB w="9525">
                      <a:solidFill>
                        <a:srgbClr val="D9D9D9"/>
                      </a:solidFill>
                    </a:lnB>
                    <a:noFill/>
                  </a:tcPr>
                </a:tc>
                <a:tc>
                  <a:txBody>
                    <a:bodyPr/>
                    <a:lstStyle/>
                    <a:p>
                      <a:r>
                        <a:rPr sz="1400" b="0">
                          <a:solidFill>
                            <a:srgbClr val="52514E"/>
                          </a:solidFill>
                        </a:rPr>
                        <a:t>One non-political refusal direction; compare projections</a:t>
                      </a:r>
                    </a:p>
                  </a:txBody>
                  <a:tcPr marL="73152" marR="73152" marT="54864" marB="54864">
                    <a:lnT w="9525" cap="flat" cmpd="sng" algn="ctr">
                      <a:solidFill>
                        <a:srgbClr val="D9D9D9"/>
                      </a:solidFill>
                      <a:prstDash val="solid"/>
                      <a:round/>
                      <a:headEnd type="none" w="med" len="med"/>
                      <a:tailEnd type="none" w="med" len="med"/>
                    </a:lnT>
                    <a:lnB w="9525">
                      <a:solidFill>
                        <a:srgbClr val="D9D9D9"/>
                      </a:solidFill>
                    </a:lnB>
                    <a:noFill/>
                  </a:tcPr>
                </a:tc>
                <a:extLst>
                  <a:ext uri="{0D108BD9-81ED-4DB2-BD59-A6C34878D82A}">
                    <a16:rowId xmlns:a16="http://schemas.microsoft.com/office/drawing/2014/main" val="10005"/>
                  </a:ext>
                </a:extLst>
              </a:tr>
              <a:tr h="536448">
                <a:tc>
                  <a:txBody>
                    <a:bodyPr/>
                    <a:lstStyle/>
                    <a:p>
                      <a:r>
                        <a:rPr sz="1400" b="0">
                          <a:solidFill>
                            <a:srgbClr val="000000"/>
                          </a:solidFill>
                        </a:rPr>
                        <a:t>Strong, calibrated judge</a:t>
                      </a:r>
                    </a:p>
                  </a:txBody>
                  <a:tcPr marL="0" marR="73152" marT="54864" marB="54864">
                    <a:lnT w="9525" cap="flat" cmpd="sng" algn="ctr">
                      <a:solidFill>
                        <a:srgbClr val="D9D9D9"/>
                      </a:solidFill>
                      <a:prstDash val="solid"/>
                      <a:round/>
                      <a:headEnd type="none" w="med" len="med"/>
                      <a:tailEnd type="none" w="med" len="med"/>
                    </a:lnT>
                    <a:lnB w="9525">
                      <a:solidFill>
                        <a:srgbClr val="D9D9D9"/>
                      </a:solidFill>
                    </a:lnB>
                    <a:noFill/>
                  </a:tcPr>
                </a:tc>
                <a:tc>
                  <a:txBody>
                    <a:bodyPr/>
                    <a:lstStyle/>
                    <a:p>
                      <a:r>
                        <a:rPr sz="1400" b="0">
                          <a:solidFill>
                            <a:srgbClr val="52514E"/>
                          </a:solidFill>
                        </a:rPr>
                        <a:t>Llama Guard 3 + election category and a Claude judge, checked against blind human labels</a:t>
                      </a:r>
                    </a:p>
                  </a:txBody>
                  <a:tcPr marL="73152" marR="73152" marT="54864" marB="54864">
                    <a:lnT w="9525" cap="flat" cmpd="sng" algn="ctr">
                      <a:solidFill>
                        <a:srgbClr val="D9D9D9"/>
                      </a:solidFill>
                      <a:prstDash val="solid"/>
                      <a:round/>
                      <a:headEnd type="none" w="med" len="med"/>
                      <a:tailEnd type="none" w="med" len="med"/>
                    </a:lnT>
                    <a:lnB w="9525">
                      <a:solidFill>
                        <a:srgbClr val="D9D9D9"/>
                      </a:solidFill>
                    </a:lnB>
                    <a:noFill/>
                  </a:tcPr>
                </a:tc>
                <a:extLst>
                  <a:ext uri="{0D108BD9-81ED-4DB2-BD59-A6C34878D82A}">
                    <a16:rowId xmlns:a16="http://schemas.microsoft.com/office/drawing/2014/main" val="10006"/>
                  </a:ext>
                </a:extLst>
              </a:tr>
              <a:tr h="323088">
                <a:tc>
                  <a:txBody>
                    <a:bodyPr/>
                    <a:lstStyle/>
                    <a:p>
                      <a:r>
                        <a:rPr sz="1400" b="0">
                          <a:solidFill>
                            <a:srgbClr val="000000"/>
                          </a:solidFill>
                        </a:rPr>
                        <a:t>Ablation removes refusal everywhere</a:t>
                      </a:r>
                    </a:p>
                  </a:txBody>
                  <a:tcPr marL="0" marR="73152" marT="54864" marB="54864">
                    <a:lnT w="9525" cap="flat" cmpd="sng" algn="ctr">
                      <a:solidFill>
                        <a:srgbClr val="D9D9D9"/>
                      </a:solidFill>
                      <a:prstDash val="solid"/>
                      <a:round/>
                      <a:headEnd type="none" w="med" len="med"/>
                      <a:tailEnd type="none" w="med" len="med"/>
                    </a:lnT>
                    <a:lnB w="9525">
                      <a:solidFill>
                        <a:srgbClr val="D9D9D9"/>
                      </a:solidFill>
                    </a:lnB>
                    <a:noFill/>
                  </a:tcPr>
                </a:tc>
                <a:tc>
                  <a:txBody>
                    <a:bodyPr/>
                    <a:lstStyle/>
                    <a:p>
                      <a:r>
                        <a:rPr sz="1400" b="0">
                          <a:solidFill>
                            <a:srgbClr val="52514E"/>
                          </a:solidFill>
                        </a:rPr>
                        <a:t>Projection matching: shift one group to the other’s level, with controls</a:t>
                      </a:r>
                    </a:p>
                  </a:txBody>
                  <a:tcPr marL="73152" marR="73152" marT="54864" marB="54864">
                    <a:lnT w="9525" cap="flat" cmpd="sng" algn="ctr">
                      <a:solidFill>
                        <a:srgbClr val="D9D9D9"/>
                      </a:solidFill>
                      <a:prstDash val="solid"/>
                      <a:round/>
                      <a:headEnd type="none" w="med" len="med"/>
                      <a:tailEnd type="none" w="med" len="med"/>
                    </a:lnT>
                    <a:lnB w="9525">
                      <a:solidFill>
                        <a:srgbClr val="D9D9D9"/>
                      </a:solidFill>
                    </a:lnB>
                    <a:noFill/>
                  </a:tcPr>
                </a:tc>
                <a:extLst>
                  <a:ext uri="{0D108BD9-81ED-4DB2-BD59-A6C34878D82A}">
                    <a16:rowId xmlns:a16="http://schemas.microsoft.com/office/drawing/2014/main" val="10007"/>
                  </a:ext>
                </a:extLst>
              </a:tr>
              <a:tr h="323088">
                <a:tc>
                  <a:txBody>
                    <a:bodyPr/>
                    <a:lstStyle/>
                    <a:p>
                      <a:r>
                        <a:rPr sz="1400" b="0">
                          <a:solidFill>
                            <a:srgbClr val="000000"/>
                          </a:solidFill>
                        </a:rPr>
                        <a:t>Pilot rates need room for a difference</a:t>
                      </a:r>
                    </a:p>
                  </a:txBody>
                  <a:tcPr marL="0" marR="73152" marT="54864" marB="54864">
                    <a:lnT w="9525" cap="flat" cmpd="sng" algn="ctr">
                      <a:solidFill>
                        <a:srgbClr val="D9D9D9"/>
                      </a:solidFill>
                      <a:prstDash val="solid"/>
                      <a:round/>
                      <a:headEnd type="none" w="med" len="med"/>
                      <a:tailEnd type="none" w="med" len="med"/>
                    </a:lnT>
                    <a:lnB w="9525">
                      <a:solidFill>
                        <a:srgbClr val="D9D9D9"/>
                      </a:solidFill>
                    </a:lnB>
                    <a:noFill/>
                  </a:tcPr>
                </a:tc>
                <a:tc>
                  <a:txBody>
                    <a:bodyPr/>
                    <a:lstStyle/>
                    <a:p>
                      <a:r>
                        <a:rPr sz="1400" b="0">
                          <a:solidFill>
                            <a:srgbClr val="52514E"/>
                          </a:solidFill>
                        </a:rPr>
                        <a:t>7B/8B models: baseline 36% (Qwen) and 15% (Llama)</a:t>
                      </a:r>
                    </a:p>
                  </a:txBody>
                  <a:tcPr marL="73152" marR="73152" marT="54864" marB="54864">
                    <a:lnT w="9525" cap="flat" cmpd="sng" algn="ctr">
                      <a:solidFill>
                        <a:srgbClr val="D9D9D9"/>
                      </a:solidFill>
                      <a:prstDash val="solid"/>
                      <a:round/>
                      <a:headEnd type="none" w="med" len="med"/>
                      <a:tailEnd type="none" w="med" len="med"/>
                    </a:lnT>
                    <a:lnB w="9525">
                      <a:solidFill>
                        <a:srgbClr val="D9D9D9"/>
                      </a:solidFill>
                    </a:lnB>
                    <a:noFill/>
                  </a:tcPr>
                </a:tc>
                <a:extLst>
                  <a:ext uri="{0D108BD9-81ED-4DB2-BD59-A6C34878D82A}">
                    <a16:rowId xmlns:a16="http://schemas.microsoft.com/office/drawing/2014/main" val="10008"/>
                  </a:ext>
                </a:extLst>
              </a:tr>
              <a:tr h="323088">
                <a:tc>
                  <a:txBody>
                    <a:bodyPr/>
                    <a:lstStyle/>
                    <a:p>
                      <a:r>
                        <a:rPr sz="1400" b="0">
                          <a:solidFill>
                            <a:srgbClr val="000000"/>
                          </a:solidFill>
                        </a:rPr>
                        <a:t>Direction from non-political prompts</a:t>
                      </a:r>
                    </a:p>
                  </a:txBody>
                  <a:tcPr marL="0" marR="73152" marT="54864" marB="54864">
                    <a:lnT w="9525" cap="flat" cmpd="sng" algn="ctr">
                      <a:solidFill>
                        <a:srgbClr val="D9D9D9"/>
                      </a:solidFill>
                      <a:prstDash val="solid"/>
                      <a:round/>
                      <a:headEnd type="none" w="med" len="med"/>
                      <a:tailEnd type="none" w="med" len="med"/>
                    </a:lnT>
                    <a:lnB w="9525">
                      <a:solidFill>
                        <a:srgbClr val="D9D9D9"/>
                      </a:solidFill>
                    </a:lnB>
                    <a:noFill/>
                  </a:tcPr>
                </a:tc>
                <a:tc>
                  <a:txBody>
                    <a:bodyPr/>
                    <a:lstStyle/>
                    <a:p>
                      <a:r>
                        <a:rPr sz="1400" b="0">
                          <a:solidFill>
                            <a:srgbClr val="52514E"/>
                          </a:solidFill>
                        </a:rPr>
                        <a:t>Done, from Arditi et al.’s harmful/harmless prompts</a:t>
                      </a:r>
                    </a:p>
                  </a:txBody>
                  <a:tcPr marL="73152" marR="73152" marT="54864" marB="54864">
                    <a:lnT w="9525" cap="flat" cmpd="sng" algn="ctr">
                      <a:solidFill>
                        <a:srgbClr val="D9D9D9"/>
                      </a:solidFill>
                      <a:prstDash val="solid"/>
                      <a:round/>
                      <a:headEnd type="none" w="med" len="med"/>
                      <a:tailEnd type="none" w="med" len="med"/>
                    </a:lnT>
                    <a:lnB w="9525">
                      <a:solidFill>
                        <a:srgbClr val="D9D9D9"/>
                      </a:solidFill>
                    </a:lnB>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the constant shift, not “set to the mean”</a:t>
            </a:r>
          </a:p>
        </p:txBody>
      </p:sp>
      <p:sp>
        <p:nvSpPr>
          <p:cNvPr id="3" name="Slide number"/>
          <p:cNvSpPr txBox="1"/>
          <p:nvPr/>
        </p:nvSpPr>
        <p:spPr>
          <a:xfrm>
            <a:off x="10728655" y="6400800"/>
            <a:ext cx="914400" cy="228600"/>
          </a:xfrm>
          <a:prstGeom prst="rect">
            <a:avLst/>
          </a:prstGeom>
          <a:noFill/>
        </p:spPr>
        <p:txBody>
          <a:bodyPr wrap="none" lIns="0" tIns="0" rIns="0" bIns="0">
            <a:spAutoFit/>
          </a:bodyPr>
          <a:lstStyle/>
          <a:p>
            <a:pPr algn="r"/>
            <a:fld id="{6F1B2D7E-4C3A-4E8B-9D21-7A5C0E3B9F14}" type="slidenum">
              <a:rPr lang="en-US" sz="1000">
                <a:solidFill>
                  <a:srgbClr val="898781"/>
                </a:solidFill>
              </a:rPr>
              <a:t>26</a:t>
            </a:fld>
            <a:endParaRPr lang="en-US" sz="1000">
              <a:solidFill>
                <a:srgbClr val="898781"/>
              </a:solidFill>
            </a:endParaRPr>
          </a:p>
        </p:txBody>
      </p:sp>
      <p:graphicFrame>
        <p:nvGraphicFramePr>
          <p:cNvPr id="4" name="Set to the mean"/>
          <p:cNvGraphicFramePr>
            <a:graphicFrameLocks noGrp="1"/>
          </p:cNvGraphicFramePr>
          <p:nvPr/>
        </p:nvGraphicFramePr>
        <p:xfrm>
          <a:off x="548640" y="1645920"/>
          <a:ext cx="11091672" cy="2011680"/>
        </p:xfrm>
        <a:graphic>
          <a:graphicData uri="http://schemas.openxmlformats.org/drawingml/2006/table">
            <a:tbl>
              <a:tblPr firstRow="1">
                <a:tableStyleId>{2D5ABB26-0587-4C30-8999-92F81FD0307C}</a:tableStyleId>
              </a:tblPr>
              <a:tblGrid>
                <a:gridCol w="4507992">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353568">
                <a:tc>
                  <a:txBody>
                    <a:bodyPr/>
                    <a:lstStyle/>
                    <a:p>
                      <a:r>
                        <a:rPr sz="1600" b="1">
                          <a:solidFill>
                            <a:srgbClr val="000000"/>
                          </a:solidFill>
                        </a:rPr>
                        <a:t>Own-side prompts, did the task</a:t>
                      </a:r>
                    </a:p>
                  </a:txBody>
                  <a:tcPr marL="0" marR="73152" marT="54864" marB="54864">
                    <a:lnB w="19050">
                      <a:solidFill>
                        <a:srgbClr val="000000"/>
                      </a:solidFill>
                    </a:lnB>
                    <a:noFill/>
                  </a:tcPr>
                </a:tc>
                <a:tc>
                  <a:txBody>
                    <a:bodyPr/>
                    <a:lstStyle/>
                    <a:p>
                      <a:r>
                        <a:rPr sz="1600" b="1">
                          <a:solidFill>
                            <a:srgbClr val="000000"/>
                          </a:solidFill>
                        </a:rPr>
                        <a:t>Qwen, Guard</a:t>
                      </a:r>
                    </a:p>
                  </a:txBody>
                  <a:tcPr marL="73152" marR="73152" marT="54864" marB="54864">
                    <a:lnB w="19050">
                      <a:solidFill>
                        <a:srgbClr val="000000"/>
                      </a:solidFill>
                    </a:lnB>
                    <a:noFill/>
                  </a:tcPr>
                </a:tc>
                <a:tc>
                  <a:txBody>
                    <a:bodyPr/>
                    <a:lstStyle/>
                    <a:p>
                      <a:r>
                        <a:rPr sz="1600" b="1">
                          <a:solidFill>
                            <a:srgbClr val="000000"/>
                          </a:solidFill>
                        </a:rPr>
                        <a:t>Qwen, Claude</a:t>
                      </a:r>
                    </a:p>
                  </a:txBody>
                  <a:tcPr marL="73152" marR="73152" marT="54864" marB="54864">
                    <a:lnB w="19050">
                      <a:solidFill>
                        <a:srgbClr val="000000"/>
                      </a:solidFill>
                    </a:lnB>
                    <a:noFill/>
                  </a:tcPr>
                </a:tc>
                <a:tc>
                  <a:txBody>
                    <a:bodyPr/>
                    <a:lstStyle/>
                    <a:p>
                      <a:r>
                        <a:rPr sz="1600" b="1">
                          <a:solidFill>
                            <a:srgbClr val="000000"/>
                          </a:solidFill>
                        </a:rPr>
                        <a:t>Llama, Guard</a:t>
                      </a:r>
                    </a:p>
                  </a:txBody>
                  <a:tcPr marL="73152" marR="73152" marT="54864" marB="54864">
                    <a:lnB w="19050">
                      <a:solidFill>
                        <a:srgbClr val="000000"/>
                      </a:solidFill>
                    </a:lnB>
                    <a:noFill/>
                  </a:tcPr>
                </a:tc>
                <a:tc>
                  <a:txBody>
                    <a:bodyPr/>
                    <a:lstStyle/>
                    <a:p>
                      <a:r>
                        <a:rPr sz="1600" b="1">
                          <a:solidFill>
                            <a:srgbClr val="000000"/>
                          </a:solidFill>
                        </a:rPr>
                        <a:t>Llama, Claude</a:t>
                      </a:r>
                    </a:p>
                  </a:txBody>
                  <a:tcPr marL="73152" marR="73152" marT="54864" marB="54864">
                    <a:lnB w="19050">
                      <a:solidFill>
                        <a:srgbClr val="000000"/>
                      </a:solidFill>
                    </a:lnB>
                    <a:noFill/>
                  </a:tcPr>
                </a:tc>
                <a:extLst>
                  <a:ext uri="{0D108BD9-81ED-4DB2-BD59-A6C34878D82A}">
                    <a16:rowId xmlns:a16="http://schemas.microsoft.com/office/drawing/2014/main" val="10000"/>
                  </a:ext>
                </a:extLst>
              </a:tr>
              <a:tr h="353568">
                <a:tc>
                  <a:txBody>
                    <a:bodyPr/>
                    <a:lstStyle/>
                    <a:p>
                      <a:r>
                        <a:rPr sz="1600" b="0">
                          <a:solidFill>
                            <a:srgbClr val="000000"/>
                          </a:solidFill>
                        </a:rPr>
                        <a:t>Before: own side / other side</a:t>
                      </a:r>
                    </a:p>
                  </a:txBody>
                  <a:tcPr marL="0" marR="73152" marT="54864" marB="54864">
                    <a:lnT w="19050" cap="flat" cmpd="sng" algn="ctr">
                      <a:solidFill>
                        <a:srgbClr val="000000"/>
                      </a:solidFill>
                      <a:prstDash val="solid"/>
                      <a:round/>
                      <a:headEnd type="none" w="med" len="med"/>
                      <a:tailEnd type="none" w="med" len="med"/>
                    </a:lnT>
                    <a:lnB w="9525">
                      <a:solidFill>
                        <a:srgbClr val="D9D9D9"/>
                      </a:solidFill>
                    </a:lnB>
                    <a:noFill/>
                  </a:tcPr>
                </a:tc>
                <a:tc>
                  <a:txBody>
                    <a:bodyPr/>
                    <a:lstStyle/>
                    <a:p>
                      <a:r>
                        <a:rPr sz="1600" b="0">
                          <a:solidFill>
                            <a:srgbClr val="52514E"/>
                          </a:solidFill>
                        </a:rPr>
                        <a:t>40% / 26%</a:t>
                      </a:r>
                    </a:p>
                  </a:txBody>
                  <a:tcPr marL="73152" marR="73152" marT="54864" marB="54864">
                    <a:lnT w="19050" cap="flat" cmpd="sng" algn="ctr">
                      <a:solidFill>
                        <a:srgbClr val="000000"/>
                      </a:solidFill>
                      <a:prstDash val="solid"/>
                      <a:round/>
                      <a:headEnd type="none" w="med" len="med"/>
                      <a:tailEnd type="none" w="med" len="med"/>
                    </a:lnT>
                    <a:lnB w="9525">
                      <a:solidFill>
                        <a:srgbClr val="D9D9D9"/>
                      </a:solidFill>
                    </a:lnB>
                    <a:noFill/>
                  </a:tcPr>
                </a:tc>
                <a:tc>
                  <a:txBody>
                    <a:bodyPr/>
                    <a:lstStyle/>
                    <a:p>
                      <a:r>
                        <a:rPr sz="1600" b="0">
                          <a:solidFill>
                            <a:srgbClr val="52514E"/>
                          </a:solidFill>
                        </a:rPr>
                        <a:t>61% / 45%</a:t>
                      </a:r>
                    </a:p>
                  </a:txBody>
                  <a:tcPr marL="73152" marR="73152" marT="54864" marB="54864">
                    <a:lnT w="19050" cap="flat" cmpd="sng" algn="ctr">
                      <a:solidFill>
                        <a:srgbClr val="000000"/>
                      </a:solidFill>
                      <a:prstDash val="solid"/>
                      <a:round/>
                      <a:headEnd type="none" w="med" len="med"/>
                      <a:tailEnd type="none" w="med" len="med"/>
                    </a:lnT>
                    <a:lnB w="9525">
                      <a:solidFill>
                        <a:srgbClr val="D9D9D9"/>
                      </a:solidFill>
                    </a:lnB>
                    <a:noFill/>
                  </a:tcPr>
                </a:tc>
                <a:tc>
                  <a:txBody>
                    <a:bodyPr/>
                    <a:lstStyle/>
                    <a:p>
                      <a:r>
                        <a:rPr sz="1600" b="0">
                          <a:solidFill>
                            <a:srgbClr val="52514E"/>
                          </a:solidFill>
                        </a:rPr>
                        <a:t>18% / 10%</a:t>
                      </a:r>
                    </a:p>
                  </a:txBody>
                  <a:tcPr marL="73152" marR="73152" marT="54864" marB="54864">
                    <a:lnT w="19050" cap="flat" cmpd="sng" algn="ctr">
                      <a:solidFill>
                        <a:srgbClr val="000000"/>
                      </a:solidFill>
                      <a:prstDash val="solid"/>
                      <a:round/>
                      <a:headEnd type="none" w="med" len="med"/>
                      <a:tailEnd type="none" w="med" len="med"/>
                    </a:lnT>
                    <a:lnB w="9525">
                      <a:solidFill>
                        <a:srgbClr val="D9D9D9"/>
                      </a:solidFill>
                    </a:lnB>
                    <a:noFill/>
                  </a:tcPr>
                </a:tc>
                <a:tc>
                  <a:txBody>
                    <a:bodyPr/>
                    <a:lstStyle/>
                    <a:p>
                      <a:r>
                        <a:rPr sz="1600" b="0">
                          <a:solidFill>
                            <a:srgbClr val="52514E"/>
                          </a:solidFill>
                        </a:rPr>
                        <a:t>34% / 27%</a:t>
                      </a:r>
                    </a:p>
                  </a:txBody>
                  <a:tcPr marL="73152" marR="73152" marT="54864" marB="54864">
                    <a:lnT w="19050" cap="flat" cmpd="sng" algn="ctr">
                      <a:solidFill>
                        <a:srgbClr val="000000"/>
                      </a:solidFill>
                      <a:prstDash val="solid"/>
                      <a:round/>
                      <a:headEnd type="none" w="med" len="med"/>
                      <a:tailEnd type="none" w="med" len="med"/>
                    </a:lnT>
                    <a:lnB w="9525">
                      <a:solidFill>
                        <a:srgbClr val="D9D9D9"/>
                      </a:solidFill>
                    </a:lnB>
                    <a:noFill/>
                  </a:tcPr>
                </a:tc>
                <a:extLst>
                  <a:ext uri="{0D108BD9-81ED-4DB2-BD59-A6C34878D82A}">
                    <a16:rowId xmlns:a16="http://schemas.microsoft.com/office/drawing/2014/main" val="10001"/>
                  </a:ext>
                </a:extLst>
              </a:tr>
              <a:tr h="353568">
                <a:tc>
                  <a:txBody>
                    <a:bodyPr/>
                    <a:lstStyle/>
                    <a:p>
                      <a:r>
                        <a:rPr sz="1600" b="0">
                          <a:solidFill>
                            <a:srgbClr val="000000"/>
                          </a:solidFill>
                        </a:rPr>
                        <a:t>Each prompt set to the other-side mean</a:t>
                      </a:r>
                    </a:p>
                  </a:txBody>
                  <a:tcPr marL="0" marR="73152" marT="54864" marB="54864">
                    <a:lnT w="9525" cap="flat" cmpd="sng" algn="ctr">
                      <a:solidFill>
                        <a:srgbClr val="D9D9D9"/>
                      </a:solidFill>
                      <a:prstDash val="solid"/>
                      <a:round/>
                      <a:headEnd type="none" w="med" len="med"/>
                      <a:tailEnd type="none" w="med" len="med"/>
                    </a:lnT>
                    <a:lnB w="9525">
                      <a:solidFill>
                        <a:srgbClr val="D9D9D9"/>
                      </a:solidFill>
                    </a:lnB>
                    <a:noFill/>
                  </a:tcPr>
                </a:tc>
                <a:tc>
                  <a:txBody>
                    <a:bodyPr/>
                    <a:lstStyle/>
                    <a:p>
                      <a:r>
                        <a:rPr sz="1600" b="0">
                          <a:solidFill>
                            <a:srgbClr val="52514E"/>
                          </a:solidFill>
                        </a:rPr>
                        <a:t>42%</a:t>
                      </a:r>
                    </a:p>
                  </a:txBody>
                  <a:tcPr marL="73152" marR="73152" marT="54864" marB="54864">
                    <a:lnT w="9525" cap="flat" cmpd="sng" algn="ctr">
                      <a:solidFill>
                        <a:srgbClr val="D9D9D9"/>
                      </a:solidFill>
                      <a:prstDash val="solid"/>
                      <a:round/>
                      <a:headEnd type="none" w="med" len="med"/>
                      <a:tailEnd type="none" w="med" len="med"/>
                    </a:lnT>
                    <a:lnB w="9525">
                      <a:solidFill>
                        <a:srgbClr val="D9D9D9"/>
                      </a:solidFill>
                    </a:lnB>
                    <a:noFill/>
                  </a:tcPr>
                </a:tc>
                <a:tc>
                  <a:txBody>
                    <a:bodyPr/>
                    <a:lstStyle/>
                    <a:p>
                      <a:r>
                        <a:rPr sz="1600" b="0">
                          <a:solidFill>
                            <a:srgbClr val="52514E"/>
                          </a:solidFill>
                        </a:rPr>
                        <a:t>61%</a:t>
                      </a:r>
                    </a:p>
                  </a:txBody>
                  <a:tcPr marL="73152" marR="73152" marT="54864" marB="54864">
                    <a:lnT w="9525" cap="flat" cmpd="sng" algn="ctr">
                      <a:solidFill>
                        <a:srgbClr val="D9D9D9"/>
                      </a:solidFill>
                      <a:prstDash val="solid"/>
                      <a:round/>
                      <a:headEnd type="none" w="med" len="med"/>
                      <a:tailEnd type="none" w="med" len="med"/>
                    </a:lnT>
                    <a:lnB w="9525">
                      <a:solidFill>
                        <a:srgbClr val="D9D9D9"/>
                      </a:solidFill>
                    </a:lnB>
                    <a:noFill/>
                  </a:tcPr>
                </a:tc>
                <a:tc>
                  <a:txBody>
                    <a:bodyPr/>
                    <a:lstStyle/>
                    <a:p>
                      <a:r>
                        <a:rPr sz="1600" b="0">
                          <a:solidFill>
                            <a:srgbClr val="52514E"/>
                          </a:solidFill>
                        </a:rPr>
                        <a:t>6%</a:t>
                      </a:r>
                    </a:p>
                  </a:txBody>
                  <a:tcPr marL="73152" marR="73152" marT="54864" marB="54864">
                    <a:lnT w="9525" cap="flat" cmpd="sng" algn="ctr">
                      <a:solidFill>
                        <a:srgbClr val="D9D9D9"/>
                      </a:solidFill>
                      <a:prstDash val="solid"/>
                      <a:round/>
                      <a:headEnd type="none" w="med" len="med"/>
                      <a:tailEnd type="none" w="med" len="med"/>
                    </a:lnT>
                    <a:lnB w="9525">
                      <a:solidFill>
                        <a:srgbClr val="D9D9D9"/>
                      </a:solidFill>
                    </a:lnB>
                    <a:noFill/>
                  </a:tcPr>
                </a:tc>
                <a:tc>
                  <a:txBody>
                    <a:bodyPr/>
                    <a:lstStyle/>
                    <a:p>
                      <a:r>
                        <a:rPr sz="1600" b="0">
                          <a:solidFill>
                            <a:srgbClr val="52514E"/>
                          </a:solidFill>
                        </a:rPr>
                        <a:t>18%</a:t>
                      </a:r>
                    </a:p>
                  </a:txBody>
                  <a:tcPr marL="73152" marR="73152" marT="54864" marB="54864">
                    <a:lnT w="9525" cap="flat" cmpd="sng" algn="ctr">
                      <a:solidFill>
                        <a:srgbClr val="D9D9D9"/>
                      </a:solidFill>
                      <a:prstDash val="solid"/>
                      <a:round/>
                      <a:headEnd type="none" w="med" len="med"/>
                      <a:tailEnd type="none" w="med" len="med"/>
                    </a:lnT>
                    <a:lnB w="9525">
                      <a:solidFill>
                        <a:srgbClr val="D9D9D9"/>
                      </a:solidFill>
                    </a:lnB>
                    <a:noFill/>
                  </a:tcPr>
                </a:tc>
                <a:extLst>
                  <a:ext uri="{0D108BD9-81ED-4DB2-BD59-A6C34878D82A}">
                    <a16:rowId xmlns:a16="http://schemas.microsoft.com/office/drawing/2014/main" val="10002"/>
                  </a:ext>
                </a:extLst>
              </a:tr>
              <a:tr h="597408">
                <a:tc>
                  <a:txBody>
                    <a:bodyPr/>
                    <a:lstStyle/>
                    <a:p>
                      <a:r>
                        <a:rPr sz="1600" b="0">
                          <a:solidFill>
                            <a:srgbClr val="000000"/>
                          </a:solidFill>
                        </a:rPr>
                        <a:t>Each set to its own group’s mean (gap unchanged)</a:t>
                      </a:r>
                    </a:p>
                  </a:txBody>
                  <a:tcPr marL="0" marR="73152" marT="54864" marB="54864">
                    <a:lnT w="9525" cap="flat" cmpd="sng" algn="ctr">
                      <a:solidFill>
                        <a:srgbClr val="D9D9D9"/>
                      </a:solidFill>
                      <a:prstDash val="solid"/>
                      <a:round/>
                      <a:headEnd type="none" w="med" len="med"/>
                      <a:tailEnd type="none" w="med" len="med"/>
                    </a:lnT>
                    <a:lnB w="9525">
                      <a:solidFill>
                        <a:srgbClr val="D9D9D9"/>
                      </a:solidFill>
                    </a:lnB>
                    <a:noFill/>
                  </a:tcPr>
                </a:tc>
                <a:tc>
                  <a:txBody>
                    <a:bodyPr/>
                    <a:lstStyle/>
                    <a:p>
                      <a:r>
                        <a:rPr sz="1600" b="0">
                          <a:solidFill>
                            <a:srgbClr val="52514E"/>
                          </a:solidFill>
                        </a:rPr>
                        <a:t>46%</a:t>
                      </a:r>
                    </a:p>
                  </a:txBody>
                  <a:tcPr marL="73152" marR="73152" marT="54864" marB="54864">
                    <a:lnT w="9525" cap="flat" cmpd="sng" algn="ctr">
                      <a:solidFill>
                        <a:srgbClr val="D9D9D9"/>
                      </a:solidFill>
                      <a:prstDash val="solid"/>
                      <a:round/>
                      <a:headEnd type="none" w="med" len="med"/>
                      <a:tailEnd type="none" w="med" len="med"/>
                    </a:lnT>
                    <a:lnB w="9525">
                      <a:solidFill>
                        <a:srgbClr val="D9D9D9"/>
                      </a:solidFill>
                    </a:lnB>
                    <a:noFill/>
                  </a:tcPr>
                </a:tc>
                <a:tc>
                  <a:txBody>
                    <a:bodyPr/>
                    <a:lstStyle/>
                    <a:p>
                      <a:r>
                        <a:rPr sz="1600" b="0">
                          <a:solidFill>
                            <a:srgbClr val="52514E"/>
                          </a:solidFill>
                        </a:rPr>
                        <a:t>65%</a:t>
                      </a:r>
                    </a:p>
                  </a:txBody>
                  <a:tcPr marL="73152" marR="73152" marT="54864" marB="54864">
                    <a:lnT w="9525" cap="flat" cmpd="sng" algn="ctr">
                      <a:solidFill>
                        <a:srgbClr val="D9D9D9"/>
                      </a:solidFill>
                      <a:prstDash val="solid"/>
                      <a:round/>
                      <a:headEnd type="none" w="med" len="med"/>
                      <a:tailEnd type="none" w="med" len="med"/>
                    </a:lnT>
                    <a:lnB w="9525">
                      <a:solidFill>
                        <a:srgbClr val="D9D9D9"/>
                      </a:solidFill>
                    </a:lnB>
                    <a:noFill/>
                  </a:tcPr>
                </a:tc>
                <a:tc>
                  <a:txBody>
                    <a:bodyPr/>
                    <a:lstStyle/>
                    <a:p>
                      <a:r>
                        <a:rPr sz="1600" b="0">
                          <a:solidFill>
                            <a:srgbClr val="52514E"/>
                          </a:solidFill>
                        </a:rPr>
                        <a:t>10%</a:t>
                      </a:r>
                    </a:p>
                  </a:txBody>
                  <a:tcPr marL="73152" marR="73152" marT="54864" marB="54864">
                    <a:lnT w="9525" cap="flat" cmpd="sng" algn="ctr">
                      <a:solidFill>
                        <a:srgbClr val="D9D9D9"/>
                      </a:solidFill>
                      <a:prstDash val="solid"/>
                      <a:round/>
                      <a:headEnd type="none" w="med" len="med"/>
                      <a:tailEnd type="none" w="med" len="med"/>
                    </a:lnT>
                    <a:lnB w="9525">
                      <a:solidFill>
                        <a:srgbClr val="D9D9D9"/>
                      </a:solidFill>
                    </a:lnB>
                    <a:noFill/>
                  </a:tcPr>
                </a:tc>
                <a:tc>
                  <a:txBody>
                    <a:bodyPr/>
                    <a:lstStyle/>
                    <a:p>
                      <a:r>
                        <a:rPr sz="1600" b="0">
                          <a:solidFill>
                            <a:srgbClr val="52514E"/>
                          </a:solidFill>
                        </a:rPr>
                        <a:t>22%</a:t>
                      </a:r>
                    </a:p>
                  </a:txBody>
                  <a:tcPr marL="73152" marR="73152" marT="54864" marB="54864">
                    <a:lnT w="9525" cap="flat" cmpd="sng" algn="ctr">
                      <a:solidFill>
                        <a:srgbClr val="D9D9D9"/>
                      </a:solidFill>
                      <a:prstDash val="solid"/>
                      <a:round/>
                      <a:headEnd type="none" w="med" len="med"/>
                      <a:tailEnd type="none" w="med" len="med"/>
                    </a:lnT>
                    <a:lnB w="9525">
                      <a:solidFill>
                        <a:srgbClr val="D9D9D9"/>
                      </a:solidFill>
                    </a:lnB>
                    <a:noFill/>
                  </a:tcPr>
                </a:tc>
                <a:extLst>
                  <a:ext uri="{0D108BD9-81ED-4DB2-BD59-A6C34878D82A}">
                    <a16:rowId xmlns:a16="http://schemas.microsoft.com/office/drawing/2014/main" val="10003"/>
                  </a:ext>
                </a:extLst>
              </a:tr>
              <a:tr h="353568">
                <a:tc>
                  <a:txBody>
                    <a:bodyPr/>
                    <a:lstStyle/>
                    <a:p>
                      <a:r>
                        <a:rPr sz="1600" b="0">
                          <a:solidFill>
                            <a:srgbClr val="000000"/>
                          </a:solidFill>
                        </a:rPr>
                        <a:t>Constant shift by the gap, 1×</a:t>
                      </a:r>
                    </a:p>
                  </a:txBody>
                  <a:tcPr marL="0" marR="73152" marT="54864" marB="54864">
                    <a:lnT w="9525" cap="flat" cmpd="sng" algn="ctr">
                      <a:solidFill>
                        <a:srgbClr val="D9D9D9"/>
                      </a:solidFill>
                      <a:prstDash val="solid"/>
                      <a:round/>
                      <a:headEnd type="none" w="med" len="med"/>
                      <a:tailEnd type="none" w="med" len="med"/>
                    </a:lnT>
                    <a:lnB w="9525">
                      <a:solidFill>
                        <a:srgbClr val="D9D9D9"/>
                      </a:solidFill>
                    </a:lnB>
                    <a:noFill/>
                  </a:tcPr>
                </a:tc>
                <a:tc>
                  <a:txBody>
                    <a:bodyPr/>
                    <a:lstStyle/>
                    <a:p>
                      <a:r>
                        <a:rPr sz="1600" b="0">
                          <a:solidFill>
                            <a:srgbClr val="52514E"/>
                          </a:solidFill>
                        </a:rPr>
                        <a:t>39%</a:t>
                      </a:r>
                    </a:p>
                  </a:txBody>
                  <a:tcPr marL="73152" marR="73152" marT="54864" marB="54864">
                    <a:lnT w="9525" cap="flat" cmpd="sng" algn="ctr">
                      <a:solidFill>
                        <a:srgbClr val="D9D9D9"/>
                      </a:solidFill>
                      <a:prstDash val="solid"/>
                      <a:round/>
                      <a:headEnd type="none" w="med" len="med"/>
                      <a:tailEnd type="none" w="med" len="med"/>
                    </a:lnT>
                    <a:lnB w="9525">
                      <a:solidFill>
                        <a:srgbClr val="D9D9D9"/>
                      </a:solidFill>
                    </a:lnB>
                    <a:noFill/>
                  </a:tcPr>
                </a:tc>
                <a:tc>
                  <a:txBody>
                    <a:bodyPr/>
                    <a:lstStyle/>
                    <a:p>
                      <a:r>
                        <a:rPr sz="1600" b="0">
                          <a:solidFill>
                            <a:srgbClr val="52514E"/>
                          </a:solidFill>
                        </a:rPr>
                        <a:t>57%</a:t>
                      </a:r>
                    </a:p>
                  </a:txBody>
                  <a:tcPr marL="73152" marR="73152" marT="54864" marB="54864">
                    <a:lnT w="9525" cap="flat" cmpd="sng" algn="ctr">
                      <a:solidFill>
                        <a:srgbClr val="D9D9D9"/>
                      </a:solidFill>
                      <a:prstDash val="solid"/>
                      <a:round/>
                      <a:headEnd type="none" w="med" len="med"/>
                      <a:tailEnd type="none" w="med" len="med"/>
                    </a:lnT>
                    <a:lnB w="9525">
                      <a:solidFill>
                        <a:srgbClr val="D9D9D9"/>
                      </a:solidFill>
                    </a:lnB>
                    <a:noFill/>
                  </a:tcPr>
                </a:tc>
                <a:tc>
                  <a:txBody>
                    <a:bodyPr/>
                    <a:lstStyle/>
                    <a:p>
                      <a:r>
                        <a:rPr sz="1600" b="0">
                          <a:solidFill>
                            <a:srgbClr val="52514E"/>
                          </a:solidFill>
                        </a:rPr>
                        <a:t>13%</a:t>
                      </a:r>
                    </a:p>
                  </a:txBody>
                  <a:tcPr marL="73152" marR="73152" marT="54864" marB="54864">
                    <a:lnT w="9525" cap="flat" cmpd="sng" algn="ctr">
                      <a:solidFill>
                        <a:srgbClr val="D9D9D9"/>
                      </a:solidFill>
                      <a:prstDash val="solid"/>
                      <a:round/>
                      <a:headEnd type="none" w="med" len="med"/>
                      <a:tailEnd type="none" w="med" len="med"/>
                    </a:lnT>
                    <a:lnB w="9525">
                      <a:solidFill>
                        <a:srgbClr val="D9D9D9"/>
                      </a:solidFill>
                    </a:lnB>
                    <a:noFill/>
                  </a:tcPr>
                </a:tc>
                <a:tc>
                  <a:txBody>
                    <a:bodyPr/>
                    <a:lstStyle/>
                    <a:p>
                      <a:r>
                        <a:rPr sz="1600" b="0">
                          <a:solidFill>
                            <a:srgbClr val="52514E"/>
                          </a:solidFill>
                        </a:rPr>
                        <a:t>29%</a:t>
                      </a:r>
                    </a:p>
                  </a:txBody>
                  <a:tcPr marL="73152" marR="73152" marT="54864" marB="54864">
                    <a:lnT w="9525" cap="flat" cmpd="sng" algn="ctr">
                      <a:solidFill>
                        <a:srgbClr val="D9D9D9"/>
                      </a:solidFill>
                      <a:prstDash val="solid"/>
                      <a:round/>
                      <a:headEnd type="none" w="med" len="med"/>
                      <a:tailEnd type="none" w="med" len="med"/>
                    </a:lnT>
                    <a:lnB w="9525">
                      <a:solidFill>
                        <a:srgbClr val="D9D9D9"/>
                      </a:solidFill>
                    </a:lnB>
                    <a:noFill/>
                  </a:tcPr>
                </a:tc>
                <a:extLst>
                  <a:ext uri="{0D108BD9-81ED-4DB2-BD59-A6C34878D82A}">
                    <a16:rowId xmlns:a16="http://schemas.microsoft.com/office/drawing/2014/main" val="10004"/>
                  </a:ext>
                </a:extLst>
              </a:tr>
            </a:tbl>
          </a:graphicData>
        </a:graphic>
      </p:graphicFrame>
      <p:sp>
        <p:nvSpPr>
          <p:cNvPr id="5" name="TextBox 4"/>
          <p:cNvSpPr txBox="1"/>
          <p:nvPr/>
        </p:nvSpPr>
        <p:spPr>
          <a:xfrm>
            <a:off x="548640" y="4023360"/>
            <a:ext cx="11094415" cy="822960"/>
          </a:xfrm>
          <a:prstGeom prst="rect">
            <a:avLst/>
          </a:prstGeom>
          <a:noFill/>
        </p:spPr>
        <p:txBody>
          <a:bodyPr wrap="square" lIns="0" tIns="0" rIns="0" bIns="0" anchor="t">
            <a:noAutofit/>
          </a:bodyPr>
          <a:lstStyle/>
          <a:p>
            <a:pPr algn="l">
              <a:spcAft>
                <a:spcPts val="600"/>
              </a:spcAft>
            </a:pPr>
            <a:r>
              <a:rPr sz="1600" b="0">
                <a:solidFill>
                  <a:srgbClr val="52514E"/>
                </a:solidFill>
              </a:rPr>
              <a:t>The own-mean control leaves the gap untouched but still moves Llama: setting to a mean removes the spread across prompts, not the gap.</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direction tracks refusal, and it’s party-blind</a:t>
            </a:r>
          </a:p>
        </p:txBody>
      </p:sp>
      <p:sp>
        <p:nvSpPr>
          <p:cNvPr id="3" name="Slide number"/>
          <p:cNvSpPr txBox="1"/>
          <p:nvPr/>
        </p:nvSpPr>
        <p:spPr>
          <a:xfrm>
            <a:off x="10728655" y="6400800"/>
            <a:ext cx="914400" cy="228600"/>
          </a:xfrm>
          <a:prstGeom prst="rect">
            <a:avLst/>
          </a:prstGeom>
          <a:noFill/>
        </p:spPr>
        <p:txBody>
          <a:bodyPr wrap="none" lIns="0" tIns="0" rIns="0" bIns="0">
            <a:spAutoFit/>
          </a:bodyPr>
          <a:lstStyle/>
          <a:p>
            <a:pPr algn="r"/>
            <a:fld id="{6F1B2D7E-4C3A-4E8B-9D21-7A5C0E3B9F14}" type="slidenum">
              <a:rPr lang="en-US" sz="1000">
                <a:solidFill>
                  <a:srgbClr val="898781"/>
                </a:solidFill>
              </a:rPr>
              <a:t>27</a:t>
            </a:fld>
            <a:endParaRPr lang="en-US" sz="1000">
              <a:solidFill>
                <a:srgbClr val="898781"/>
              </a:solidFill>
            </a:endParaRPr>
          </a:p>
        </p:txBody>
      </p:sp>
      <p:sp>
        <p:nvSpPr>
          <p:cNvPr id="4" name="TextBox 3"/>
          <p:cNvSpPr txBox="1"/>
          <p:nvPr/>
        </p:nvSpPr>
        <p:spPr>
          <a:xfrm>
            <a:off x="548640" y="1600200"/>
            <a:ext cx="5318607" cy="411480"/>
          </a:xfrm>
          <a:prstGeom prst="rect">
            <a:avLst/>
          </a:prstGeom>
          <a:noFill/>
        </p:spPr>
        <p:txBody>
          <a:bodyPr wrap="square" lIns="0" tIns="0" rIns="0" bIns="0" anchor="t">
            <a:noAutofit/>
          </a:bodyPr>
          <a:lstStyle/>
          <a:p>
            <a:pPr algn="l">
              <a:spcAft>
                <a:spcPts val="600"/>
              </a:spcAft>
            </a:pPr>
            <a:r>
              <a:rPr sz="2000" b="1">
                <a:solidFill>
                  <a:srgbClr val="000000"/>
                </a:solidFill>
              </a:rPr>
              <a:t>Projection predicts refusal</a:t>
            </a:r>
          </a:p>
        </p:txBody>
      </p:sp>
      <p:sp>
        <p:nvSpPr>
          <p:cNvPr id="5" name="TextBox 4"/>
          <p:cNvSpPr txBox="1"/>
          <p:nvPr/>
        </p:nvSpPr>
        <p:spPr>
          <a:xfrm>
            <a:off x="548640" y="2286000"/>
            <a:ext cx="5318607" cy="487680"/>
          </a:xfrm>
          <a:prstGeom prst="rect">
            <a:avLst/>
          </a:prstGeom>
          <a:noFill/>
        </p:spPr>
        <p:txBody>
          <a:bodyPr wrap="square" lIns="0" tIns="0" rIns="0" bIns="0" anchor="t">
            <a:noAutofit/>
          </a:bodyPr>
          <a:lstStyle/>
          <a:p>
            <a:pPr algn="l">
              <a:spcAft>
                <a:spcPts val="0"/>
              </a:spcAft>
            </a:pPr>
            <a:r>
              <a:rPr sz="3200" b="1">
                <a:solidFill>
                  <a:srgbClr val="000000"/>
                </a:solidFill>
              </a:rPr>
              <a:t>AUC 0.81 / 0.89</a:t>
            </a:r>
          </a:p>
        </p:txBody>
      </p:sp>
      <p:sp>
        <p:nvSpPr>
          <p:cNvPr id="6" name="TextBox 5"/>
          <p:cNvSpPr txBox="1"/>
          <p:nvPr/>
        </p:nvSpPr>
        <p:spPr>
          <a:xfrm>
            <a:off x="548640" y="2794000"/>
            <a:ext cx="5318607" cy="685800"/>
          </a:xfrm>
          <a:prstGeom prst="rect">
            <a:avLst/>
          </a:prstGeom>
          <a:noFill/>
        </p:spPr>
        <p:txBody>
          <a:bodyPr wrap="square" lIns="0" tIns="0" rIns="0" bIns="0" anchor="t">
            <a:noAutofit/>
          </a:bodyPr>
          <a:lstStyle/>
          <a:p>
            <a:pPr algn="l">
              <a:spcAft>
                <a:spcPts val="0"/>
              </a:spcAft>
            </a:pPr>
            <a:r>
              <a:rPr sz="1400" b="0">
                <a:solidFill>
                  <a:srgbClr val="52514E"/>
                </a:solidFill>
              </a:rPr>
              <a:t>Qwen, projection alone predicting “did the task” (Llama Guard / Claude)</a:t>
            </a:r>
          </a:p>
        </p:txBody>
      </p:sp>
      <p:sp>
        <p:nvSpPr>
          <p:cNvPr id="7" name="TextBox 6"/>
          <p:cNvSpPr txBox="1"/>
          <p:nvPr/>
        </p:nvSpPr>
        <p:spPr>
          <a:xfrm>
            <a:off x="548640" y="3566160"/>
            <a:ext cx="5318607" cy="487680"/>
          </a:xfrm>
          <a:prstGeom prst="rect">
            <a:avLst/>
          </a:prstGeom>
          <a:noFill/>
        </p:spPr>
        <p:txBody>
          <a:bodyPr wrap="square" lIns="0" tIns="0" rIns="0" bIns="0" anchor="t">
            <a:noAutofit/>
          </a:bodyPr>
          <a:lstStyle/>
          <a:p>
            <a:pPr algn="l">
              <a:spcAft>
                <a:spcPts val="0"/>
              </a:spcAft>
            </a:pPr>
            <a:r>
              <a:rPr sz="3200" b="1">
                <a:solidFill>
                  <a:srgbClr val="000000"/>
                </a:solidFill>
              </a:rPr>
              <a:t>AUC 0.79 / 0.87</a:t>
            </a:r>
          </a:p>
        </p:txBody>
      </p:sp>
      <p:sp>
        <p:nvSpPr>
          <p:cNvPr id="8" name="TextBox 7"/>
          <p:cNvSpPr txBox="1"/>
          <p:nvPr/>
        </p:nvSpPr>
        <p:spPr>
          <a:xfrm>
            <a:off x="548640" y="4074160"/>
            <a:ext cx="5318607" cy="685800"/>
          </a:xfrm>
          <a:prstGeom prst="rect">
            <a:avLst/>
          </a:prstGeom>
          <a:noFill/>
        </p:spPr>
        <p:txBody>
          <a:bodyPr wrap="square" lIns="0" tIns="0" rIns="0" bIns="0" anchor="t">
            <a:noAutofit/>
          </a:bodyPr>
          <a:lstStyle/>
          <a:p>
            <a:pPr algn="l">
              <a:spcAft>
                <a:spcPts val="0"/>
              </a:spcAft>
            </a:pPr>
            <a:r>
              <a:rPr sz="1400" b="0">
                <a:solidFill>
                  <a:srgbClr val="52514E"/>
                </a:solidFill>
              </a:rPr>
              <a:t>Llama, same</a:t>
            </a:r>
          </a:p>
        </p:txBody>
      </p:sp>
      <p:sp>
        <p:nvSpPr>
          <p:cNvPr id="9" name="TextBox 8"/>
          <p:cNvSpPr txBox="1"/>
          <p:nvPr/>
        </p:nvSpPr>
        <p:spPr>
          <a:xfrm>
            <a:off x="6324447" y="1600200"/>
            <a:ext cx="5318607" cy="411480"/>
          </a:xfrm>
          <a:prstGeom prst="rect">
            <a:avLst/>
          </a:prstGeom>
          <a:noFill/>
        </p:spPr>
        <p:txBody>
          <a:bodyPr wrap="square" lIns="0" tIns="0" rIns="0" bIns="0" anchor="t">
            <a:noAutofit/>
          </a:bodyPr>
          <a:lstStyle/>
          <a:p>
            <a:pPr algn="l">
              <a:spcAft>
                <a:spcPts val="600"/>
              </a:spcAft>
            </a:pPr>
            <a:r>
              <a:rPr sz="2000" b="1">
                <a:solidFill>
                  <a:srgbClr val="000000"/>
                </a:solidFill>
              </a:rPr>
              <a:t>Addition by party</a:t>
            </a:r>
          </a:p>
        </p:txBody>
      </p:sp>
      <p:sp>
        <p:nvSpPr>
          <p:cNvPr id="10" name="TextBox 9"/>
          <p:cNvSpPr txBox="1"/>
          <p:nvPr/>
        </p:nvSpPr>
        <p:spPr>
          <a:xfrm>
            <a:off x="6324447" y="2286000"/>
            <a:ext cx="5318607" cy="487680"/>
          </a:xfrm>
          <a:prstGeom prst="rect">
            <a:avLst/>
          </a:prstGeom>
          <a:noFill/>
        </p:spPr>
        <p:txBody>
          <a:bodyPr wrap="square" lIns="0" tIns="0" rIns="0" bIns="0" anchor="t">
            <a:noAutofit/>
          </a:bodyPr>
          <a:lstStyle/>
          <a:p>
            <a:pPr algn="l">
              <a:spcAft>
                <a:spcPts val="0"/>
              </a:spcAft>
            </a:pPr>
            <a:r>
              <a:rPr sz="3200" b="1">
                <a:solidFill>
                  <a:srgbClr val="000000"/>
                </a:solidFill>
              </a:rPr>
              <a:t>0% → 99–100%</a:t>
            </a:r>
          </a:p>
        </p:txBody>
      </p:sp>
      <p:sp>
        <p:nvSpPr>
          <p:cNvPr id="11" name="TextBox 10"/>
          <p:cNvSpPr txBox="1"/>
          <p:nvPr/>
        </p:nvSpPr>
        <p:spPr>
          <a:xfrm>
            <a:off x="6324447" y="2794000"/>
            <a:ext cx="5318607" cy="685800"/>
          </a:xfrm>
          <a:prstGeom prst="rect">
            <a:avLst/>
          </a:prstGeom>
          <a:noFill/>
        </p:spPr>
        <p:txBody>
          <a:bodyPr wrap="square" lIns="0" tIns="0" rIns="0" bIns="0" anchor="t">
            <a:noAutofit/>
          </a:bodyPr>
          <a:lstStyle/>
          <a:p>
            <a:pPr algn="l">
              <a:spcAft>
                <a:spcPts val="0"/>
              </a:spcAft>
            </a:pPr>
            <a:r>
              <a:rPr sz="1400" b="0">
                <a:solidFill>
                  <a:srgbClr val="52514E"/>
                </a:solidFill>
              </a:rPr>
              <a:t>refusal on harmless election questions once the direction is added, for every asker</a:t>
            </a:r>
          </a:p>
        </p:txBody>
      </p:sp>
      <p:sp>
        <p:nvSpPr>
          <p:cNvPr id="12" name="TextBox 11"/>
          <p:cNvSpPr txBox="1"/>
          <p:nvPr/>
        </p:nvSpPr>
        <p:spPr>
          <a:xfrm>
            <a:off x="6324447" y="3566160"/>
            <a:ext cx="5318607" cy="487680"/>
          </a:xfrm>
          <a:prstGeom prst="rect">
            <a:avLst/>
          </a:prstGeom>
          <a:noFill/>
        </p:spPr>
        <p:txBody>
          <a:bodyPr wrap="square" lIns="0" tIns="0" rIns="0" bIns="0" anchor="t">
            <a:noAutofit/>
          </a:bodyPr>
          <a:lstStyle/>
          <a:p>
            <a:pPr algn="l">
              <a:spcAft>
                <a:spcPts val="0"/>
              </a:spcAft>
            </a:pPr>
            <a:r>
              <a:rPr sz="3200" b="1">
                <a:solidFill>
                  <a:srgbClr val="000000"/>
                </a:solidFill>
              </a:rPr>
              <a:t>0.3% / 0.6%</a:t>
            </a:r>
          </a:p>
        </p:txBody>
      </p:sp>
      <p:sp>
        <p:nvSpPr>
          <p:cNvPr id="13" name="TextBox 12"/>
          <p:cNvSpPr txBox="1"/>
          <p:nvPr/>
        </p:nvSpPr>
        <p:spPr>
          <a:xfrm>
            <a:off x="6324447" y="4074160"/>
            <a:ext cx="5318607" cy="685800"/>
          </a:xfrm>
          <a:prstGeom prst="rect">
            <a:avLst/>
          </a:prstGeom>
          <a:noFill/>
        </p:spPr>
        <p:txBody>
          <a:bodyPr wrap="square" lIns="0" tIns="0" rIns="0" bIns="0" anchor="t">
            <a:noAutofit/>
          </a:bodyPr>
          <a:lstStyle/>
          <a:p>
            <a:pPr algn="l">
              <a:spcAft>
                <a:spcPts val="0"/>
              </a:spcAft>
            </a:pPr>
            <a:r>
              <a:rPr sz="1400" b="0">
                <a:solidFill>
                  <a:srgbClr val="52514E"/>
                </a:solidFill>
              </a:rPr>
              <a:t>Republican minus Democrat, as a share of that shift (Qwen / Llama)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Alternate versions</a:t>
            </a:r>
          </a:p>
        </p:txBody>
      </p:sp>
      <p:sp>
        <p:nvSpPr>
          <p:cNvPr id="3" name="Slide number"/>
          <p:cNvSpPr txBox="1"/>
          <p:nvPr/>
        </p:nvSpPr>
        <p:spPr>
          <a:xfrm>
            <a:off x="10728655" y="6400800"/>
            <a:ext cx="914400" cy="228600"/>
          </a:xfrm>
          <a:prstGeom prst="rect">
            <a:avLst/>
          </a:prstGeom>
          <a:noFill/>
        </p:spPr>
        <p:txBody>
          <a:bodyPr wrap="none" lIns="0" rIns="0" tIns="0" bIns="0">
            <a:spAutoFit/>
          </a:bodyPr>
          <a:lstStyle/>
          <a:p>
            <a:pPr algn="r"/>
            <a:fld id="{6F1B2D7E-4C3A-4E8B-9D21-7A5C0E3B9F14}" type="slidenum">
              <a:rPr lang="en-US" sz="1000">
                <a:solidFill>
                  <a:srgbClr val="898781"/>
                </a:solidFill>
              </a:rPr>
              <a:t>30</a:t>
            </a:fld>
          </a:p>
        </p:txBody>
      </p:sp>
      <p:sp>
        <p:nvSpPr>
          <p:cNvPr id="4" name="TextBox 3"/>
          <p:cNvSpPr txBox="1"/>
          <p:nvPr/>
        </p:nvSpPr>
        <p:spPr>
          <a:xfrm>
            <a:off x="548640" y="1737360"/>
            <a:ext cx="11094415" cy="1097280"/>
          </a:xfrm>
          <a:prstGeom prst="rect">
            <a:avLst/>
          </a:prstGeom>
          <a:noFill/>
        </p:spPr>
        <p:txBody>
          <a:bodyPr wrap="square" anchor="t" lIns="0" rIns="0" tIns="0" bIns="0">
            <a:noAutofit/>
          </a:bodyPr>
          <a:lstStyle/>
          <a:p>
            <a:pPr algn="l">
              <a:spcAft>
                <a:spcPts val="600"/>
              </a:spcAft>
            </a:pPr>
            <a:r>
              <a:rPr sz="1800" b="0">
                <a:solidFill>
                  <a:srgbClr val="52514E"/>
                </a:solidFill>
              </a:rPr>
              <a:t>Option B for the prior-work slide: the paper’s own method, data and models, with frames for its Figures 1 and 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Prior work: refusal is mediated by a single direction</a:t>
            </a:r>
          </a:p>
        </p:txBody>
      </p:sp>
      <p:sp>
        <p:nvSpPr>
          <p:cNvPr id="3" name="Slide number"/>
          <p:cNvSpPr txBox="1"/>
          <p:nvPr/>
        </p:nvSpPr>
        <p:spPr>
          <a:xfrm>
            <a:off x="10728655" y="6400800"/>
            <a:ext cx="914400" cy="228600"/>
          </a:xfrm>
          <a:prstGeom prst="rect">
            <a:avLst/>
          </a:prstGeom>
          <a:noFill/>
        </p:spPr>
        <p:txBody>
          <a:bodyPr wrap="none" lIns="0" rIns="0" tIns="0" bIns="0">
            <a:spAutoFit/>
          </a:bodyPr>
          <a:lstStyle/>
          <a:p>
            <a:pPr algn="r"/>
            <a:fld id="{6F1B2D7E-4C3A-4E8B-9D21-7A5C0E3B9F14}" type="slidenum">
              <a:rPr lang="en-US" sz="1000">
                <a:solidFill>
                  <a:srgbClr val="898781"/>
                </a:solidFill>
              </a:rPr>
              <a:t>31</a:t>
            </a:fld>
          </a:p>
        </p:txBody>
      </p:sp>
      <p:sp>
        <p:nvSpPr>
          <p:cNvPr id="4" name="TextBox 3"/>
          <p:cNvSpPr txBox="1"/>
          <p:nvPr/>
        </p:nvSpPr>
        <p:spPr>
          <a:xfrm>
            <a:off x="548640" y="1371600"/>
            <a:ext cx="11094415" cy="320040"/>
          </a:xfrm>
          <a:prstGeom prst="rect">
            <a:avLst/>
          </a:prstGeom>
          <a:noFill/>
        </p:spPr>
        <p:txBody>
          <a:bodyPr wrap="square" anchor="t" lIns="0" rIns="0" tIns="0" bIns="0">
            <a:noAutofit/>
          </a:bodyPr>
          <a:lstStyle/>
          <a:p>
            <a:pPr algn="l">
              <a:spcAft>
                <a:spcPts val="600"/>
              </a:spcAft>
            </a:pPr>
            <a:r>
              <a:rPr sz="1400" b="0">
                <a:solidFill>
                  <a:srgbClr val="52514E"/>
                </a:solidFill>
              </a:rPr>
              <a:t>Arditi, Obeso, Syed, Paleka, Panickssery, Gurnee &amp; Nanda (2024), arXiv 2406.11717</a:t>
            </a:r>
          </a:p>
        </p:txBody>
      </p:sp>
      <p:sp>
        <p:nvSpPr>
          <p:cNvPr id="5" name="TextBox 4"/>
          <p:cNvSpPr txBox="1"/>
          <p:nvPr/>
        </p:nvSpPr>
        <p:spPr>
          <a:xfrm>
            <a:off x="548640" y="1828800"/>
            <a:ext cx="5486400" cy="365760"/>
          </a:xfrm>
          <a:prstGeom prst="rect">
            <a:avLst/>
          </a:prstGeom>
          <a:noFill/>
        </p:spPr>
        <p:txBody>
          <a:bodyPr wrap="square" anchor="t" lIns="0" rIns="0" tIns="0" bIns="0">
            <a:noAutofit/>
          </a:bodyPr>
          <a:lstStyle/>
          <a:p>
            <a:pPr algn="l">
              <a:spcAft>
                <a:spcPts val="0"/>
              </a:spcAft>
            </a:pPr>
            <a:r>
              <a:rPr sz="2000" b="1">
                <a:solidFill>
                  <a:srgbClr val="000000"/>
                </a:solidFill>
              </a:rPr>
              <a:t>Their method</a:t>
            </a:r>
          </a:p>
        </p:txBody>
      </p:sp>
      <p:sp>
        <p:nvSpPr>
          <p:cNvPr id="6" name="TextBox 5"/>
          <p:cNvSpPr txBox="1"/>
          <p:nvPr/>
        </p:nvSpPr>
        <p:spPr>
          <a:xfrm>
            <a:off x="548640" y="2286000"/>
            <a:ext cx="5486400" cy="3154680"/>
          </a:xfrm>
          <a:prstGeom prst="rect">
            <a:avLst/>
          </a:prstGeom>
          <a:noFill/>
        </p:spPr>
        <p:txBody>
          <a:bodyPr wrap="square" anchor="t" lIns="0" rIns="0" tIns="0" bIns="0">
            <a:noAutofit/>
          </a:bodyPr>
          <a:lstStyle/>
          <a:p>
            <a:pPr algn="l" marL="274320" indent="-274320">
              <a:spcAft>
                <a:spcPts val="800"/>
              </a:spcAft>
              <a:buChar char="•"/>
            </a:pPr>
            <a:r>
              <a:rPr sz="1500" b="1">
                <a:solidFill>
                  <a:srgbClr val="52514E"/>
                </a:solidFill>
              </a:rPr>
              <a:t>Direction: </a:t>
            </a:r>
            <a:r>
              <a:rPr sz="1500" b="0">
                <a:solidFill>
                  <a:srgbClr val="52514E"/>
                </a:solidFill>
              </a:rPr>
              <a:t>r = mean activation on harmful instructions − mean on harmless ones, per layer and token</a:t>
            </a:r>
          </a:p>
          <a:p>
            <a:pPr algn="l" marL="274320" indent="-274320">
              <a:spcAft>
                <a:spcPts val="800"/>
              </a:spcAft>
              <a:buChar char="•"/>
            </a:pPr>
            <a:r>
              <a:rPr sz="1500" b="1">
                <a:solidFill>
                  <a:srgbClr val="52514E"/>
                </a:solidFill>
              </a:rPr>
              <a:t>Remove it: </a:t>
            </a:r>
            <a:r>
              <a:rPr sz="1500" b="0">
                <a:solidFill>
                  <a:srgbClr val="52514E"/>
                </a:solidFill>
              </a:rPr>
              <a:t>x′ = x − (x·u)u with u = r/|r|, at every layer and token</a:t>
            </a:r>
          </a:p>
          <a:p>
            <a:pPr algn="l" marL="274320" indent="-274320">
              <a:spcAft>
                <a:spcPts val="800"/>
              </a:spcAft>
              <a:buChar char="•"/>
            </a:pPr>
            <a:r>
              <a:rPr sz="1500" b="1">
                <a:solidFill>
                  <a:srgbClr val="52514E"/>
                </a:solidFill>
              </a:rPr>
              <a:t>Add it: </a:t>
            </a:r>
            <a:r>
              <a:rPr sz="1500" b="0">
                <a:solidFill>
                  <a:srgbClr val="52514E"/>
                </a:solidFill>
              </a:rPr>
              <a:t>x′ = x + r, at the layer it came from</a:t>
            </a:r>
          </a:p>
          <a:p>
            <a:pPr algn="l" marL="274320" indent="-274320">
              <a:spcAft>
                <a:spcPts val="800"/>
              </a:spcAft>
              <a:buChar char="•"/>
            </a:pPr>
            <a:r>
              <a:rPr sz="1500" b="1">
                <a:solidFill>
                  <a:srgbClr val="52514E"/>
                </a:solidFill>
              </a:rPr>
              <a:t>Pick it: </a:t>
            </a:r>
            <a:r>
              <a:rPr sz="1500" b="0">
                <a:solidFill>
                  <a:srgbClr val="52514E"/>
                </a:solidFill>
              </a:rPr>
              <a:t>lowest refusal when removed, provided adding it causes refusal and removing it leaves harmless outputs nearly unchanged (KL &lt; 0.1)</a:t>
            </a:r>
          </a:p>
          <a:p>
            <a:pPr algn="l" marL="274320" indent="-274320">
              <a:spcAft>
                <a:spcPts val="800"/>
              </a:spcAft>
              <a:buChar char="•"/>
            </a:pPr>
            <a:r>
              <a:rPr sz="1500" b="1">
                <a:solidFill>
                  <a:srgbClr val="52514E"/>
                </a:solidFill>
              </a:rPr>
              <a:t>Data: </a:t>
            </a:r>
            <a:r>
              <a:rPr sz="1500" b="0">
                <a:solidFill>
                  <a:srgbClr val="52514E"/>
                </a:solidFill>
              </a:rPr>
              <a:t>128 training and 32 validation prompts each; harmful from AdvBench, MaliciousInstruct, TDC2023 and HarmBench, harmless from Alpaca</a:t>
            </a:r>
          </a:p>
        </p:txBody>
      </p:sp>
      <p:sp>
        <p:nvSpPr>
          <p:cNvPr id="7" name="Figure 1 placeholder"/>
          <p:cNvSpPr/>
          <p:nvPr/>
        </p:nvSpPr>
        <p:spPr>
          <a:xfrm>
            <a:off x="6400800" y="1828800"/>
            <a:ext cx="5242255" cy="1691640"/>
          </a:xfrm>
          <a:prstGeom prst="rect">
            <a:avLst/>
          </a:prstGeom>
          <a:noFill/>
          <a:ln w="12700">
            <a:solidFill>
              <a:srgbClr val="89878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spcAft>
                <a:spcPts val="600"/>
              </a:spcAft>
            </a:pPr>
            <a:r>
              <a:rPr sz="1400" b="1">
                <a:solidFill>
                  <a:srgbClr val="898781"/>
                </a:solidFill>
              </a:rPr>
              <a:t>Paste Figure 1 from the paper</a:t>
            </a:r>
          </a:p>
          <a:p>
            <a:pPr algn="ctr">
              <a:spcAft>
                <a:spcPts val="600"/>
              </a:spcAft>
            </a:pPr>
            <a:r>
              <a:rPr sz="1400" b="0">
                <a:solidFill>
                  <a:srgbClr val="898781"/>
                </a:solidFill>
              </a:rPr>
              <a:t>Removing r lowers refusal and raises unsafe answers in all 13 models (100 JailbreakBench prompts)</a:t>
            </a:r>
          </a:p>
        </p:txBody>
      </p:sp>
      <p:sp>
        <p:nvSpPr>
          <p:cNvPr id="8" name="Figure 3 placeholder"/>
          <p:cNvSpPr/>
          <p:nvPr/>
        </p:nvSpPr>
        <p:spPr>
          <a:xfrm>
            <a:off x="6400800" y="3657600"/>
            <a:ext cx="5242255" cy="1691640"/>
          </a:xfrm>
          <a:prstGeom prst="rect">
            <a:avLst/>
          </a:prstGeom>
          <a:noFill/>
          <a:ln w="12700">
            <a:solidFill>
              <a:srgbClr val="89878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ctr">
              <a:spcAft>
                <a:spcPts val="600"/>
              </a:spcAft>
            </a:pPr>
            <a:r>
              <a:rPr sz="1400" b="1">
                <a:solidFill>
                  <a:srgbClr val="898781"/>
                </a:solidFill>
              </a:rPr>
              <a:t>Paste Figure 3 from the paper</a:t>
            </a:r>
          </a:p>
          <a:p>
            <a:pPr algn="ctr">
              <a:spcAft>
                <a:spcPts val="600"/>
              </a:spcAft>
            </a:pPr>
            <a:r>
              <a:rPr sz="1400" b="0">
                <a:solidFill>
                  <a:srgbClr val="898781"/>
                </a:solidFill>
              </a:rPr>
              <a:t>Adding r makes the models refuse 100 harmless Alpaca prompts</a:t>
            </a:r>
          </a:p>
        </p:txBody>
      </p:sp>
      <p:sp>
        <p:nvSpPr>
          <p:cNvPr id="9" name="TextBox 8"/>
          <p:cNvSpPr txBox="1"/>
          <p:nvPr/>
        </p:nvSpPr>
        <p:spPr>
          <a:xfrm>
            <a:off x="548640" y="5623560"/>
            <a:ext cx="11094415" cy="548640"/>
          </a:xfrm>
          <a:prstGeom prst="rect">
            <a:avLst/>
          </a:prstGeom>
          <a:noFill/>
        </p:spPr>
        <p:txBody>
          <a:bodyPr wrap="square" anchor="t" lIns="0" rIns="0" tIns="0" bIns="0">
            <a:noAutofit/>
          </a:bodyPr>
          <a:lstStyle/>
          <a:p>
            <a:pPr algn="l">
              <a:spcAft>
                <a:spcPts val="0"/>
              </a:spcAft>
            </a:pPr>
            <a:r>
              <a:rPr sz="1400" b="0">
                <a:solidFill>
                  <a:srgbClr val="52514E"/>
                </a:solidFill>
              </a:rPr>
              <a:t>13 models: Qwen Chat 1.8B–72B · Yi Chat 6B, 34B · Gemma IT 2B, 7B · Llama-2 Chat 7B–70B · Llama-3 Instruct 8B, 70B</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Step 2: How we judged the replies</a:t>
            </a:r>
          </a:p>
        </p:txBody>
      </p:sp>
      <p:sp>
        <p:nvSpPr>
          <p:cNvPr id="3" name="Slide number"/>
          <p:cNvSpPr txBox="1"/>
          <p:nvPr/>
        </p:nvSpPr>
        <p:spPr>
          <a:xfrm>
            <a:off x="10728655" y="6400800"/>
            <a:ext cx="914400" cy="228600"/>
          </a:xfrm>
          <a:prstGeom prst="rect">
            <a:avLst/>
          </a:prstGeom>
          <a:noFill/>
        </p:spPr>
        <p:txBody>
          <a:bodyPr wrap="none" lIns="0" rIns="0" tIns="0" bIns="0">
            <a:spAutoFit/>
          </a:bodyPr>
          <a:lstStyle/>
          <a:p>
            <a:pPr algn="r"/>
            <a:fld id="{6F1B2D7E-4C3A-4E8B-9D21-7A5C0E3B9F14}" type="slidenum">
              <a:rPr lang="en-US" sz="1000">
                <a:solidFill>
                  <a:srgbClr val="898781"/>
                </a:solidFill>
              </a:rPr>
              <a:t>32</a:t>
            </a:fld>
          </a:p>
        </p:txBody>
      </p:sp>
      <p:sp>
        <p:nvSpPr>
          <p:cNvPr id="4" name="TextBox 3"/>
          <p:cNvSpPr txBox="1"/>
          <p:nvPr/>
        </p:nvSpPr>
        <p:spPr>
          <a:xfrm>
            <a:off x="548640" y="1499616"/>
            <a:ext cx="457200" cy="502920"/>
          </a:xfrm>
          <a:prstGeom prst="rect">
            <a:avLst/>
          </a:prstGeom>
          <a:noFill/>
        </p:spPr>
        <p:txBody>
          <a:bodyPr wrap="square" anchor="t" lIns="0" rIns="0" tIns="0" bIns="0">
            <a:noAutofit/>
          </a:bodyPr>
          <a:lstStyle/>
          <a:p>
            <a:pPr algn="l">
              <a:spcAft>
                <a:spcPts val="0"/>
              </a:spcAft>
            </a:pPr>
            <a:r>
              <a:rPr sz="2600" b="1">
                <a:solidFill>
                  <a:srgbClr val="000000"/>
                </a:solidFill>
              </a:rPr>
              <a:t>1</a:t>
            </a:r>
          </a:p>
        </p:txBody>
      </p:sp>
      <p:sp>
        <p:nvSpPr>
          <p:cNvPr id="5" name="TextBox 4"/>
          <p:cNvSpPr txBox="1"/>
          <p:nvPr/>
        </p:nvSpPr>
        <p:spPr>
          <a:xfrm>
            <a:off x="1097280" y="1554480"/>
            <a:ext cx="6492240" cy="1005840"/>
          </a:xfrm>
          <a:prstGeom prst="rect">
            <a:avLst/>
          </a:prstGeom>
          <a:noFill/>
        </p:spPr>
        <p:txBody>
          <a:bodyPr wrap="square" anchor="t" lIns="0" rIns="0" tIns="0" bIns="0">
            <a:noAutofit/>
          </a:bodyPr>
          <a:lstStyle/>
          <a:p>
            <a:pPr algn="l">
              <a:spcAft>
                <a:spcPts val="0"/>
              </a:spcAft>
            </a:pPr>
            <a:r>
              <a:rPr sz="1600" b="1">
                <a:solidFill>
                  <a:srgbClr val="000000"/>
                </a:solidFill>
              </a:rPr>
              <a:t>Generate. </a:t>
            </a:r>
            <a:r>
              <a:rPr sz="1600" b="0">
                <a:solidFill>
                  <a:srgbClr val="52514E"/>
                </a:solidFill>
              </a:rPr>
              <a:t>Both models answer all 920 prompts: greedy decoding, 128 new tokens, with and without the refusal direction removed.</a:t>
            </a:r>
          </a:p>
        </p:txBody>
      </p:sp>
      <p:sp>
        <p:nvSpPr>
          <p:cNvPr id="6" name="TextBox 5"/>
          <p:cNvSpPr txBox="1"/>
          <p:nvPr/>
        </p:nvSpPr>
        <p:spPr>
          <a:xfrm>
            <a:off x="548640" y="2615184"/>
            <a:ext cx="457200" cy="502920"/>
          </a:xfrm>
          <a:prstGeom prst="rect">
            <a:avLst/>
          </a:prstGeom>
          <a:noFill/>
        </p:spPr>
        <p:txBody>
          <a:bodyPr wrap="square" anchor="t" lIns="0" rIns="0" tIns="0" bIns="0">
            <a:noAutofit/>
          </a:bodyPr>
          <a:lstStyle/>
          <a:p>
            <a:pPr algn="l">
              <a:spcAft>
                <a:spcPts val="0"/>
              </a:spcAft>
            </a:pPr>
            <a:r>
              <a:rPr sz="2600" b="1">
                <a:solidFill>
                  <a:srgbClr val="000000"/>
                </a:solidFill>
              </a:rPr>
              <a:t>2</a:t>
            </a:r>
          </a:p>
        </p:txBody>
      </p:sp>
      <p:sp>
        <p:nvSpPr>
          <p:cNvPr id="7" name="TextBox 6"/>
          <p:cNvSpPr txBox="1"/>
          <p:nvPr/>
        </p:nvSpPr>
        <p:spPr>
          <a:xfrm>
            <a:off x="1097280" y="2670048"/>
            <a:ext cx="6492240" cy="1005840"/>
          </a:xfrm>
          <a:prstGeom prst="rect">
            <a:avLst/>
          </a:prstGeom>
          <a:noFill/>
        </p:spPr>
        <p:txBody>
          <a:bodyPr wrap="square" anchor="t" lIns="0" rIns="0" tIns="0" bIns="0">
            <a:noAutofit/>
          </a:bodyPr>
          <a:lstStyle/>
          <a:p>
            <a:pPr algn="l">
              <a:spcAft>
                <a:spcPts val="0"/>
              </a:spcAft>
            </a:pPr>
            <a:r>
              <a:rPr sz="1600" b="1">
                <a:solidFill>
                  <a:srgbClr val="000000"/>
                </a:solidFill>
              </a:rPr>
              <a:t>Blind. </a:t>
            </a:r>
            <a:r>
              <a:rPr sz="1600" b="0">
                <a:solidFill>
                  <a:srgbClr val="52514E"/>
                </a:solidFill>
              </a:rPr>
              <a:t>The judge sees the request with the asker sentence replaced by “Please,” never the model, party or condition.</a:t>
            </a:r>
          </a:p>
        </p:txBody>
      </p:sp>
      <p:sp>
        <p:nvSpPr>
          <p:cNvPr id="8" name="TextBox 7"/>
          <p:cNvSpPr txBox="1"/>
          <p:nvPr/>
        </p:nvSpPr>
        <p:spPr>
          <a:xfrm>
            <a:off x="548640" y="3730752"/>
            <a:ext cx="457200" cy="502920"/>
          </a:xfrm>
          <a:prstGeom prst="rect">
            <a:avLst/>
          </a:prstGeom>
          <a:noFill/>
        </p:spPr>
        <p:txBody>
          <a:bodyPr wrap="square" anchor="t" lIns="0" rIns="0" tIns="0" bIns="0">
            <a:noAutofit/>
          </a:bodyPr>
          <a:lstStyle/>
          <a:p>
            <a:pPr algn="l">
              <a:spcAft>
                <a:spcPts val="0"/>
              </a:spcAft>
            </a:pPr>
            <a:r>
              <a:rPr sz="2600" b="1">
                <a:solidFill>
                  <a:srgbClr val="000000"/>
                </a:solidFill>
              </a:rPr>
              <a:t>3</a:t>
            </a:r>
          </a:p>
        </p:txBody>
      </p:sp>
      <p:sp>
        <p:nvSpPr>
          <p:cNvPr id="9" name="TextBox 8"/>
          <p:cNvSpPr txBox="1"/>
          <p:nvPr/>
        </p:nvSpPr>
        <p:spPr>
          <a:xfrm>
            <a:off x="1097280" y="3785615"/>
            <a:ext cx="6492240" cy="1005840"/>
          </a:xfrm>
          <a:prstGeom prst="rect">
            <a:avLst/>
          </a:prstGeom>
          <a:noFill/>
        </p:spPr>
        <p:txBody>
          <a:bodyPr wrap="square" anchor="t" lIns="0" rIns="0" tIns="0" bIns="0">
            <a:noAutofit/>
          </a:bodyPr>
          <a:lstStyle/>
          <a:p>
            <a:pPr algn="l">
              <a:spcAft>
                <a:spcPts val="0"/>
              </a:spcAft>
            </a:pPr>
            <a:r>
              <a:rPr sz="1600" b="1">
                <a:solidFill>
                  <a:srgbClr val="000000"/>
                </a:solidFill>
              </a:rPr>
              <a:t>Label with two judges. </a:t>
            </a:r>
            <a:r>
              <a:rPr sz="1600" b="0">
                <a:solidFill>
                  <a:srgbClr val="52514E"/>
                </a:solidFill>
              </a:rPr>
              <a:t>Llama Guard 3 plus an added “Election Delegitimization” category. Claude with a written rubric: ANSWERS, PUSHBACK, DODGES or REFUSES. “Did the task” means it produced the requested content, even after a disclaimer.</a:t>
            </a:r>
          </a:p>
        </p:txBody>
      </p:sp>
      <p:sp>
        <p:nvSpPr>
          <p:cNvPr id="10" name="TextBox 9"/>
          <p:cNvSpPr txBox="1"/>
          <p:nvPr/>
        </p:nvSpPr>
        <p:spPr>
          <a:xfrm>
            <a:off x="548640" y="4846320"/>
            <a:ext cx="457200" cy="502920"/>
          </a:xfrm>
          <a:prstGeom prst="rect">
            <a:avLst/>
          </a:prstGeom>
          <a:noFill/>
        </p:spPr>
        <p:txBody>
          <a:bodyPr wrap="square" anchor="t" lIns="0" rIns="0" tIns="0" bIns="0">
            <a:noAutofit/>
          </a:bodyPr>
          <a:lstStyle/>
          <a:p>
            <a:pPr algn="l">
              <a:spcAft>
                <a:spcPts val="0"/>
              </a:spcAft>
            </a:pPr>
            <a:r>
              <a:rPr sz="2600" b="1">
                <a:solidFill>
                  <a:srgbClr val="000000"/>
                </a:solidFill>
              </a:rPr>
              <a:t>4</a:t>
            </a:r>
          </a:p>
        </p:txBody>
      </p:sp>
      <p:sp>
        <p:nvSpPr>
          <p:cNvPr id="11" name="TextBox 10"/>
          <p:cNvSpPr txBox="1"/>
          <p:nvPr/>
        </p:nvSpPr>
        <p:spPr>
          <a:xfrm>
            <a:off x="1097280" y="4901184"/>
            <a:ext cx="6492240" cy="1005840"/>
          </a:xfrm>
          <a:prstGeom prst="rect">
            <a:avLst/>
          </a:prstGeom>
          <a:noFill/>
        </p:spPr>
        <p:txBody>
          <a:bodyPr wrap="square" anchor="t" lIns="0" rIns="0" tIns="0" bIns="0">
            <a:noAutofit/>
          </a:bodyPr>
          <a:lstStyle/>
          <a:p>
            <a:pPr algn="l">
              <a:spcAft>
                <a:spcPts val="0"/>
              </a:spcAft>
            </a:pPr>
            <a:r>
              <a:rPr sz="1600" b="1">
                <a:solidFill>
                  <a:srgbClr val="000000"/>
                </a:solidFill>
              </a:rPr>
              <a:t>Validate. </a:t>
            </a:r>
            <a:r>
              <a:rPr sz="1600" b="0">
                <a:solidFill>
                  <a:srgbClr val="52514E"/>
                </a:solidFill>
              </a:rPr>
              <a:t>50 replies labeled blind by a teammate: Claude agrees on 89% (κ = 0.77), Llama Guard on 76% (κ = 0.51). A Sonnet re-check of 10% agrees 98%.</a:t>
            </a:r>
          </a:p>
        </p:txBody>
      </p:sp>
      <p:sp>
        <p:nvSpPr>
          <p:cNvPr id="12" name="TextBox 11"/>
          <p:cNvSpPr txBox="1"/>
          <p:nvPr/>
        </p:nvSpPr>
        <p:spPr>
          <a:xfrm>
            <a:off x="8046719" y="1554480"/>
            <a:ext cx="3596335" cy="365760"/>
          </a:xfrm>
          <a:prstGeom prst="rect">
            <a:avLst/>
          </a:prstGeom>
          <a:noFill/>
        </p:spPr>
        <p:txBody>
          <a:bodyPr wrap="square" anchor="t" lIns="0" rIns="0" tIns="0" bIns="0">
            <a:noAutofit/>
          </a:bodyPr>
          <a:lstStyle/>
          <a:p>
            <a:pPr algn="l">
              <a:spcAft>
                <a:spcPts val="0"/>
              </a:spcAft>
            </a:pPr>
            <a:r>
              <a:rPr sz="1800" b="1">
                <a:solidFill>
                  <a:srgbClr val="000000"/>
                </a:solidFill>
              </a:rPr>
              <a:t>Why not the paper’s judge?</a:t>
            </a:r>
          </a:p>
        </p:txBody>
      </p:sp>
      <p:sp>
        <p:nvSpPr>
          <p:cNvPr id="13" name="TextBox 12"/>
          <p:cNvSpPr txBox="1"/>
          <p:nvPr/>
        </p:nvSpPr>
        <p:spPr>
          <a:xfrm>
            <a:off x="8046719" y="2011680"/>
            <a:ext cx="3596335" cy="4023360"/>
          </a:xfrm>
          <a:prstGeom prst="rect">
            <a:avLst/>
          </a:prstGeom>
          <a:noFill/>
        </p:spPr>
        <p:txBody>
          <a:bodyPr wrap="square" anchor="t" lIns="0" rIns="0" tIns="0" bIns="0">
            <a:noAutofit/>
          </a:bodyPr>
          <a:lstStyle/>
          <a:p>
            <a:pPr algn="l" marL="274320" indent="-274320">
              <a:spcAft>
                <a:spcPts val="1000"/>
              </a:spcAft>
              <a:buChar char="•"/>
            </a:pPr>
            <a:r>
              <a:rPr sz="1500" b="0">
                <a:solidFill>
                  <a:srgbClr val="52514E"/>
                </a:solidFill>
              </a:rPr>
              <a:t>Llama Guard 2 has no election category and flags 0 of our replies, even ones that fully argue an election was stolen</a:t>
            </a:r>
          </a:p>
          <a:p>
            <a:pPr algn="l" marL="274320" indent="-274320">
              <a:spcAft>
                <a:spcPts val="1000"/>
              </a:spcAft>
              <a:buChar char="•"/>
            </a:pPr>
            <a:r>
              <a:rPr sz="1500" b="0">
                <a:solidFill>
                  <a:srgbClr val="52514E"/>
                </a:solidFill>
              </a:rPr>
              <a:t>Llama Guard 3’s built-in categories catch about half</a:t>
            </a:r>
          </a:p>
          <a:p>
            <a:pPr algn="l" marL="274320" indent="-274320">
              <a:spcAft>
                <a:spcPts val="1000"/>
              </a:spcAft>
              <a:buChar char="•"/>
            </a:pPr>
            <a:r>
              <a:rPr sz="1500" b="0">
                <a:solidFill>
                  <a:srgbClr val="52514E"/>
                </a:solidFill>
              </a:rPr>
              <a:t>Guard misses disclaimer-then-argue and question-form replies, so Claude counts about 20 points more as done</a:t>
            </a:r>
          </a:p>
          <a:p>
            <a:pPr algn="l" marL="274320" indent="-274320">
              <a:spcAft>
                <a:spcPts val="1000"/>
              </a:spcAft>
              <a:buChar char="•"/>
            </a:pPr>
            <a:r>
              <a:rPr sz="1500" b="0">
                <a:solidFill>
                  <a:srgbClr val="52514E"/>
                </a:solidFill>
              </a:rPr>
              <a:t>Both judges agree on every group comparison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Setup: models and how we ran them</a:t>
            </a:r>
          </a:p>
        </p:txBody>
      </p:sp>
      <p:sp>
        <p:nvSpPr>
          <p:cNvPr id="3" name="Slide number"/>
          <p:cNvSpPr txBox="1"/>
          <p:nvPr/>
        </p:nvSpPr>
        <p:spPr>
          <a:xfrm>
            <a:off x="10728655" y="6400800"/>
            <a:ext cx="914400" cy="228600"/>
          </a:xfrm>
          <a:prstGeom prst="rect">
            <a:avLst/>
          </a:prstGeom>
          <a:noFill/>
        </p:spPr>
        <p:txBody>
          <a:bodyPr wrap="none" lIns="0" rIns="0" tIns="0" bIns="0">
            <a:spAutoFit/>
          </a:bodyPr>
          <a:lstStyle/>
          <a:p>
            <a:pPr algn="r"/>
            <a:fld id="{6F1B2D7E-4C3A-4E8B-9D21-7A5C0E3B9F14}" type="slidenum">
              <a:rPr lang="en-US" sz="1000">
                <a:solidFill>
                  <a:srgbClr val="898781"/>
                </a:solidFill>
              </a:rPr>
              <a:t>33</a:t>
            </a:fld>
          </a:p>
        </p:txBody>
      </p:sp>
      <p:sp>
        <p:nvSpPr>
          <p:cNvPr id="4" name="TextBox 3"/>
          <p:cNvSpPr txBox="1"/>
          <p:nvPr/>
        </p:nvSpPr>
        <p:spPr>
          <a:xfrm>
            <a:off x="548640" y="1600200"/>
            <a:ext cx="5318607" cy="411480"/>
          </a:xfrm>
          <a:prstGeom prst="rect">
            <a:avLst/>
          </a:prstGeom>
          <a:noFill/>
        </p:spPr>
        <p:txBody>
          <a:bodyPr wrap="square" anchor="t" lIns="0" rIns="0" tIns="0" bIns="0">
            <a:noAutofit/>
          </a:bodyPr>
          <a:lstStyle/>
          <a:p>
            <a:pPr algn="l">
              <a:spcAft>
                <a:spcPts val="0"/>
              </a:spcAft>
            </a:pPr>
            <a:r>
              <a:rPr sz="2400" b="1">
                <a:solidFill>
                  <a:srgbClr val="000000"/>
                </a:solidFill>
              </a:rPr>
              <a:t>Qwen2.5-7B-Instruct</a:t>
            </a:r>
          </a:p>
        </p:txBody>
      </p:sp>
      <p:sp>
        <p:nvSpPr>
          <p:cNvPr id="5" name="TextBox 4"/>
          <p:cNvSpPr txBox="1"/>
          <p:nvPr/>
        </p:nvSpPr>
        <p:spPr>
          <a:xfrm>
            <a:off x="548640" y="2103120"/>
            <a:ext cx="5318607" cy="365760"/>
          </a:xfrm>
          <a:prstGeom prst="rect">
            <a:avLst/>
          </a:prstGeom>
          <a:noFill/>
        </p:spPr>
        <p:txBody>
          <a:bodyPr wrap="square" anchor="t" lIns="0" rIns="0" tIns="0" bIns="0">
            <a:noAutofit/>
          </a:bodyPr>
          <a:lstStyle/>
          <a:p>
            <a:pPr algn="l">
              <a:spcAft>
                <a:spcPts val="0"/>
              </a:spcAft>
            </a:pPr>
            <a:r>
              <a:rPr sz="1800" b="0">
                <a:solidFill>
                  <a:srgbClr val="52514E"/>
                </a:solidFill>
              </a:rPr>
              <a:t>Alibaba · 7B parameters · 28 layers</a:t>
            </a:r>
          </a:p>
        </p:txBody>
      </p:sp>
      <p:sp>
        <p:nvSpPr>
          <p:cNvPr id="6" name="TextBox 5"/>
          <p:cNvSpPr txBox="1"/>
          <p:nvPr/>
        </p:nvSpPr>
        <p:spPr>
          <a:xfrm>
            <a:off x="6324447" y="1600200"/>
            <a:ext cx="5318607" cy="411480"/>
          </a:xfrm>
          <a:prstGeom prst="rect">
            <a:avLst/>
          </a:prstGeom>
          <a:noFill/>
        </p:spPr>
        <p:txBody>
          <a:bodyPr wrap="square" anchor="t" lIns="0" rIns="0" tIns="0" bIns="0">
            <a:noAutofit/>
          </a:bodyPr>
          <a:lstStyle/>
          <a:p>
            <a:pPr algn="l">
              <a:spcAft>
                <a:spcPts val="0"/>
              </a:spcAft>
            </a:pPr>
            <a:r>
              <a:rPr sz="2400" b="1">
                <a:solidFill>
                  <a:srgbClr val="000000"/>
                </a:solidFill>
              </a:rPr>
              <a:t>Llama-3.1-8B-Instruct</a:t>
            </a:r>
          </a:p>
        </p:txBody>
      </p:sp>
      <p:sp>
        <p:nvSpPr>
          <p:cNvPr id="7" name="TextBox 6"/>
          <p:cNvSpPr txBox="1"/>
          <p:nvPr/>
        </p:nvSpPr>
        <p:spPr>
          <a:xfrm>
            <a:off x="6324447" y="2103120"/>
            <a:ext cx="5318607" cy="365760"/>
          </a:xfrm>
          <a:prstGeom prst="rect">
            <a:avLst/>
          </a:prstGeom>
          <a:noFill/>
        </p:spPr>
        <p:txBody>
          <a:bodyPr wrap="square" anchor="t" lIns="0" rIns="0" tIns="0" bIns="0">
            <a:noAutofit/>
          </a:bodyPr>
          <a:lstStyle/>
          <a:p>
            <a:pPr algn="l">
              <a:spcAft>
                <a:spcPts val="0"/>
              </a:spcAft>
            </a:pPr>
            <a:r>
              <a:rPr sz="1800" b="0">
                <a:solidFill>
                  <a:srgbClr val="52514E"/>
                </a:solidFill>
              </a:rPr>
              <a:t>Meta · 8B parameters · 32 layers</a:t>
            </a:r>
          </a:p>
        </p:txBody>
      </p:sp>
      <p:graphicFrame>
        <p:nvGraphicFramePr>
          <p:cNvPr id="8" name="How we ran them"/>
          <p:cNvGraphicFramePr>
            <a:graphicFrameLocks noGrp="1"/>
          </p:cNvGraphicFramePr>
          <p:nvPr/>
        </p:nvGraphicFramePr>
        <p:xfrm>
          <a:off x="548640" y="2834640"/>
          <a:ext cx="11094415" cy="2609088"/>
        </p:xfrm>
        <a:graphic>
          <a:graphicData uri="http://schemas.openxmlformats.org/drawingml/2006/table">
            <a:tbl>
              <a:tblPr firstRow="1" bandRow="0">
                <a:tableStyleId>{2D5ABB26-0587-4C30-8999-92F81FD0307C}</a:tableStyleId>
              </a:tblPr>
              <a:tblGrid>
                <a:gridCol w="2743200"/>
                <a:gridCol w="8351215"/>
              </a:tblGrid>
              <a:tr h="353568">
                <a:tc>
                  <a:txBody>
                    <a:bodyPr/>
                    <a:lstStyle/>
                    <a:p>
                      <a:r>
                        <a:rPr sz="1600" b="1">
                          <a:solidFill>
                            <a:srgbClr val="000000"/>
                          </a:solidFill>
                        </a:rPr>
                        <a:t>How we ran them</a:t>
                      </a:r>
                    </a:p>
                  </a:txBody>
                  <a:tcPr marL="0" marR="73152" marT="54864" marB="54864">
                    <a:lnB w="19050">
                      <a:solidFill>
                        <a:srgbClr val="000000"/>
                      </a:solidFill>
                    </a:lnB>
                    <a:noFill/>
                  </a:tcPr>
                </a:tc>
                <a:tc>
                  <a:txBody>
                    <a:bodyPr/>
                    <a:lstStyle/>
                    <a:p/>
                  </a:txBody>
                  <a:tcPr marL="73152" marR="73152" marT="54864" marB="54864">
                    <a:lnB w="19050">
                      <a:solidFill>
                        <a:srgbClr val="000000"/>
                      </a:solidFill>
                    </a:lnB>
                    <a:noFill/>
                  </a:tcPr>
                </a:tc>
              </a:tr>
              <a:tr h="353568">
                <a:tc>
                  <a:txBody>
                    <a:bodyPr/>
                    <a:lstStyle/>
                    <a:p>
                      <a:r>
                        <a:rPr sz="1600" b="1">
                          <a:solidFill>
                            <a:srgbClr val="000000"/>
                          </a:solidFill>
                        </a:rPr>
                        <a:t>Weights</a:t>
                      </a:r>
                    </a:p>
                  </a:txBody>
                  <a:tcPr marL="0" marR="73152" marT="54864" marB="54864">
                    <a:lnB w="9525">
                      <a:solidFill>
                        <a:srgbClr val="D9D9D9"/>
                      </a:solidFill>
                    </a:lnB>
                    <a:noFill/>
                  </a:tcPr>
                </a:tc>
                <a:tc>
                  <a:txBody>
                    <a:bodyPr/>
                    <a:lstStyle/>
                    <a:p>
                      <a:r>
                        <a:rPr sz="1600" b="0">
                          <a:solidFill>
                            <a:srgbClr val="52514E"/>
                          </a:solidFill>
                        </a:rPr>
                        <a:t>Open-weight instruct versions from Hugging Face, each with its own chat template</a:t>
                      </a:r>
                    </a:p>
                  </a:txBody>
                  <a:tcPr marL="73152" marR="73152" marT="54864" marB="54864">
                    <a:lnB w="9525">
                      <a:solidFill>
                        <a:srgbClr val="D9D9D9"/>
                      </a:solidFill>
                    </a:lnB>
                    <a:noFill/>
                  </a:tcPr>
                </a:tc>
              </a:tr>
              <a:tr h="597408">
                <a:tc>
                  <a:txBody>
                    <a:bodyPr/>
                    <a:lstStyle/>
                    <a:p>
                      <a:r>
                        <a:rPr sz="1600" b="1">
                          <a:solidFill>
                            <a:srgbClr val="000000"/>
                          </a:solidFill>
                        </a:rPr>
                        <a:t>Decoding</a:t>
                      </a:r>
                    </a:p>
                  </a:txBody>
                  <a:tcPr marL="0" marR="73152" marT="54864" marB="54864">
                    <a:lnB w="9525">
                      <a:solidFill>
                        <a:srgbClr val="D9D9D9"/>
                      </a:solidFill>
                    </a:lnB>
                    <a:noFill/>
                  </a:tcPr>
                </a:tc>
                <a:tc>
                  <a:txBody>
                    <a:bodyPr/>
                    <a:lstStyle/>
                    <a:p>
                      <a:r>
                        <a:rPr sz="1600" b="0">
                          <a:solidFill>
                            <a:srgbClr val="52514E"/>
                          </a:solidFill>
                        </a:rPr>
                        <a:t>Greedy (no sampling), up to 128 new tokens, batches of 16; every prompt with and without the refusal direction removed</a:t>
                      </a:r>
                    </a:p>
                  </a:txBody>
                  <a:tcPr marL="73152" marR="73152" marT="54864" marB="54864">
                    <a:lnB w="9525">
                      <a:solidFill>
                        <a:srgbClr val="D9D9D9"/>
                      </a:solidFill>
                    </a:lnB>
                    <a:noFill/>
                  </a:tcPr>
                </a:tc>
              </a:tr>
              <a:tr h="353568">
                <a:tc>
                  <a:txBody>
                    <a:bodyPr/>
                    <a:lstStyle/>
                    <a:p>
                      <a:r>
                        <a:rPr sz="1600" b="1">
                          <a:solidFill>
                            <a:srgbClr val="000000"/>
                          </a:solidFill>
                        </a:rPr>
                        <a:t>Precision and GPU</a:t>
                      </a:r>
                    </a:p>
                  </a:txBody>
                  <a:tcPr marL="0" marR="73152" marT="54864" marB="54864">
                    <a:lnB w="9525">
                      <a:solidFill>
                        <a:srgbClr val="D9D9D9"/>
                      </a:solidFill>
                    </a:lnB>
                    <a:noFill/>
                  </a:tcPr>
                </a:tc>
                <a:tc>
                  <a:txBody>
                    <a:bodyPr/>
                    <a:lstStyle/>
                    <a:p>
                      <a:r>
                        <a:rPr sz="1600" b="0">
                          <a:solidFill>
                            <a:srgbClr val="52514E"/>
                          </a:solidFill>
                        </a:rPr>
                        <a:t>bfloat16 on one NVIDIA A40 (48 GB), about 25 minutes per model</a:t>
                      </a:r>
                    </a:p>
                  </a:txBody>
                  <a:tcPr marL="73152" marR="73152" marT="54864" marB="54864">
                    <a:lnB w="9525">
                      <a:solidFill>
                        <a:srgbClr val="D9D9D9"/>
                      </a:solidFill>
                    </a:lnB>
                    <a:noFill/>
                  </a:tcPr>
                </a:tc>
              </a:tr>
              <a:tr h="353568">
                <a:tc>
                  <a:txBody>
                    <a:bodyPr/>
                    <a:lstStyle/>
                    <a:p>
                      <a:r>
                        <a:rPr sz="1600" b="1">
                          <a:solidFill>
                            <a:srgbClr val="000000"/>
                          </a:solidFill>
                        </a:rPr>
                        <a:t>Prompts</a:t>
                      </a:r>
                    </a:p>
                  </a:txBody>
                  <a:tcPr marL="0" marR="73152" marT="54864" marB="54864">
                    <a:lnB w="9525">
                      <a:solidFill>
                        <a:srgbClr val="D9D9D9"/>
                      </a:solidFill>
                    </a:lnB>
                    <a:noFill/>
                  </a:tcPr>
                </a:tc>
                <a:tc>
                  <a:txBody>
                    <a:bodyPr/>
                    <a:lstStyle/>
                    <a:p>
                      <a:r>
                        <a:rPr sz="1600" b="0">
                          <a:solidFill>
                            <a:srgbClr val="52514E"/>
                          </a:solidFill>
                        </a:rPr>
                        <a:t>920: 5 askers × 8 elections × 23 requests (17 stolen-election, 6 harmless)</a:t>
                      </a:r>
                    </a:p>
                  </a:txBody>
                  <a:tcPr marL="73152" marR="73152" marT="54864" marB="54864">
                    <a:lnB w="9525">
                      <a:solidFill>
                        <a:srgbClr val="D9D9D9"/>
                      </a:solidFill>
                    </a:lnB>
                    <a:noFill/>
                  </a:tcPr>
                </a:tc>
              </a:tr>
              <a:tr h="597408">
                <a:tc>
                  <a:txBody>
                    <a:bodyPr/>
                    <a:lstStyle/>
                    <a:p>
                      <a:r>
                        <a:rPr sz="1600" b="1">
                          <a:solidFill>
                            <a:srgbClr val="000000"/>
                          </a:solidFill>
                        </a:rPr>
                        <a:t>Judges</a:t>
                      </a:r>
                    </a:p>
                  </a:txBody>
                  <a:tcPr marL="0" marR="73152" marT="54864" marB="54864">
                    <a:lnB w="9525">
                      <a:solidFill>
                        <a:srgbClr val="D9D9D9"/>
                      </a:solidFill>
                    </a:lnB>
                    <a:noFill/>
                  </a:tcPr>
                </a:tc>
                <a:tc>
                  <a:txBody>
                    <a:bodyPr/>
                    <a:lstStyle/>
                    <a:p>
                      <a:r>
                        <a:rPr sz="1600" b="0">
                          <a:solidFill>
                            <a:srgbClr val="52514E"/>
                          </a:solidFill>
                        </a:rPr>
                        <a:t>Llama Guard 3 (8B) with an added election category, and Claude Opus 5.5 with a written rubric</a:t>
                      </a:r>
                    </a:p>
                  </a:txBody>
                  <a:tcPr marL="73152" marR="73152" marT="54864" marB="54864">
                    <a:lnB w="9525">
                      <a:solidFill>
                        <a:srgbClr val="D9D9D9"/>
                      </a:solidFill>
                    </a:lnB>
                    <a:no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Steps 4–5: Look inside, then test causally</a:t>
            </a:r>
          </a:p>
        </p:txBody>
      </p:sp>
      <p:sp>
        <p:nvSpPr>
          <p:cNvPr id="3" name="Slide number"/>
          <p:cNvSpPr txBox="1"/>
          <p:nvPr/>
        </p:nvSpPr>
        <p:spPr>
          <a:xfrm>
            <a:off x="10728655" y="6400800"/>
            <a:ext cx="914400" cy="228600"/>
          </a:xfrm>
          <a:prstGeom prst="rect">
            <a:avLst/>
          </a:prstGeom>
          <a:noFill/>
        </p:spPr>
        <p:txBody>
          <a:bodyPr wrap="none" lIns="0" rIns="0" tIns="0" bIns="0">
            <a:spAutoFit/>
          </a:bodyPr>
          <a:lstStyle/>
          <a:p>
            <a:pPr algn="r"/>
            <a:fld id="{6F1B2D7E-4C3A-4E8B-9D21-7A5C0E3B9F14}" type="slidenum">
              <a:rPr lang="en-US" sz="1000">
                <a:solidFill>
                  <a:srgbClr val="898781"/>
                </a:solidFill>
              </a:rPr>
              <a:t>34</a:t>
            </a:fld>
          </a:p>
        </p:txBody>
      </p:sp>
      <p:sp>
        <p:nvSpPr>
          <p:cNvPr id="4" name="TextBox 3"/>
          <p:cNvSpPr txBox="1"/>
          <p:nvPr/>
        </p:nvSpPr>
        <p:spPr>
          <a:xfrm>
            <a:off x="548640" y="1554480"/>
            <a:ext cx="5318607" cy="502920"/>
          </a:xfrm>
          <a:prstGeom prst="rect">
            <a:avLst/>
          </a:prstGeom>
          <a:noFill/>
        </p:spPr>
        <p:txBody>
          <a:bodyPr wrap="square" anchor="t" lIns="0" rIns="0" tIns="0" bIns="0">
            <a:noAutofit/>
          </a:bodyPr>
          <a:lstStyle/>
          <a:p>
            <a:pPr algn="l">
              <a:spcAft>
                <a:spcPts val="0"/>
              </a:spcAft>
            </a:pPr>
            <a:r>
              <a:rPr sz="2800" b="1">
                <a:solidFill>
                  <a:srgbClr val="000000"/>
                </a:solidFill>
              </a:rPr>
              <a:t>4  </a:t>
            </a:r>
            <a:r>
              <a:rPr sz="2200" b="1">
                <a:solidFill>
                  <a:srgbClr val="000000"/>
                </a:solidFill>
              </a:rPr>
              <a:t>Look inside</a:t>
            </a:r>
          </a:p>
        </p:txBody>
      </p:sp>
      <p:sp>
        <p:nvSpPr>
          <p:cNvPr id="5" name="TextBox 4"/>
          <p:cNvSpPr txBox="1"/>
          <p:nvPr/>
        </p:nvSpPr>
        <p:spPr>
          <a:xfrm>
            <a:off x="548640" y="2194560"/>
            <a:ext cx="5318607" cy="3108960"/>
          </a:xfrm>
          <a:prstGeom prst="rect">
            <a:avLst/>
          </a:prstGeom>
          <a:noFill/>
        </p:spPr>
        <p:txBody>
          <a:bodyPr wrap="square" anchor="t" lIns="0" rIns="0" tIns="0" bIns="0">
            <a:noAutofit/>
          </a:bodyPr>
          <a:lstStyle/>
          <a:p>
            <a:pPr algn="l" marL="274320" indent="-274320">
              <a:spcAft>
                <a:spcPts val="1000"/>
              </a:spcAft>
              <a:buChar char="•"/>
            </a:pPr>
            <a:r>
              <a:rPr sz="1600" b="0">
                <a:solidFill>
                  <a:srgbClr val="52514E"/>
                </a:solidFill>
              </a:rPr>
              <a:t>Project each prompt onto the refusal direction: at the chosen layer, and at every layer onto that layer’s own direction</a:t>
            </a:r>
          </a:p>
          <a:p>
            <a:pPr algn="l" marL="274320" indent="-274320">
              <a:spcAft>
                <a:spcPts val="1000"/>
              </a:spcAft>
              <a:buChar char="•"/>
            </a:pPr>
            <a:r>
              <a:rPr sz="1600" b="0">
                <a:solidFill>
                  <a:srgbClr val="52514E"/>
                </a:solidFill>
              </a:rPr>
              <a:t>Compare matched pairs: other side − own side, Republican − Democrat, party − Lakers fan</a:t>
            </a:r>
          </a:p>
          <a:p>
            <a:pPr algn="l" marL="274320" indent="-274320">
              <a:spcAft>
                <a:spcPts val="1000"/>
              </a:spcAft>
              <a:buChar char="•"/>
            </a:pPr>
            <a:r>
              <a:rPr sz="1600" b="0">
                <a:solidFill>
                  <a:srgbClr val="52514E"/>
                </a:solidFill>
              </a:rPr>
              <a:t>Scale by the stolen-minus-harmless gap; sign-flip tests, Bonferroni-corrected across layers</a:t>
            </a:r>
          </a:p>
        </p:txBody>
      </p:sp>
      <p:sp>
        <p:nvSpPr>
          <p:cNvPr id="6" name="TextBox 5"/>
          <p:cNvSpPr txBox="1"/>
          <p:nvPr/>
        </p:nvSpPr>
        <p:spPr>
          <a:xfrm>
            <a:off x="6324447" y="1554480"/>
            <a:ext cx="5318607" cy="502920"/>
          </a:xfrm>
          <a:prstGeom prst="rect">
            <a:avLst/>
          </a:prstGeom>
          <a:noFill/>
        </p:spPr>
        <p:txBody>
          <a:bodyPr wrap="square" anchor="t" lIns="0" rIns="0" tIns="0" bIns="0">
            <a:noAutofit/>
          </a:bodyPr>
          <a:lstStyle/>
          <a:p>
            <a:pPr algn="l">
              <a:spcAft>
                <a:spcPts val="0"/>
              </a:spcAft>
            </a:pPr>
            <a:r>
              <a:rPr sz="2800" b="1">
                <a:solidFill>
                  <a:srgbClr val="000000"/>
                </a:solidFill>
              </a:rPr>
              <a:t>5  </a:t>
            </a:r>
            <a:r>
              <a:rPr sz="2200" b="1">
                <a:solidFill>
                  <a:srgbClr val="000000"/>
                </a:solidFill>
              </a:rPr>
              <a:t>Test causally</a:t>
            </a:r>
          </a:p>
        </p:txBody>
      </p:sp>
      <p:sp>
        <p:nvSpPr>
          <p:cNvPr id="7" name="TextBox 6"/>
          <p:cNvSpPr txBox="1"/>
          <p:nvPr/>
        </p:nvSpPr>
        <p:spPr>
          <a:xfrm>
            <a:off x="6324447" y="2194560"/>
            <a:ext cx="5318607" cy="3108960"/>
          </a:xfrm>
          <a:prstGeom prst="rect">
            <a:avLst/>
          </a:prstGeom>
          <a:noFill/>
        </p:spPr>
        <p:txBody>
          <a:bodyPr wrap="square" anchor="t" lIns="0" rIns="0" tIns="0" bIns="0">
            <a:noAutofit/>
          </a:bodyPr>
          <a:lstStyle/>
          <a:p>
            <a:pPr algn="l" marL="274320" indent="-274320">
              <a:spcAft>
                <a:spcPts val="1000"/>
              </a:spcAft>
              <a:buChar char="•"/>
            </a:pPr>
            <a:r>
              <a:rPr sz="1600" b="0">
                <a:solidFill>
                  <a:srgbClr val="52514E"/>
                </a:solidFill>
              </a:rPr>
              <a:t>Remove the direction at every layer: does the own-side gap close?</a:t>
            </a:r>
          </a:p>
          <a:p>
            <a:pPr algn="l" marL="274320" indent="-274320">
              <a:spcAft>
                <a:spcPts val="1000"/>
              </a:spcAft>
              <a:buChar char="•"/>
            </a:pPr>
            <a:r>
              <a:rPr sz="1600" b="0">
                <a:solidFill>
                  <a:srgbClr val="52514E"/>
                </a:solidFill>
              </a:rPr>
              <a:t>Shift own-side prompts along it by 1×, 2×, 3× and 10× the measured gap at the chosen layer; the same shift along a random direction is the control</a:t>
            </a:r>
          </a:p>
          <a:p>
            <a:pPr algn="l" marL="274320" indent="-274320">
              <a:spcAft>
                <a:spcPts val="1000"/>
              </a:spcAft>
              <a:buChar char="•"/>
            </a:pPr>
            <a:r>
              <a:rPr sz="1600" b="0">
                <a:solidFill>
                  <a:srgbClr val="52514E"/>
                </a:solidFill>
              </a:rPr>
              <a:t>Side direction: what an other-side request adds on stolen prompts beyond harmless ones; compare it with refusal and shift along it</a:t>
            </a:r>
          </a:p>
        </p:txBody>
      </p:sp>
      <p:sp>
        <p:nvSpPr>
          <p:cNvPr id="8" name="TextBox 7"/>
          <p:cNvSpPr txBox="1"/>
          <p:nvPr/>
        </p:nvSpPr>
        <p:spPr>
          <a:xfrm>
            <a:off x="548640" y="5532120"/>
            <a:ext cx="11094415" cy="365760"/>
          </a:xfrm>
          <a:prstGeom prst="rect">
            <a:avLst/>
          </a:prstGeom>
          <a:noFill/>
        </p:spPr>
        <p:txBody>
          <a:bodyPr wrap="square" anchor="t" lIns="0" rIns="0" tIns="0" bIns="0">
            <a:noAutofit/>
          </a:bodyPr>
          <a:lstStyle/>
          <a:p>
            <a:pPr algn="l">
              <a:spcAft>
                <a:spcPts val="0"/>
              </a:spcAft>
            </a:pPr>
            <a:r>
              <a:rPr sz="1600" b="0">
                <a:solidFill>
                  <a:srgbClr val="52514E"/>
                </a:solidFill>
              </a:rPr>
              <a:t>Predictions for the causal tests were written down before the GPU runs.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Supporting detail</a:t>
            </a:r>
          </a:p>
        </p:txBody>
      </p:sp>
      <p:sp>
        <p:nvSpPr>
          <p:cNvPr id="3" name="Slide number"/>
          <p:cNvSpPr txBox="1"/>
          <p:nvPr/>
        </p:nvSpPr>
        <p:spPr>
          <a:xfrm>
            <a:off x="10728655" y="6400800"/>
            <a:ext cx="914400" cy="228600"/>
          </a:xfrm>
          <a:prstGeom prst="rect">
            <a:avLst/>
          </a:prstGeom>
          <a:noFill/>
        </p:spPr>
        <p:txBody>
          <a:bodyPr wrap="none" lIns="0" rIns="0" tIns="0" bIns="0">
            <a:spAutoFit/>
          </a:bodyPr>
          <a:lstStyle/>
          <a:p>
            <a:pPr algn="r"/>
            <a:fld id="{6F1B2D7E-4C3A-4E8B-9D21-7A5C0E3B9F14}" type="slidenum">
              <a:rPr lang="en-US" sz="1000">
                <a:solidFill>
                  <a:srgbClr val="898781"/>
                </a:solidFill>
              </a:rPr>
              <a:t>35</a:t>
            </a:fld>
          </a:p>
        </p:txBody>
      </p:sp>
      <p:sp>
        <p:nvSpPr>
          <p:cNvPr id="4" name="TextBox 3"/>
          <p:cNvSpPr txBox="1"/>
          <p:nvPr/>
        </p:nvSpPr>
        <p:spPr>
          <a:xfrm>
            <a:off x="548640" y="1737360"/>
            <a:ext cx="11094415" cy="1097280"/>
          </a:xfrm>
          <a:prstGeom prst="rect">
            <a:avLst/>
          </a:prstGeom>
          <a:noFill/>
        </p:spPr>
        <p:txBody>
          <a:bodyPr wrap="square" anchor="t" lIns="0" rIns="0" tIns="0" bIns="0">
            <a:noAutofit/>
          </a:bodyPr>
          <a:lstStyle/>
          <a:p>
            <a:pPr algn="l">
              <a:spcAft>
                <a:spcPts val="600"/>
              </a:spcAft>
            </a:pPr>
            <a:r>
              <a:rPr sz="1800" b="0">
                <a:solidFill>
                  <a:srgbClr val="52514E"/>
                </a:solidFill>
              </a:rPr>
              <a:t>Each finding with the figure behind it, in the order of the summary on the next slide.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8AABAF8-9CE0-B243-B7F1-47EF2A676438}">
  <we:reference id="WA200010001" version="1.0.0.1" store="Omex" storeType="OMEX"/>
  <we:alternateReferences>
    <we:reference id="WA200010001" version="1.0.0.1" store="WA200010001" storeType="OMEX"/>
  </we:alternateReferences>
  <we:properties>
    <we:property name="claude.fileId" value="&quot;6b5b107d-5d3f-4ef7-9d26-6d335a607276&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11</TotalTime>
  <Words>4089</Words>
  <Application>Microsoft Macintosh PowerPoint</Application>
  <PresentationFormat>Widescreen</PresentationFormat>
  <Paragraphs>285</Paragraphs>
  <Slides>27</Slides>
  <Notes>27</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27</vt:i4>
      </vt:variant>
    </vt:vector>
  </HeadingPairs>
  <TitlesOfParts>
    <vt:vector size="29" baseType="lpstr">
      <vt:lpstr>Arial</vt:lpstr>
      <vt:lpstr>Office Theme</vt:lpstr>
      <vt:lpstr>AI and the democratic process - does model refusal direction change based on partisanship? </vt:lpstr>
      <vt:lpstr>Motivation</vt:lpstr>
      <vt:lpstr>Motivation</vt:lpstr>
      <vt:lpstr>What we’ll cover</vt:lpstr>
      <vt:lpstr>Prior work: refusal is mediated by a single direction</vt:lpstr>
      <vt:lpstr>Our question: is that direction party-blind?</vt:lpstr>
      <vt:lpstr>What we did: from prompts to causal tests</vt:lpstr>
      <vt:lpstr>920 prompts where only the asker changes</vt:lpstr>
      <vt:lpstr>The paper’s safety judge flags none of these replies</vt:lpstr>
      <vt:lpstr>What we found</vt:lpstr>
      <vt:lpstr>No party gap: the models favor the asker’s own side</vt:lpstr>
      <vt:lpstr>A Lakers fan is treated like a partisan</vt:lpstr>
      <vt:lpstr>One refusal direction: layer 19 in Qwen, 13 in Llama</vt:lpstr>
      <vt:lpstr>Who’s asking registers in the first layers</vt:lpstr>
      <vt:lpstr>Whose claim it is switches on mid-network</vt:lpstr>
      <vt:lpstr>Removing the direction mostly erases the gap</vt:lpstr>
      <vt:lpstr>In Llama the gap runs through refusal; in Qwen, mostly not</vt:lpstr>
      <vt:lpstr>Qwen has a second direction for whose claim it is</vt:lpstr>
      <vt:lpstr>Non-partisan, yes. Serving democracy? Less clear</vt:lpstr>
      <vt:lpstr>In Chinese, Qwen censors more, and not through refusal</vt:lpstr>
      <vt:lpstr>Takeaways</vt:lpstr>
      <vt:lpstr>Next steps</vt:lpstr>
      <vt:lpstr>Backup slides</vt:lpstr>
      <vt:lpstr>Request format matters more than severity</vt:lpstr>
      <vt:lpstr>How the design answered the TA’s feedback</vt:lpstr>
      <vt:lpstr>Why the constant shift, not “set to the mean”</vt:lpstr>
      <vt:lpstr>The direction tracks refusal, and it’s party-blind</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Brown, Michael</cp:lastModifiedBy>
  <cp:revision>2</cp:revision>
  <dcterms:created xsi:type="dcterms:W3CDTF">2013-01-27T09:14:16Z</dcterms:created>
  <dcterms:modified xsi:type="dcterms:W3CDTF">2026-10-29T02:51:50Z</dcterms:modified>
  <cp:category/>
</cp:coreProperties>
</file>