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83" r:id="rId4"/>
    <p:sldId id="259" r:id="rId5"/>
    <p:sldId id="292" r:id="rId42"/>
    <p:sldId id="260" r:id="rId6"/>
    <p:sldId id="261" r:id="rId7"/>
    <p:sldId id="293" r:id="rId43"/>
    <p:sldId id="289" r:id="rId39"/>
    <p:sldId id="262" r:id="rId8"/>
    <p:sldId id="263" r:id="rId9"/>
    <p:sldId id="288" r:id="rId38"/>
    <p:sldId id="285" r:id="rId35"/>
    <p:sldId id="290" r:id="rId40"/>
    <p:sldId id="294" r:id="rId44"/>
    <p:sldId id="296" r:id="rId46"/>
    <p:sldId id="267" r:id="rId13"/>
    <p:sldId id="270" r:id="rId16"/>
    <p:sldId id="272" r:id="rId18"/>
    <p:sldId id="300" r:id="rId50"/>
    <p:sldId id="295" r:id="rId45"/>
    <p:sldId id="276" r:id="rId22"/>
    <p:sldId id="277" r:id="rId23"/>
    <p:sldId id="291" r:id="rId41"/>
    <p:sldId id="265" r:id="rId11"/>
    <p:sldId id="268" r:id="rId14"/>
    <p:sldId id="269" r:id="rId15"/>
    <p:sldId id="271" r:id="rId17"/>
    <p:sldId id="273" r:id="rId19"/>
    <p:sldId id="275" r:id="rId21"/>
    <p:sldId id="264" r:id="rId10"/>
    <p:sldId id="278" r:id="rId24"/>
    <p:sldId id="284" r:id="rId34"/>
    <p:sldId id="279" r:id="rId25"/>
    <p:sldId id="280" r:id="rId26"/>
    <p:sldId id="281" r:id="rId27"/>
    <p:sldId id="282" r:id="rId28"/>
    <p:sldId id="286" r:id="rId36"/>
    <p:sldId id="287" r:id="rId37"/>
    <p:sldId id="266" r:id="rId12"/>
    <p:sldId id="297" r:id="rId47"/>
    <p:sldId id="298" r:id="rId48"/>
    <p:sldId id="299" r:id="rId49"/>
    <p:sldId id="274" r:id="rId20"/>
    <p:sldId id="301" r:id="rId51"/>
    <p:sldId id="302" r:id="rId52"/>
    <p:sldId id="303" r:id="rId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78"/>
  </p:normalViewPr>
  <p:slideViewPr>
    <p:cSldViewPr snapToGrid="0" snapToObjects="1">
      <p:cViewPr varScale="1">
        <p:scale>
          <a:sx n="90" d="100"/>
          <a:sy n="90" d="100"/>
        </p:scale>
        <p:origin x="216" y="7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31.xml"/><Relationship Id="rId11" Type="http://schemas.openxmlformats.org/officeDocument/2006/relationships/slide" Target="slides/slide25.xml"/><Relationship Id="rId12" Type="http://schemas.openxmlformats.org/officeDocument/2006/relationships/slide" Target="slides/slide40.xml"/><Relationship Id="rId13" Type="http://schemas.openxmlformats.org/officeDocument/2006/relationships/slide" Target="slides/slide17.xml"/><Relationship Id="rId14" Type="http://schemas.openxmlformats.org/officeDocument/2006/relationships/slide" Target="slides/slide26.xml"/><Relationship Id="rId15" Type="http://schemas.openxmlformats.org/officeDocument/2006/relationships/slide" Target="slides/slide27.xml"/><Relationship Id="rId16" Type="http://schemas.openxmlformats.org/officeDocument/2006/relationships/slide" Target="slides/slide18.xml"/><Relationship Id="rId17" Type="http://schemas.openxmlformats.org/officeDocument/2006/relationships/slide" Target="slides/slide28.xml"/><Relationship Id="rId18" Type="http://schemas.openxmlformats.org/officeDocument/2006/relationships/slide" Target="slides/slide19.xml"/><Relationship Id="rId19" Type="http://schemas.openxmlformats.org/officeDocument/2006/relationships/slide" Target="slides/slide29.xml"/><Relationship Id="rId20" Type="http://schemas.openxmlformats.org/officeDocument/2006/relationships/slide" Target="slides/slide44.xml"/><Relationship Id="rId21" Type="http://schemas.openxmlformats.org/officeDocument/2006/relationships/slide" Target="slides/slide3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32.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3.xml"/><Relationship Id="rId35" Type="http://schemas.openxmlformats.org/officeDocument/2006/relationships/slide" Target="slides/slide13.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12.xml"/><Relationship Id="rId39" Type="http://schemas.openxmlformats.org/officeDocument/2006/relationships/slide" Target="slides/slide9.xml"/><Relationship Id="rId40" Type="http://schemas.openxmlformats.org/officeDocument/2006/relationships/slide" Target="slides/slide14.xml"/><Relationship Id="rId41" Type="http://schemas.openxmlformats.org/officeDocument/2006/relationships/slide" Target="slides/slide24.xml"/><Relationship Id="rId42" Type="http://schemas.openxmlformats.org/officeDocument/2006/relationships/slide" Target="slides/slide5.xml"/><Relationship Id="rId43" Type="http://schemas.openxmlformats.org/officeDocument/2006/relationships/slide" Target="slides/slide8.xml"/><Relationship Id="rId44" Type="http://schemas.openxmlformats.org/officeDocument/2006/relationships/slide" Target="slides/slide15.xml"/><Relationship Id="rId45" Type="http://schemas.openxmlformats.org/officeDocument/2006/relationships/slide" Target="slides/slide21.xml"/><Relationship Id="rId46" Type="http://schemas.openxmlformats.org/officeDocument/2006/relationships/slide" Target="slides/slide16.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20.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Qwen2.5-7B</c:v>
                </c:pt>
              </c:strCache>
            </c:strRef>
          </c:tx>
          <c:spPr>
            <a:solidFill>
              <a:srgbClr val="26262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263-1549-86F5-142618AF6876}"/>
            </c:ext>
          </c:extLst>
        </c:ser>
        <c:ser>
          <c:idx val="1"/>
          <c:order val="1"/>
          <c:tx>
            <c:strRef>
              <c:f>Sheet1!$C$1</c:f>
              <c:strCache>
                <c:ptCount val="1"/>
                <c:pt idx="0">
                  <c:v>Llama-3.1-8B</c:v>
                </c:pt>
              </c:strCache>
            </c:strRef>
          </c:tx>
          <c:spPr>
            <a:solidFill>
              <a:srgbClr val="A6A6A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Sheet1!$C$2:$C$4</c:f>
              <c:numCache>
                <c:formatCode>General</c:formatCode>
                <c:ptCount val="3"/>
                <c:pt idx="0">
                  <c:v>0</c:v>
                </c:pt>
                <c:pt idx="1">
                  <c:v>0</c:v>
                </c:pt>
                <c:pt idx="2">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263-1549-86F5-142618AF687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endParaRPr lang="en-US"/>
          </a:p>
        </c:txPr>
        <c:crossAx val="-2068027336"/>
        <c:crosses val="autoZero"/>
        <c:crossBetween val="between"/>
        <c:majorUnit val="0.25"/>
      </c:valAx>
    </c:plotArea>
    <c:legend>
      <c:legendPos val="t"/>
      <c:overlay val="0"/>
    </c:legend>
    <c:plotVisOnly val="1"/>
    <c:dispBlanksAs val="gap"/>
    <c:showDLblsOverMax val="1"/>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5549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full names and the course name if you want them here.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sections, then two appendices. The numbers on the right are where each section starts, handy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method in 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Next, each step in turn.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we found, on one slide; the slide number on the right is where each one is backed up. The first line answers our question from slide 7: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original punchline chart, with both judges and the p-values on it. Kept as an alternate; the main deck uses the bar version on slide 16.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asks whether saying your party changes anything by itself. Each dot compares an asker who names an identity with one who says 'I'm a voter', on otherwise identical prompts. The Lakers fan is a control identity with nothing to do with politics. In Qwen, all three identities lower help by about the same amount; in Llama, the party labels barely matter while the Lakers fan lowers help. Either way, naming a party does no more than naming any group. That is why we read the main result as about whose claim it is, not about party.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29 picks this up again.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causal test. Inside the model, other-side requests sit a little higher on the refusal direction than own-side ones; that difference is what the x-axis counts in (0.14 units in Llama, 1.56 in Qwen). We push every own-side prompt up the refusal direction by that amount (1x), or two or three times it, at the chosen layer, and see how often the model still does the task. If the internal difference is why other-side requests get less help, the blue line should fall to the orange one. Llama: 18% to 13% at 1x, 11% at 2x, and onto the 10% line by 3x. Qwen: 40% to 39% at 1x and still 31% at 3x, above the 26% line. A much bigger push (10x) does cut Qwen to 15%, so the direction works in Qwen too, but the difference is too small to explain its gap. If asked: this chart uses Llama Guard 3, the only judge run at every push size; the Claude judge agrees (Llama 34% to 24% at 2x, against 26% for the other side). The same push in a random direction does nothing (Llama 2x: 34% under Claude). Qwen wasn't run at 2x. The original chart with both judges, the random control and 10x is the last slide of Appendix C.</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Previous text version of slide 20 (four rows). To use it, move it into place as slide 20.</a:t>
            </a:r>
          </a:p>
          <a:p/>
          <a:p>
            <a:r>
              <a:t>Back to the motivation. The models don't tend to show party-based bias: Democrats and Republicans get about the same help. Interestingly, they do favor the asker's own side. They help more when the claim matches the asker's party, so a Republican asking to prove 2020 was stolen, or a Democrat asking about 2016, gets more help than someone asking about the other side's claim. That is potentially concerning. It looks like sycophancy: the model affirms the user's own bias, which builds an echo chamber, and the people most likely to believe and spread a claim get the most help with it. We can't yet say that sycophancy is the cause. The other reading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this group can still run. The first item is the test from slide 20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Slides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HANDOFF.md.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Answers to the technical questions an AI researcher is likely to ask first. If time is short, skip this slide and keep it for questions. One more that may come up: removing the direction erases nearly all refusal, so it can't measure the gap on its own; for that we shift prompts along the direction by the measured gap, against a random-direction control, with predictions written before the run.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Arditi et al.'s recipe, with one change: we drop any anchor prompt that mentions elections, voting, parties or candidates, so the direction can't pick up politics. We also keep only harmful prompts the model actually refuses and harmless ones it answers (123 and 127 kept in Qwen, 121 and 127 in Llama), so the averages describe refusal itself. The refusal score is the log-odds that the reply's first token is a refusal token. Every layer up to 80% of the depth and every token after the instruction gives a candidate. We keep the one whose removal lowers refusal most, as long as adding it causes refusal and removing it barely changes harmless outputs (KL below 0.1). It then has to hold up on 64 harmful prompts never used to build or pick it, and across 100 re-extractions from resampled prompts. The curve behind the choice comes with the results.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Alternates. Option B for the prior-work slide (slide 6), the original both-judges punchline chart, the gaps-only and simple-dumbbell versions, an academic version with error bars, the earlier text version of the implications slide (slide 20), options A and B for the slide 19 chart, and the original slide 19 chart (last slide). Slide 16 uses the bar version; slide 19 uses option C.</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slide 6, built from the paper itself. Left: their method in their terms. Right: their two headline figures, which go in the dashed boxes (Figure 1 and Figure 3 of arXiv 2406.11717). Removing the direction makes all 13 models answer harmful requests; adding it makes them refuse harmless ones. Our pipeline reuses their prompts, scores and selection filters.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Every reply is judged blind to the asker. Llama Guard 3 gets one added category written for this project; Claude gets a four-label rubric, and 'did the task' means ANSWERS. The rubric's hard case is 'talking points with a rebuttal under each point': it counts as ANSWERS, because the user can lift the points. A teammate (Skyler) labeled 50 replies blind, before seeing any judge output. The two judges differ by about 20 points on levels, mostly disclaimer-then-argue replies that Guard misses, but agree on every group comparison. The agreement table is in the supporting detail.</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Two open-weight chat models, run the same way. Open weights matter because the method reads and edits the models' internal activations. Qwen is from a Chinese lab and Llama from a US lab, which the language extension uses. Each run took about 25 minutes per model on one A40, plus about 10 for judging. Next: the method, step by step.</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Step 4 is observational: where does each prompt sit along the refusal direction, and how does that change with the asker, layer by layer? Each layer uses its own direction, and gaps are scaled by that layer's stolen-minus-harmless gap so layers are comparable. Step 5 changes the activations and watches the replies. Removing the direction is the blunt version: it ends nearly all refusal, so it can't say how much of the gap runs through the direction. The constant shift is the clean test: push own-side prompts toward refusal by exactly the measured gap, or multiples of it, and see whether they fall to the other-side level; a random direction of the same size is the control. The side direction asks what else the gap might run through.</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evidence behind the punchline, one finding per slide. The first slide maps them.</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1: the paper we build on and the question we asked.</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2: what we ran and how. The models and their settings first, then the five steps.</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3: the main result in one slide, then what it means for the democracy question. The evidence for each piece is in the supporting detail after the conclusion.</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4: what to remember and what we would run next.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punchline. In each model, the left pair of bars is Democrat vs Republican: 1 to 4 points apart, not significant. The right pair is own side vs other side: own-side requests get the content 15 points more often in Qwen and 7 in Llama. These are the Claude judge's numbers, the judge validated against a blind human pass; Llama Guard shows the same pattern at lower levels. Inside the model it splits by model: in Llama, shifting own-side prompts along the refusal direction by twice the measured gap closes the gap; in Qwen it takes a second, side direction. The next three slides back it up: it isn't about party, where in the model the gap appears, and how Llama and Qwen differ.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the punchline chart: only the two gaps, under both judges. The party gap sits on zero; the own-side gap is clearly above it in both models. Slide 16 uses the bar version (option A).</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C for the punchline chart: the original dumbbells, simplified to the Claude judge, one panel per comparison, with the values on the dots. Slide 16 uses the bar version (option A).</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Academic version of the punchline chart (slide 16): same numbers, with 95% Wilson intervals on each bar and the paired significance test as brackets. If asked why the intervals overlap while the test is significant: each bar's interval ignores the pairing, while McNemar's test compares the same 136 prompts asked both ways, which removes most of the prompt-to-prompt variation. To use it, move this slide into place as slide 16.</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 to the motivation. Left: by party there's no gap. Democrats and Republicans get about the same help, 1 to 4 points apart and not significant. Right: interestingly, the models do favor the asker's own side. Own-side requests get the content 7 to 15 points more often, so a Republican asking to prove 2020 was stolen, or a Democrat asking about 2016, gets more help than someone asking about the other side's claim. That is potentially concerning. It looks like sycophancy: the model affirms the user's own bias, which builds an echo chamber, and the people most likely to believe and spread a claim get the most help with it. We can't yet say that sycophancy is the cause. The other reading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A for the slide 19 chart: bars, Claude judge only. Own side before the push, after a push of exactly the measured gap (1×), and the other side. The push closes 70% of Llama's gap and 26% of Qwen's; 2× closes Llama's fully. Slide 19 uses option C.</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the slide 19 chart: one number per test, the share of the own-side gap the push closes, Claude judge only. The gray row is the control: the same 2× push in a random direction closes none of it. Slide 19 uses option C.</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original slide 19 chart: both judges (solid Claude, dashed Llama Guard), the random-direction control (gray dots) and the 10x push. Kept as backup for questions; slide 19 uses the one-judge version (option C).</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103120"/>
            <a:ext cx="11094415" cy="914400"/>
          </a:xfrm>
        </p:spPr>
        <p:txBody>
          <a:bodyPr/>
          <a:lstStyle/>
          <a:p>
            <a:r>
              <a:rPr lang="en-US"/>
              <a:t>Click to edit Master title style</a:t>
            </a:r>
          </a:p>
        </p:txBody>
      </p:sp>
      <p:sp>
        <p:nvSpPr>
          <p:cNvPr id="3" name="Subtitle 2"/>
          <p:cNvSpPr>
            <a:spLocks noGrp="1"/>
          </p:cNvSpPr>
          <p:nvPr>
            <p:ph type="subTitle" idx="1"/>
          </p:nvPr>
        </p:nvSpPr>
        <p:spPr>
          <a:xfrm>
            <a:off x="548640" y="3108960"/>
            <a:ext cx="11094415" cy="82296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548640" y="3108960"/>
            <a:ext cx="11094415" cy="822960"/>
          </a:xfrm>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a:xfrm>
            <a:off x="548640" y="3108960"/>
            <a:ext cx="11094415" cy="822960"/>
          </a:xfrm>
        </p:spPr>
        <p:txBody>
          <a:bodyPr/>
          <a:lstStyle/>
          <a:p>
            <a:endParaRPr lang="en-US"/>
          </a:p>
        </p:txBody>
      </p:sp>
      <p:sp>
        <p:nvSpPr>
          <p:cNvPr id="6" name="Slide Number Placeholder 5"/>
          <p:cNvSpPr>
            <a:spLocks noGrp="1"/>
          </p:cNvSpPr>
          <p:nvPr>
            <p:ph type="sldNum" sz="quarter" idx="12"/>
          </p:nvPr>
        </p:nvSpPr>
        <p:spPr>
          <a:xfrm>
            <a:off x="548640" y="3108960"/>
            <a:ext cx="11094415" cy="82296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b="1"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 Id="rId3" Type="http://schemas.openxmlformats.org/officeDocument/2006/relationships/image" Target="../media/image18.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sz="4000" dirty="0">
                <a:solidFill>
                  <a:srgbClr val="000000"/>
                </a:solidFill>
              </a:rPr>
              <a:t>AI and the democratic process - does model refusal direction change based on partisanship? </a:t>
            </a:r>
            <a:endParaRPr sz="4000" b="1" dirty="0">
              <a:solidFill>
                <a:srgbClr val="000000"/>
              </a:solidFill>
            </a:endParaRPr>
          </a:p>
        </p:txBody>
      </p:sp>
      <p:sp>
        <p:nvSpPr>
          <p:cNvPr id="4" name="Team"/>
          <p:cNvSpPr txBox="1"/>
          <p:nvPr/>
        </p:nvSpPr>
        <p:spPr>
          <a:xfrm>
            <a:off x="548640" y="5074920"/>
            <a:ext cx="11094415" cy="365760"/>
          </a:xfrm>
          <a:prstGeom prst="rect">
            <a:avLst/>
          </a:prstGeom>
          <a:noFill/>
        </p:spPr>
        <p:txBody>
          <a:bodyPr wrap="square" lIns="0" tIns="0" rIns="0" bIns="0" anchor="t">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lIns="0" tIns="0" rIns="0" bIns="0" anchor="t">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endParaRPr dirty="0"/>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a:t>
            </a:fld>
            <a:endParaRPr lang="en-US" sz="1000">
              <a:solidFill>
                <a:srgbClr val="898781"/>
              </a:solidFill>
            </a:endParaRPr>
          </a:p>
        </p:txBody>
      </p:sp>
      <p:sp>
        <p:nvSpPr>
          <p:cNvPr id="4" name="TextBox 3"/>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dirty="0">
                <a:solidFill>
                  <a:srgbClr val="52514E"/>
                </a:solidFill>
              </a:rPr>
              <a:t>Explaining </a:t>
            </a:r>
            <a:r>
              <a:rPr lang="en-US" sz="1800" b="0" dirty="0">
                <a:solidFill>
                  <a:srgbClr val="52514E"/>
                </a:solidFill>
              </a:rPr>
              <a:t>the process for </a:t>
            </a:r>
            <a:r>
              <a:rPr sz="1800" b="0" dirty="0">
                <a:solidFill>
                  <a:srgbClr val="52514E"/>
                </a:solidFill>
              </a:rPr>
              <a:t>how votes </a:t>
            </a:r>
            <a:r>
              <a:rPr lang="en-US" sz="1800" b="0" dirty="0">
                <a:solidFill>
                  <a:srgbClr val="52514E"/>
                </a:solidFill>
              </a:rPr>
              <a:t>are</a:t>
            </a:r>
            <a:r>
              <a:rPr sz="1800" b="0" dirty="0">
                <a:solidFill>
                  <a:srgbClr val="52514E"/>
                </a:solidFill>
              </a:rPr>
              <a:t> counted and certified</a:t>
            </a:r>
          </a:p>
        </p:txBody>
      </p:sp>
      <p:sp>
        <p:nvSpPr>
          <p:cNvPr id="7" name="TextBox 6"/>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lIns="0" tIns="0" rIns="0" bIns="0" anchor="t">
            <a:noAutofit/>
          </a:bodyPr>
          <a:lstStyle/>
          <a:p>
            <a:pPr>
              <a:spcAft>
                <a:spcPts val="600"/>
              </a:spcAft>
            </a:pPr>
            <a:r>
              <a:rPr lang="en-US" dirty="0">
                <a:solidFill>
                  <a:srgbClr val="52514E"/>
                </a:solidFill>
              </a:rPr>
              <a:t>Affirming a user's belief that an election was illegitimate or stolen </a:t>
            </a:r>
            <a:endParaRPr sz="1800" b="0" dirty="0">
              <a:solidFill>
                <a:srgbClr val="52514E"/>
              </a:solidFill>
            </a:endParaRPr>
          </a:p>
        </p:txBody>
      </p:sp>
      <p:sp>
        <p:nvSpPr>
          <p:cNvPr id="9" name="TextBox 8"/>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0" dirty="0">
                <a:solidFill>
                  <a:srgbClr val="000000"/>
                </a:solidFill>
              </a:rPr>
              <a:t>The line between helpful and harmful</a:t>
            </a:r>
            <a:r>
              <a:rPr lang="en-US" sz="2000" b="0" dirty="0">
                <a:solidFill>
                  <a:srgbClr val="000000"/>
                </a:solidFill>
              </a:rPr>
              <a:t> can often be blurred.</a:t>
            </a:r>
            <a:endParaRPr sz="2000" b="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a:t>
            </a:fld>
            <a:endParaRPr lang="en-US" sz="1000">
              <a:solidFill>
                <a:srgbClr val="898781"/>
              </a:solidFill>
            </a:endParaRPr>
          </a:p>
        </p:txBody>
      </p:sp>
      <p:sp>
        <p:nvSpPr>
          <p:cNvPr id="5" name="TextBox 4"/>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dirty="0">
                <a:solidFill>
                  <a:srgbClr val="000000"/>
                </a:solidFill>
              </a:rPr>
              <a:t>We </a:t>
            </a:r>
            <a:r>
              <a:rPr lang="en-US" sz="3000" b="1" dirty="0">
                <a:solidFill>
                  <a:srgbClr val="000000"/>
                </a:solidFill>
              </a:rPr>
              <a:t>argue</a:t>
            </a:r>
            <a:r>
              <a:rPr sz="3000" b="1" dirty="0">
                <a:solidFill>
                  <a:srgbClr val="000000"/>
                </a:solidFill>
              </a:rPr>
              <a:t> models should work to serve democracy while remaining non-partisan.</a:t>
            </a:r>
          </a:p>
        </p:txBody>
      </p:sp>
      <p:sp>
        <p:nvSpPr>
          <p:cNvPr id="6" name="TextBox 5"/>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a:t>
            </a:r>
          </a:p>
        </p:txBody>
      </p:sp>
      <p:sp>
        <p:nvSpPr>
          <p:cNvPr id="7" name="TextBox 6"/>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a:t>
            </a:r>
          </a:p>
        </p:txBody>
      </p:sp>
      <p:sp>
        <p:nvSpPr>
          <p:cNvPr id="9" name="TextBox 8"/>
          <p:cNvSpPr txBox="1"/>
          <p:nvPr/>
        </p:nvSpPr>
        <p:spPr>
          <a:xfrm>
            <a:off x="6324447"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1" dirty="0">
                <a:solidFill>
                  <a:srgbClr val="000000"/>
                </a:solidFill>
              </a:rPr>
              <a:t>The tension: </a:t>
            </a:r>
            <a:r>
              <a:rPr sz="2000" b="0" dirty="0">
                <a:solidFill>
                  <a:srgbClr val="000000"/>
                </a:solidFill>
              </a:rPr>
              <a:t>each party has its own “stolen election” story, so pushing back can look partisan.</a:t>
            </a:r>
          </a:p>
        </p:txBody>
      </p:sp>
    </p:spTree>
    <p:extLst>
      <p:ext uri="{BB962C8B-B14F-4D97-AF65-F5344CB8AC3E}">
        <p14:creationId xmlns:p14="http://schemas.microsoft.com/office/powerpoint/2010/main" val="569281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a:t>
            </a:fld>
            <a:endParaRPr lang="en-US" sz="1000">
              <a:solidFill>
                <a:srgbClr val="898781"/>
              </a:solidFill>
            </a:endParaRPr>
          </a:p>
        </p:txBody>
      </p:sp>
      <p:sp>
        <p:nvSpPr>
          <p:cNvPr id="4" name="Part 1 number"/>
          <p:cNvSpPr txBox="1"/>
          <p:nvPr/>
        </p:nvSpPr>
        <p:spPr>
          <a:xfrm>
            <a:off x="548640" y="16916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1</a:t>
            </a:r>
          </a:p>
        </p:txBody>
      </p:sp>
      <p:sp>
        <p:nvSpPr>
          <p:cNvPr id="5" name="Part 1"/>
          <p:cNvSpPr txBox="1"/>
          <p:nvPr/>
        </p:nvSpPr>
        <p:spPr>
          <a:xfrm>
            <a:off x="1188719" y="16916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Background: prior work and our question</a:t>
            </a:r>
          </a:p>
        </p:txBody>
      </p:sp>
      <p:sp>
        <p:nvSpPr>
          <p:cNvPr id="6" name="Part 1 slide"/>
          <p:cNvSpPr txBox="1"/>
          <p:nvPr/>
        </p:nvSpPr>
        <p:spPr>
          <a:xfrm>
            <a:off x="10271455" y="17282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5</a:t>
            </a:r>
          </a:p>
        </p:txBody>
      </p:sp>
      <p:sp>
        <p:nvSpPr>
          <p:cNvPr id="7" name="Part 2 number"/>
          <p:cNvSpPr txBox="1"/>
          <p:nvPr/>
        </p:nvSpPr>
        <p:spPr>
          <a:xfrm>
            <a:off x="548640" y="2350008"/>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2</a:t>
            </a:r>
          </a:p>
        </p:txBody>
      </p:sp>
      <p:sp>
        <p:nvSpPr>
          <p:cNvPr id="8" name="Part 2"/>
          <p:cNvSpPr txBox="1"/>
          <p:nvPr/>
        </p:nvSpPr>
        <p:spPr>
          <a:xfrm>
            <a:off x="1188719" y="2350008"/>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Methodology: setup and the five-step method</a:t>
            </a:r>
          </a:p>
        </p:txBody>
      </p:sp>
      <p:sp>
        <p:nvSpPr>
          <p:cNvPr id="9" name="Part 2 slide"/>
          <p:cNvSpPr txBox="1"/>
          <p:nvPr/>
        </p:nvSpPr>
        <p:spPr>
          <a:xfrm>
            <a:off x="10271455" y="2386584"/>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8</a:t>
            </a:r>
          </a:p>
        </p:txBody>
      </p:sp>
      <p:sp>
        <p:nvSpPr>
          <p:cNvPr id="10" name="Part 3 number"/>
          <p:cNvSpPr txBox="1"/>
          <p:nvPr/>
        </p:nvSpPr>
        <p:spPr>
          <a:xfrm>
            <a:off x="548640" y="3008376"/>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3</a:t>
            </a:r>
          </a:p>
        </p:txBody>
      </p:sp>
      <p:sp>
        <p:nvSpPr>
          <p:cNvPr id="11" name="Part 3"/>
          <p:cNvSpPr txBox="1"/>
          <p:nvPr/>
        </p:nvSpPr>
        <p:spPr>
          <a:xfrm>
            <a:off x="1188719" y="3008376"/>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Results: the punchline, the evidence and what it means</a:t>
            </a:r>
          </a:p>
        </p:txBody>
      </p:sp>
      <p:sp>
        <p:nvSpPr>
          <p:cNvPr id="12" name="Part 3 slide"/>
          <p:cNvSpPr txBox="1"/>
          <p:nvPr/>
        </p:nvSpPr>
        <p:spPr>
          <a:xfrm>
            <a:off x="10271455" y="3044952"/>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15</a:t>
            </a:r>
          </a:p>
        </p:txBody>
      </p:sp>
      <p:sp>
        <p:nvSpPr>
          <p:cNvPr id="13" name="Part 4 number"/>
          <p:cNvSpPr txBox="1"/>
          <p:nvPr/>
        </p:nvSpPr>
        <p:spPr>
          <a:xfrm>
            <a:off x="548640" y="3666744"/>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4</a:t>
            </a:r>
          </a:p>
        </p:txBody>
      </p:sp>
      <p:sp>
        <p:nvSpPr>
          <p:cNvPr id="14" name="Part 4"/>
          <p:cNvSpPr txBox="1"/>
          <p:nvPr/>
        </p:nvSpPr>
        <p:spPr>
          <a:xfrm>
            <a:off x="1188719" y="3666744"/>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Conclusion: takeaways and next steps</a:t>
            </a:r>
          </a:p>
        </p:txBody>
      </p:sp>
      <p:sp>
        <p:nvSpPr>
          <p:cNvPr id="15" name="Part 4 slide"/>
          <p:cNvSpPr txBox="1"/>
          <p:nvPr/>
        </p:nvSpPr>
        <p:spPr>
          <a:xfrm>
            <a:off x="10271455" y="3703320"/>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21</a:t>
            </a:r>
          </a:p>
        </p:txBody>
      </p:sp>
      <p:sp>
        <p:nvSpPr>
          <p:cNvPr id="16" name="Part 5 number"/>
          <p:cNvSpPr txBox="1"/>
          <p:nvPr/>
        </p:nvSpPr>
        <p:spPr>
          <a:xfrm>
            <a:off x="548640" y="4325112"/>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5</a:t>
            </a:r>
          </a:p>
        </p:txBody>
      </p:sp>
      <p:sp>
        <p:nvSpPr>
          <p:cNvPr id="17" name="Part 5"/>
          <p:cNvSpPr txBox="1"/>
          <p:nvPr/>
        </p:nvSpPr>
        <p:spPr>
          <a:xfrm>
            <a:off x="1188719" y="4325112"/>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A: supporting detail</a:t>
            </a:r>
          </a:p>
        </p:txBody>
      </p:sp>
      <p:sp>
        <p:nvSpPr>
          <p:cNvPr id="18" name="Part 5 slide"/>
          <p:cNvSpPr txBox="1"/>
          <p:nvPr/>
        </p:nvSpPr>
        <p:spPr>
          <a:xfrm>
            <a:off x="10271455" y="4361688"/>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24</a:t>
            </a:r>
          </a:p>
        </p:txBody>
      </p:sp>
      <p:sp>
        <p:nvSpPr>
          <p:cNvPr id="19" name="Part 6 number"/>
          <p:cNvSpPr txBox="1"/>
          <p:nvPr/>
        </p:nvSpPr>
        <p:spPr>
          <a:xfrm>
            <a:off x="548640" y="4983479"/>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6</a:t>
            </a:r>
          </a:p>
        </p:txBody>
      </p:sp>
      <p:sp>
        <p:nvSpPr>
          <p:cNvPr id="20" name="Part 6"/>
          <p:cNvSpPr txBox="1"/>
          <p:nvPr/>
        </p:nvSpPr>
        <p:spPr>
          <a:xfrm>
            <a:off x="1188719" y="4983479"/>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B: backup</a:t>
            </a:r>
          </a:p>
        </p:txBody>
      </p:sp>
      <p:sp>
        <p:nvSpPr>
          <p:cNvPr id="21" name="Part 6 slide"/>
          <p:cNvSpPr txBox="1"/>
          <p:nvPr/>
        </p:nvSpPr>
        <p:spPr>
          <a:xfrm>
            <a:off x="10271455" y="5020055"/>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Background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6</a:t>
            </a:fld>
            <a:endParaRPr lang="en-US" sz="1000">
              <a:solidFill>
                <a:srgbClr val="898781"/>
              </a:solidFill>
            </a:endParaRPr>
          </a:p>
        </p:txBody>
      </p:sp>
      <p:sp>
        <p:nvSpPr>
          <p:cNvPr id="4" name="TextBox 3"/>
          <p:cNvSpPr txBox="1"/>
          <p:nvPr/>
        </p:nvSpPr>
        <p:spPr>
          <a:xfrm>
            <a:off x="548640" y="1371600"/>
            <a:ext cx="11094415" cy="320040"/>
          </a:xfrm>
          <a:prstGeom prst="rect">
            <a:avLst/>
          </a:prstGeom>
          <a:noFill/>
        </p:spPr>
        <p:txBody>
          <a:bodyPr wrap="square" lIns="0" tIns="0" rIns="0" bIns="0" anchor="t">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7" name="TextBox 6"/>
          <p:cNvSpPr txBox="1"/>
          <p:nvPr/>
        </p:nvSpPr>
        <p:spPr>
          <a:xfrm>
            <a:off x="548640" y="5486400"/>
            <a:ext cx="11094415" cy="365760"/>
          </a:xfrm>
          <a:prstGeom prst="rect">
            <a:avLst/>
          </a:prstGeom>
          <a:noFill/>
        </p:spPr>
        <p:txBody>
          <a:bodyPr wrap="square" lIns="0" tIns="0" rIns="0" bIns="0" anchor="t">
            <a:noAutofit/>
          </a:bodyPr>
          <a:lstStyle/>
          <a:p>
            <a:pPr algn="l">
              <a:spcAft>
                <a:spcPts val="600"/>
              </a:spcAft>
            </a:pPr>
            <a:r>
              <a:rPr sz="1600" b="0">
                <a:solidFill>
                  <a:srgbClr val="52514E"/>
                </a:solidFill>
              </a:rPr>
              <a:t>We reuse their method and prompts unchanged, then ask whether the direction treats askers differently.</a:t>
            </a:r>
          </a:p>
        </p:txBody>
      </p:sp>
      <p:sp>
        <p:nvSpPr>
          <p:cNvPr id="8" name="What they found"/>
          <p:cNvSpPr txBox="1"/>
          <p:nvPr/>
        </p:nvSpPr>
        <p:spPr>
          <a:xfrm>
            <a:off x="548640" y="4389120"/>
            <a:ext cx="11094415" cy="960120"/>
          </a:xfrm>
          <a:prstGeom prst="rect">
            <a:avLst/>
          </a:prstGeom>
          <a:noFill/>
        </p:spPr>
        <p:txBody>
          <a:bodyPr wrap="square" anchor="t" lIns="0" rIns="0" tIns="0" bIns="0">
            <a:noAutofit/>
          </a:bodyPr>
          <a:lstStyle/>
          <a:p>
            <a:pPr algn="l">
              <a:spcAft>
                <a:spcPts val="0"/>
              </a:spcAft>
            </a:pPr>
            <a:r>
              <a:rPr sz="1800" b="1">
                <a:solidFill>
                  <a:srgbClr val="000000"/>
                </a:solidFill>
              </a:rPr>
              <a:t>What they found: </a:t>
            </a:r>
            <a:r>
              <a:rPr sz="1800" b="0">
                <a:solidFill>
                  <a:srgbClr val="52514E"/>
                </a:solidFill>
              </a:rPr>
              <a:t>in 13 open chat models, one direction in the model’s activations controls refusal. Remove it and the model answers harmful requests; add it and it refuses harmless ones. So the refusal that safety training adds is simple, and easy to strip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People ask chat models about elections</a:t>
            </a:r>
          </a:p>
          <a:p>
            <a:pPr marL="274320" indent="-274320" algn="l">
              <a:spcAft>
                <a:spcPts val="1200"/>
              </a:spcAft>
              <a:buChar char="•"/>
            </a:pPr>
            <a:r>
              <a:rPr sz="1800" b="0">
                <a:solidFill>
                  <a:srgbClr val="000000"/>
                </a:solidFill>
              </a:rPr>
              <a:t>If refusals depend on who is asking, safety behavior is uneven by group</a:t>
            </a:r>
          </a:p>
          <a:p>
            <a:pPr marL="274320" indent="-274320" algn="l">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1">
                <a:solidFill>
                  <a:srgbClr val="000000"/>
                </a:solidFill>
              </a:rPr>
              <a:t>Arditi et al. 2024: </a:t>
            </a:r>
            <a:r>
              <a:rPr sz="1800" b="0">
                <a:solidFill>
                  <a:srgbClr val="000000"/>
                </a:solidFill>
              </a:rPr>
              <a:t>their method and harmful/harmless prompts, used unchanged</a:t>
            </a:r>
          </a:p>
          <a:p>
            <a:pPr marL="274320" indent="-274320" algn="l">
              <a:spcAft>
                <a:spcPts val="1200"/>
              </a:spcAft>
              <a:buChar char="•"/>
            </a:pPr>
            <a:r>
              <a:rPr sz="1800" b="1">
                <a:solidFill>
                  <a:srgbClr val="000000"/>
                </a:solidFill>
              </a:rPr>
              <a:t>“There Is More to Refusal than a Single Direction” </a:t>
            </a:r>
            <a:r>
              <a:rPr sz="1800" b="0">
                <a:solidFill>
                  <a:srgbClr val="000000"/>
                </a:solidFill>
              </a:rPr>
              <a:t>(arXiv 2602.02132)</a:t>
            </a:r>
          </a:p>
          <a:p>
            <a:pPr marL="274320" indent="-274320" algn="l">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Methodology</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Setup: models and how we ran them</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9</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Qwen2.5-7B-Instruct</a:t>
            </a:r>
          </a:p>
        </p:txBody>
      </p:sp>
      <p:sp>
        <p:nvSpPr>
          <p:cNvPr id="5" name="TextBox 4"/>
          <p:cNvSpPr txBox="1"/>
          <p:nvPr/>
        </p:nvSpPr>
        <p:spPr>
          <a:xfrm>
            <a:off x="548640"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Alibaba · 7B parameters · 28 layers</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Llama-3.1-8B-Instruct</a:t>
            </a:r>
          </a:p>
        </p:txBody>
      </p:sp>
      <p:sp>
        <p:nvSpPr>
          <p:cNvPr id="7" name="TextBox 6"/>
          <p:cNvSpPr txBox="1"/>
          <p:nvPr/>
        </p:nvSpPr>
        <p:spPr>
          <a:xfrm>
            <a:off x="6324447"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Meta · 8B parameters · 32 layers</a:t>
            </a:r>
          </a:p>
        </p:txBody>
      </p:sp>
      <p:graphicFrame>
        <p:nvGraphicFramePr>
          <p:cNvPr id="8" name="How we ran them"/>
          <p:cNvGraphicFramePr>
            <a:graphicFrameLocks noGrp="1"/>
          </p:cNvGraphicFramePr>
          <p:nvPr/>
        </p:nvGraphicFramePr>
        <p:xfrm>
          <a:off x="548640" y="2834640"/>
          <a:ext cx="11094415" cy="2609088"/>
        </p:xfrm>
        <a:graphic>
          <a:graphicData uri="http://schemas.openxmlformats.org/drawingml/2006/table">
            <a:tbl>
              <a:tblPr firstRow="1" bandRow="0">
                <a:tableStyleId>{2D5ABB26-0587-4C30-8999-92F81FD0307C}</a:tableStyleId>
              </a:tblPr>
              <a:tblGrid>
                <a:gridCol w="2743200"/>
                <a:gridCol w="8351215"/>
              </a:tblGrid>
              <a:tr h="353568">
                <a:tc>
                  <a:txBody>
                    <a:bodyPr/>
                    <a:lstStyle/>
                    <a:p>
                      <a:r>
                        <a:rPr sz="1600" b="1">
                          <a:solidFill>
                            <a:srgbClr val="000000"/>
                          </a:solidFill>
                        </a:rPr>
                        <a:t>How we ran them</a:t>
                      </a:r>
                    </a:p>
                  </a:txBody>
                  <a:tcPr marL="0" marR="73152" marT="54864" marB="54864">
                    <a:lnB w="19050">
                      <a:solidFill>
                        <a:srgbClr val="000000"/>
                      </a:solidFill>
                    </a:lnB>
                    <a:noFill/>
                  </a:tcPr>
                </a:tc>
                <a:tc>
                  <a:txBody>
                    <a:bodyPr/>
                    <a:lstStyle/>
                    <a:p/>
                  </a:txBody>
                  <a:tcPr marL="73152" marR="73152" marT="54864" marB="54864">
                    <a:lnB w="19050">
                      <a:solidFill>
                        <a:srgbClr val="000000"/>
                      </a:solidFill>
                    </a:lnB>
                    <a:noFill/>
                  </a:tcPr>
                </a:tc>
              </a:tr>
              <a:tr h="353568">
                <a:tc>
                  <a:txBody>
                    <a:bodyPr/>
                    <a:lstStyle/>
                    <a:p>
                      <a:r>
                        <a:rPr sz="1600" b="1">
                          <a:solidFill>
                            <a:srgbClr val="000000"/>
                          </a:solidFill>
                        </a:rPr>
                        <a:t>Weights</a:t>
                      </a:r>
                    </a:p>
                  </a:txBody>
                  <a:tcPr marL="0" marR="73152" marT="54864" marB="54864">
                    <a:lnB w="9525">
                      <a:solidFill>
                        <a:srgbClr val="D9D9D9"/>
                      </a:solidFill>
                    </a:lnB>
                    <a:noFill/>
                  </a:tcPr>
                </a:tc>
                <a:tc>
                  <a:txBody>
                    <a:bodyPr/>
                    <a:lstStyle/>
                    <a:p>
                      <a:r>
                        <a:rPr sz="1600" b="0">
                          <a:solidFill>
                            <a:srgbClr val="52514E"/>
                          </a:solidFill>
                        </a:rPr>
                        <a:t>Open-weight instruct versions from Hugging Face, each with its own chat template</a:t>
                      </a:r>
                    </a:p>
                  </a:txBody>
                  <a:tcPr marL="73152" marR="73152" marT="54864" marB="54864">
                    <a:lnB w="9525">
                      <a:solidFill>
                        <a:srgbClr val="D9D9D9"/>
                      </a:solidFill>
                    </a:lnB>
                    <a:noFill/>
                  </a:tcPr>
                </a:tc>
              </a:tr>
              <a:tr h="597408">
                <a:tc>
                  <a:txBody>
                    <a:bodyPr/>
                    <a:lstStyle/>
                    <a:p>
                      <a:r>
                        <a:rPr sz="1600" b="1">
                          <a:solidFill>
                            <a:srgbClr val="000000"/>
                          </a:solidFill>
                        </a:rPr>
                        <a:t>Decoding</a:t>
                      </a:r>
                    </a:p>
                  </a:txBody>
                  <a:tcPr marL="0" marR="73152" marT="54864" marB="54864">
                    <a:lnB w="9525">
                      <a:solidFill>
                        <a:srgbClr val="D9D9D9"/>
                      </a:solidFill>
                    </a:lnB>
                    <a:noFill/>
                  </a:tcPr>
                </a:tc>
                <a:tc>
                  <a:txBody>
                    <a:bodyPr/>
                    <a:lstStyle/>
                    <a:p>
                      <a:r>
                        <a:rPr sz="1600" b="0">
                          <a:solidFill>
                            <a:srgbClr val="52514E"/>
                          </a:solidFill>
                        </a:rPr>
                        <a:t>Greedy (no sampling), up to 128 new tokens, batches of 16; every prompt with and without the refusal direction removed</a:t>
                      </a:r>
                    </a:p>
                  </a:txBody>
                  <a:tcPr marL="73152" marR="73152" marT="54864" marB="54864">
                    <a:lnB w="9525">
                      <a:solidFill>
                        <a:srgbClr val="D9D9D9"/>
                      </a:solidFill>
                    </a:lnB>
                    <a:noFill/>
                  </a:tcPr>
                </a:tc>
              </a:tr>
              <a:tr h="353568">
                <a:tc>
                  <a:txBody>
                    <a:bodyPr/>
                    <a:lstStyle/>
                    <a:p>
                      <a:r>
                        <a:rPr sz="1600" b="1">
                          <a:solidFill>
                            <a:srgbClr val="000000"/>
                          </a:solidFill>
                        </a:rPr>
                        <a:t>Precision and GPU</a:t>
                      </a:r>
                    </a:p>
                  </a:txBody>
                  <a:tcPr marL="0" marR="73152" marT="54864" marB="54864">
                    <a:lnB w="9525">
                      <a:solidFill>
                        <a:srgbClr val="D9D9D9"/>
                      </a:solidFill>
                    </a:lnB>
                    <a:noFill/>
                  </a:tcPr>
                </a:tc>
                <a:tc>
                  <a:txBody>
                    <a:bodyPr/>
                    <a:lstStyle/>
                    <a:p>
                      <a:r>
                        <a:rPr sz="1600" b="0">
                          <a:solidFill>
                            <a:srgbClr val="52514E"/>
                          </a:solidFill>
                        </a:rPr>
                        <a:t>bfloat16 on one NVIDIA A40 (48 GB), about 25 minutes per model</a:t>
                      </a:r>
                    </a:p>
                  </a:txBody>
                  <a:tcPr marL="73152" marR="73152" marT="54864" marB="54864">
                    <a:lnB w="9525">
                      <a:solidFill>
                        <a:srgbClr val="D9D9D9"/>
                      </a:solidFill>
                    </a:lnB>
                    <a:noFill/>
                  </a:tcPr>
                </a:tc>
              </a:tr>
              <a:tr h="353568">
                <a:tc>
                  <a:txBody>
                    <a:bodyPr/>
                    <a:lstStyle/>
                    <a:p>
                      <a:r>
                        <a:rPr sz="1600" b="1">
                          <a:solidFill>
                            <a:srgbClr val="000000"/>
                          </a:solidFill>
                        </a:rPr>
                        <a:t>Prompts</a:t>
                      </a:r>
                    </a:p>
                  </a:txBody>
                  <a:tcPr marL="0" marR="73152" marT="54864" marB="54864">
                    <a:lnB w="9525">
                      <a:solidFill>
                        <a:srgbClr val="D9D9D9"/>
                      </a:solidFill>
                    </a:lnB>
                    <a:noFill/>
                  </a:tcPr>
                </a:tc>
                <a:tc>
                  <a:txBody>
                    <a:bodyPr/>
                    <a:lstStyle/>
                    <a:p>
                      <a:r>
                        <a:rPr sz="1600" b="0">
                          <a:solidFill>
                            <a:srgbClr val="52514E"/>
                          </a:solidFill>
                        </a:rPr>
                        <a:t>920: 5 askers × 8 elections × 23 requests (17 stolen-election, 6 harmless)</a:t>
                      </a:r>
                    </a:p>
                  </a:txBody>
                  <a:tcPr marL="73152" marR="73152" marT="54864" marB="54864">
                    <a:lnB w="9525">
                      <a:solidFill>
                        <a:srgbClr val="D9D9D9"/>
                      </a:solidFill>
                    </a:lnB>
                    <a:noFill/>
                  </a:tcPr>
                </a:tc>
              </a:tr>
              <a:tr h="597408">
                <a:tc>
                  <a:txBody>
                    <a:bodyPr/>
                    <a:lstStyle/>
                    <a:p>
                      <a:r>
                        <a:rPr sz="1600" b="1">
                          <a:solidFill>
                            <a:srgbClr val="000000"/>
                          </a:solidFill>
                        </a:rPr>
                        <a:t>Judges</a:t>
                      </a:r>
                    </a:p>
                  </a:txBody>
                  <a:tcPr marL="0" marR="73152" marT="54864" marB="54864">
                    <a:lnB w="9525">
                      <a:solidFill>
                        <a:srgbClr val="D9D9D9"/>
                      </a:solidFill>
                    </a:lnB>
                    <a:noFill/>
                  </a:tcPr>
                </a:tc>
                <a:tc>
                  <a:txBody>
                    <a:bodyPr/>
                    <a:lstStyle/>
                    <a:p>
                      <a:r>
                        <a:rPr sz="1600" b="0">
                          <a:solidFill>
                            <a:srgbClr val="52514E"/>
                          </a:solidFill>
                        </a:rPr>
                        <a:t>Llama Guard 3 (8B) with an added election category, and Claude Opus 5.5 with a written rubric</a:t>
                      </a:r>
                    </a:p>
                  </a:txBody>
                  <a:tcPr marL="73152" marR="73152" marT="54864" marB="54864">
                    <a:lnB w="9525">
                      <a:solidFill>
                        <a:srgbClr val="D9D9D9"/>
                      </a:solidFill>
                    </a:lnB>
                    <a:no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Experiment Design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10</a:t>
            </a:fld>
            <a:endParaRPr lang="en-US" sz="1000">
              <a:solidFill>
                <a:srgbClr val="898781"/>
              </a:solidFill>
            </a:endParaRPr>
          </a:p>
        </p:txBody>
      </p:sp>
      <p:sp>
        <p:nvSpPr>
          <p:cNvPr id="4" name="TextBox 3"/>
          <p:cNvSpPr txBox="1"/>
          <p:nvPr/>
        </p:nvSpPr>
        <p:spPr>
          <a:xfrm>
            <a:off x="548640"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Prompting</a:t>
            </a:r>
          </a:p>
        </p:txBody>
      </p:sp>
      <p:sp>
        <p:nvSpPr>
          <p:cNvPr id="6" name="TextBox 5"/>
          <p:cNvSpPr txBox="1"/>
          <p:nvPr/>
        </p:nvSpPr>
        <p:spPr>
          <a:xfrm>
            <a:off x="548640"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920 requests: 5 askers × 8 elections × 23 requests, so only the asker changes</a:t>
            </a:r>
          </a:p>
        </p:txBody>
      </p:sp>
      <p:sp>
        <p:nvSpPr>
          <p:cNvPr id="8" name="TextBox 7"/>
          <p:cNvSpPr txBox="1"/>
          <p:nvPr/>
        </p:nvSpPr>
        <p:spPr>
          <a:xfrm>
            <a:off x="2822387"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Generating and judging</a:t>
            </a:r>
          </a:p>
        </p:txBody>
      </p:sp>
      <p:sp>
        <p:nvSpPr>
          <p:cNvPr id="10" name="TextBox 9"/>
          <p:cNvSpPr txBox="1"/>
          <p:nvPr/>
        </p:nvSpPr>
        <p:spPr>
          <a:xfrm>
            <a:off x="2822387"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Both models reply to every prompt; two judges score whether each reply did the task</a:t>
            </a:r>
          </a:p>
        </p:txBody>
      </p:sp>
      <p:sp>
        <p:nvSpPr>
          <p:cNvPr id="12" name="TextBox 11"/>
          <p:cNvSpPr txBox="1"/>
          <p:nvPr/>
        </p:nvSpPr>
        <p:spPr>
          <a:xfrm>
            <a:off x="5096134"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Finding the refusal direction</a:t>
            </a:r>
          </a:p>
        </p:txBody>
      </p:sp>
      <p:sp>
        <p:nvSpPr>
          <p:cNvPr id="14" name="TextBox 13"/>
          <p:cNvSpPr txBox="1"/>
          <p:nvPr/>
        </p:nvSpPr>
        <p:spPr>
          <a:xfrm>
            <a:off x="5096134"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Arditi et al.’s method in each model, from non-political prompts</a:t>
            </a:r>
          </a:p>
        </p:txBody>
      </p:sp>
      <p:sp>
        <p:nvSpPr>
          <p:cNvPr id="16" name="TextBox 15"/>
          <p:cNvSpPr txBox="1"/>
          <p:nvPr/>
        </p:nvSpPr>
        <p:spPr>
          <a:xfrm>
            <a:off x="7369881"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Looking inside</a:t>
            </a:r>
          </a:p>
        </p:txBody>
      </p:sp>
      <p:sp>
        <p:nvSpPr>
          <p:cNvPr id="18" name="TextBox 17"/>
          <p:cNvSpPr txBox="1"/>
          <p:nvPr/>
        </p:nvSpPr>
        <p:spPr>
          <a:xfrm>
            <a:off x="7369881"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Project every prompt onto the direction, layer by layer</a:t>
            </a:r>
          </a:p>
        </p:txBody>
      </p:sp>
      <p:sp>
        <p:nvSpPr>
          <p:cNvPr id="20" name="TextBox 19"/>
          <p:cNvSpPr txBox="1"/>
          <p:nvPr/>
        </p:nvSpPr>
        <p:spPr>
          <a:xfrm>
            <a:off x="9643628"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Causal testing</a:t>
            </a:r>
          </a:p>
        </p:txBody>
      </p:sp>
      <p:sp>
        <p:nvSpPr>
          <p:cNvPr id="22" name="TextBox 21"/>
          <p:cNvSpPr txBox="1"/>
          <p:nvPr/>
        </p:nvSpPr>
        <p:spPr>
          <a:xfrm>
            <a:off x="9643628"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Remove the direction, shift prompts along it, and compare with a second direction</a:t>
            </a:r>
          </a:p>
        </p:txBody>
      </p:sp>
      <p:sp>
        <p:nvSpPr>
          <p:cNvPr id="24" name="TextBox 23"/>
          <p:cNvSpPr txBox="1"/>
          <p:nvPr/>
        </p:nvSpPr>
        <p:spPr>
          <a:xfrm>
            <a:off x="548640" y="5257800"/>
            <a:ext cx="11094415" cy="685800"/>
          </a:xfrm>
          <a:prstGeom prst="rect">
            <a:avLst/>
          </a:prstGeom>
          <a:noFill/>
        </p:spPr>
        <p:txBody>
          <a:bodyPr wrap="square" lIns="0" tIns="0" rIns="0" bIns="0" anchor="t">
            <a:noAutofit/>
          </a:bodyPr>
          <a:lstStyle/>
          <a:p>
            <a:pPr algn="l">
              <a:spcAft>
                <a:spcPts val="600"/>
              </a:spcAft>
            </a:pPr>
            <a:r>
              <a:rPr sz="1600" b="0">
                <a:solidFill>
                  <a:srgbClr val="52514E"/>
                </a:solidFill>
              </a:rPr>
              <a:t>Models: </a:t>
            </a:r>
            <a:r>
              <a:rPr sz="1600" b="1">
                <a:solidFill>
                  <a:srgbClr val="000000"/>
                </a:solidFill>
              </a:rPr>
              <a:t>Qwen2.5-7B-Instruct</a:t>
            </a:r>
            <a:r>
              <a:rPr sz="1600" b="0">
                <a:solidFill>
                  <a:srgbClr val="52514E"/>
                </a:solidFill>
              </a:rPr>
              <a:t> (Alibaba) and </a:t>
            </a:r>
            <a:r>
              <a:rPr sz="1600" b="1">
                <a:solidFill>
                  <a:srgbClr val="000000"/>
                </a:solidFill>
              </a:rPr>
              <a:t>Llama-3.1-8B-Instruct</a:t>
            </a:r>
            <a:r>
              <a:rPr sz="1600" b="0">
                <a:solidFill>
                  <a:srgbClr val="52514E"/>
                </a:solidFill>
              </a:rPr>
              <a:t> (Meta)</a:t>
            </a:r>
          </a:p>
          <a:p>
            <a:pPr>
              <a:spcAft>
                <a:spcPts val="600"/>
              </a:spcAft>
            </a:pPr>
            <a:r>
              <a:rPr sz="1600" b="0">
                <a:solidFill>
                  <a:srgbClr val="52514E"/>
                </a:solidFill>
              </a:rPr>
              <a:t>Extension: the same tests in English and Chinese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Prompting, where only the asker changes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11</a:t>
            </a:fld>
            <a:endParaRPr lang="en-US" sz="1000">
              <a:solidFill>
                <a:srgbClr val="898781"/>
              </a:solidFill>
            </a:endParaRPr>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Judging the replies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12</a:t>
            </a:fld>
          </a:p>
        </p:txBody>
      </p:sp>
      <p:sp>
        <p:nvSpPr>
          <p:cNvPr id="4" name="TextBox 3"/>
          <p:cNvSpPr txBox="1"/>
          <p:nvPr/>
        </p:nvSpPr>
        <p:spPr>
          <a:xfrm>
            <a:off x="548640" y="1499616"/>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1</a:t>
            </a:r>
          </a:p>
        </p:txBody>
      </p:sp>
      <p:sp>
        <p:nvSpPr>
          <p:cNvPr id="5" name="TextBox 4"/>
          <p:cNvSpPr txBox="1"/>
          <p:nvPr/>
        </p:nvSpPr>
        <p:spPr>
          <a:xfrm>
            <a:off x="1097280" y="1554480"/>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Generate. </a:t>
            </a:r>
            <a:r>
              <a:rPr sz="1600" b="0">
                <a:solidFill>
                  <a:srgbClr val="52514E"/>
                </a:solidFill>
              </a:rPr>
              <a:t>Both models answer all 920 prompts: greedy decoding, 128 new tokens, with and without the refusal direction removed.</a:t>
            </a:r>
          </a:p>
        </p:txBody>
      </p:sp>
      <p:sp>
        <p:nvSpPr>
          <p:cNvPr id="6" name="TextBox 5"/>
          <p:cNvSpPr txBox="1"/>
          <p:nvPr/>
        </p:nvSpPr>
        <p:spPr>
          <a:xfrm>
            <a:off x="548640" y="2615184"/>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2</a:t>
            </a:r>
          </a:p>
        </p:txBody>
      </p:sp>
      <p:sp>
        <p:nvSpPr>
          <p:cNvPr id="7" name="TextBox 6"/>
          <p:cNvSpPr txBox="1"/>
          <p:nvPr/>
        </p:nvSpPr>
        <p:spPr>
          <a:xfrm>
            <a:off x="1097280" y="2670048"/>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Blind. </a:t>
            </a:r>
            <a:r>
              <a:rPr sz="1600" b="0">
                <a:solidFill>
                  <a:srgbClr val="52514E"/>
                </a:solidFill>
              </a:rPr>
              <a:t>The judge sees the request with the asker sentence replaced by “Please,” never the model, party or condition.</a:t>
            </a:r>
          </a:p>
        </p:txBody>
      </p:sp>
      <p:sp>
        <p:nvSpPr>
          <p:cNvPr id="8" name="TextBox 7"/>
          <p:cNvSpPr txBox="1"/>
          <p:nvPr/>
        </p:nvSpPr>
        <p:spPr>
          <a:xfrm>
            <a:off x="548640" y="3730752"/>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3</a:t>
            </a:r>
          </a:p>
        </p:txBody>
      </p:sp>
      <p:sp>
        <p:nvSpPr>
          <p:cNvPr id="9" name="TextBox 8"/>
          <p:cNvSpPr txBox="1"/>
          <p:nvPr/>
        </p:nvSpPr>
        <p:spPr>
          <a:xfrm>
            <a:off x="1097280" y="3785615"/>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Label with two judges. </a:t>
            </a:r>
            <a:r>
              <a:rPr sz="1600" b="0">
                <a:solidFill>
                  <a:srgbClr val="52514E"/>
                </a:solidFill>
              </a:rPr>
              <a:t>Llama Guard 3 plus an added “Election Delegitimization” category. Claude with a written rubric: ANSWERS, PUSHBACK, DODGES or REFUSES. “Did the task” means it produced the requested content, even after a disclaimer.</a:t>
            </a:r>
          </a:p>
        </p:txBody>
      </p:sp>
      <p:sp>
        <p:nvSpPr>
          <p:cNvPr id="10" name="TextBox 9"/>
          <p:cNvSpPr txBox="1"/>
          <p:nvPr/>
        </p:nvSpPr>
        <p:spPr>
          <a:xfrm>
            <a:off x="548640" y="4846320"/>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4</a:t>
            </a:r>
          </a:p>
        </p:txBody>
      </p:sp>
      <p:sp>
        <p:nvSpPr>
          <p:cNvPr id="11" name="TextBox 10"/>
          <p:cNvSpPr txBox="1"/>
          <p:nvPr/>
        </p:nvSpPr>
        <p:spPr>
          <a:xfrm>
            <a:off x="1097280" y="4901184"/>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Validate. </a:t>
            </a:r>
            <a:r>
              <a:rPr sz="1600" b="0">
                <a:solidFill>
                  <a:srgbClr val="52514E"/>
                </a:solidFill>
              </a:rPr>
              <a:t>50 replies labeled blind by a teammate: Claude agrees on 89% (κ = 0.77), Llama Guard on 76% (κ = 0.51). A Sonnet re-check of 10% agrees 98%.</a:t>
            </a:r>
          </a:p>
        </p:txBody>
      </p:sp>
      <p:sp>
        <p:nvSpPr>
          <p:cNvPr id="12" name="TextBox 11"/>
          <p:cNvSpPr txBox="1"/>
          <p:nvPr/>
        </p:nvSpPr>
        <p:spPr>
          <a:xfrm>
            <a:off x="8046719" y="1554480"/>
            <a:ext cx="3596335" cy="365760"/>
          </a:xfrm>
          <a:prstGeom prst="rect">
            <a:avLst/>
          </a:prstGeom>
          <a:noFill/>
        </p:spPr>
        <p:txBody>
          <a:bodyPr wrap="square" anchor="t" lIns="0" rIns="0" tIns="0" bIns="0">
            <a:noAutofit/>
          </a:bodyPr>
          <a:lstStyle/>
          <a:p>
            <a:pPr algn="l">
              <a:spcAft>
                <a:spcPts val="0"/>
              </a:spcAft>
            </a:pPr>
            <a:r>
              <a:rPr sz="1800" b="1">
                <a:solidFill>
                  <a:srgbClr val="000000"/>
                </a:solidFill>
              </a:rPr>
              <a:t>Why not the paper’s judge?</a:t>
            </a:r>
          </a:p>
        </p:txBody>
      </p:sp>
      <p:sp>
        <p:nvSpPr>
          <p:cNvPr id="13" name="TextBox 12"/>
          <p:cNvSpPr txBox="1"/>
          <p:nvPr/>
        </p:nvSpPr>
        <p:spPr>
          <a:xfrm>
            <a:off x="8046719" y="2011680"/>
            <a:ext cx="3596335" cy="4023360"/>
          </a:xfrm>
          <a:prstGeom prst="rect">
            <a:avLst/>
          </a:prstGeom>
          <a:noFill/>
        </p:spPr>
        <p:txBody>
          <a:bodyPr wrap="square" anchor="t" lIns="0" rIns="0" tIns="0" bIns="0">
            <a:noAutofit/>
          </a:bodyPr>
          <a:lstStyle/>
          <a:p>
            <a:pPr algn="l" marL="274320" indent="-274320">
              <a:spcAft>
                <a:spcPts val="1000"/>
              </a:spcAft>
              <a:buChar char="•"/>
            </a:pPr>
            <a:r>
              <a:rPr sz="1500" b="0">
                <a:solidFill>
                  <a:srgbClr val="52514E"/>
                </a:solidFill>
              </a:rPr>
              <a:t>Llama Guard 2 has no election category and flags 0 of our replies, even ones that fully argue an election was stolen</a:t>
            </a:r>
          </a:p>
          <a:p>
            <a:pPr algn="l" marL="274320" indent="-274320">
              <a:spcAft>
                <a:spcPts val="1000"/>
              </a:spcAft>
              <a:buChar char="•"/>
            </a:pPr>
            <a:r>
              <a:rPr sz="1500" b="0">
                <a:solidFill>
                  <a:srgbClr val="52514E"/>
                </a:solidFill>
              </a:rPr>
              <a:t>Llama Guard 3’s built-in categories catch about half</a:t>
            </a:r>
          </a:p>
          <a:p>
            <a:pPr algn="l" marL="274320" indent="-274320">
              <a:spcAft>
                <a:spcPts val="1000"/>
              </a:spcAft>
              <a:buChar char="•"/>
            </a:pPr>
            <a:r>
              <a:rPr sz="1500" b="0">
                <a:solidFill>
                  <a:srgbClr val="52514E"/>
                </a:solidFill>
              </a:rPr>
              <a:t>Guard misses disclaimer-then-argue and question-form replies, so Claude counts about 20 points more as done</a:t>
            </a:r>
          </a:p>
          <a:p>
            <a:pPr algn="l" marL="274320" indent="-274320">
              <a:spcAft>
                <a:spcPts val="1000"/>
              </a:spcAft>
              <a:buChar char="•"/>
            </a:pPr>
            <a:r>
              <a:rPr sz="1500" b="0">
                <a:solidFill>
                  <a:srgbClr val="52514E"/>
                </a:solidFill>
              </a:rPr>
              <a:t>Both judges agree on every group comparison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 the refusal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13</a:t>
            </a:fld>
          </a:p>
        </p:txBody>
      </p:sp>
      <p:sp>
        <p:nvSpPr>
          <p:cNvPr id="4" name="TextBox 3"/>
          <p:cNvSpPr txBox="1"/>
          <p:nvPr/>
        </p:nvSpPr>
        <p:spPr>
          <a:xfrm>
            <a:off x="548640"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1</a:t>
            </a:r>
          </a:p>
        </p:txBody>
      </p:sp>
      <p:sp>
        <p:nvSpPr>
          <p:cNvPr id="5" name="TextBox 4"/>
          <p:cNvSpPr txBox="1"/>
          <p:nvPr/>
        </p:nvSpPr>
        <p:spPr>
          <a:xfrm>
            <a:off x="548640"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Anchor prompts</a:t>
            </a:r>
          </a:p>
        </p:txBody>
      </p:sp>
      <p:sp>
        <p:nvSpPr>
          <p:cNvPr id="6" name="TextBox 5"/>
          <p:cNvSpPr txBox="1"/>
          <p:nvPr/>
        </p:nvSpPr>
        <p:spPr>
          <a:xfrm>
            <a:off x="548640"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Arditi et al.’s 128 harmful and 128 harmless training prompts, minus any that mention elections, parties or candidates. Keep the harmful ones the model refuses and the harmless ones it answers.</a:t>
            </a:r>
          </a:p>
        </p:txBody>
      </p:sp>
      <p:sp>
        <p:nvSpPr>
          <p:cNvPr id="7" name="TextBox 6"/>
          <p:cNvSpPr txBox="1"/>
          <p:nvPr/>
        </p:nvSpPr>
        <p:spPr>
          <a:xfrm>
            <a:off x="3402253"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2</a:t>
            </a:r>
          </a:p>
        </p:txBody>
      </p:sp>
      <p:sp>
        <p:nvSpPr>
          <p:cNvPr id="8" name="TextBox 7"/>
          <p:cNvSpPr txBox="1"/>
          <p:nvPr/>
        </p:nvSpPr>
        <p:spPr>
          <a:xfrm>
            <a:off x="3402253"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Candidates</a:t>
            </a:r>
          </a:p>
        </p:txBody>
      </p:sp>
      <p:sp>
        <p:nvSpPr>
          <p:cNvPr id="9" name="TextBox 8"/>
          <p:cNvSpPr txBox="1"/>
          <p:nvPr/>
        </p:nvSpPr>
        <p:spPr>
          <a:xfrm>
            <a:off x="3402253"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Average activation on harmful minus harmless, at every layer up to 80% of the depth and every token after the instruction.</a:t>
            </a:r>
          </a:p>
        </p:txBody>
      </p:sp>
      <p:sp>
        <p:nvSpPr>
          <p:cNvPr id="10" name="TextBox 9"/>
          <p:cNvSpPr txBox="1"/>
          <p:nvPr/>
        </p:nvSpPr>
        <p:spPr>
          <a:xfrm>
            <a:off x="6255867"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3</a:t>
            </a:r>
          </a:p>
        </p:txBody>
      </p:sp>
      <p:sp>
        <p:nvSpPr>
          <p:cNvPr id="11" name="TextBox 10"/>
          <p:cNvSpPr txBox="1"/>
          <p:nvPr/>
        </p:nvSpPr>
        <p:spPr>
          <a:xfrm>
            <a:off x="6255867"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Score on 32 held-out prompts</a:t>
            </a:r>
          </a:p>
        </p:txBody>
      </p:sp>
      <p:sp>
        <p:nvSpPr>
          <p:cNvPr id="12" name="TextBox 11"/>
          <p:cNvSpPr txBox="1"/>
          <p:nvPr/>
        </p:nvSpPr>
        <p:spPr>
          <a:xfrm>
            <a:off x="6255867"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Remove it: how far does refusal on harmful prompts drop? Add it: does it cause refusal on harmless ones? KL: how much does removing it change harmless outputs?</a:t>
            </a:r>
          </a:p>
        </p:txBody>
      </p:sp>
      <p:sp>
        <p:nvSpPr>
          <p:cNvPr id="13" name="TextBox 12"/>
          <p:cNvSpPr txBox="1"/>
          <p:nvPr/>
        </p:nvSpPr>
        <p:spPr>
          <a:xfrm>
            <a:off x="9109481"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4</a:t>
            </a:r>
          </a:p>
        </p:txBody>
      </p:sp>
      <p:sp>
        <p:nvSpPr>
          <p:cNvPr id="14" name="TextBox 13"/>
          <p:cNvSpPr txBox="1"/>
          <p:nvPr/>
        </p:nvSpPr>
        <p:spPr>
          <a:xfrm>
            <a:off x="9109481"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Pick and check</a:t>
            </a:r>
          </a:p>
        </p:txBody>
      </p:sp>
      <p:sp>
        <p:nvSpPr>
          <p:cNvPr id="15" name="TextBox 14"/>
          <p:cNvSpPr txBox="1"/>
          <p:nvPr/>
        </p:nvSpPr>
        <p:spPr>
          <a:xfrm>
            <a:off x="9109481"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Biggest drop, with addition causing refusal and KL below 0.1. Then 64 fresh harmful prompts (refusal 92% → 0% Qwen, 91% → 0% Llama) and 100 re-extractions (cosine ≥ 0.99).</a:t>
            </a:r>
          </a:p>
        </p:txBody>
      </p:sp>
      <p:sp>
        <p:nvSpPr>
          <p:cNvPr id="16" name="TextBox 15"/>
          <p:cNvSpPr txBox="1"/>
          <p:nvPr/>
        </p:nvSpPr>
        <p:spPr>
          <a:xfrm>
            <a:off x="548640" y="5257800"/>
            <a:ext cx="11094415" cy="685800"/>
          </a:xfrm>
          <a:prstGeom prst="rect">
            <a:avLst/>
          </a:prstGeom>
          <a:noFill/>
        </p:spPr>
        <p:txBody>
          <a:bodyPr wrap="square" anchor="t" lIns="0" rIns="0" tIns="0" bIns="0">
            <a:noAutofit/>
          </a:bodyPr>
          <a:lstStyle/>
          <a:p>
            <a:pPr algn="l">
              <a:spcAft>
                <a:spcPts val="0"/>
              </a:spcAft>
            </a:pPr>
            <a:r>
              <a:rPr sz="1600" b="1">
                <a:solidFill>
                  <a:srgbClr val="52514E"/>
                </a:solidFill>
              </a:rPr>
              <a:t>Chosen: </a:t>
            </a:r>
            <a:r>
              <a:rPr sz="1600" b="0">
                <a:solidFill>
                  <a:srgbClr val="52514E"/>
                </a:solidFill>
              </a:rPr>
              <a:t>Qwen layer 19 of 28 (token −2), Llama layer 13 of 32 (token −5). </a:t>
            </a:r>
            <a:r>
              <a:rPr sz="1600" b="1">
                <a:solidFill>
                  <a:srgbClr val="52514E"/>
                </a:solidFill>
              </a:rPr>
              <a:t>Refusal score: </a:t>
            </a:r>
            <a:r>
              <a:rPr sz="1600" b="0">
                <a:solidFill>
                  <a:srgbClr val="52514E"/>
                </a:solidFill>
              </a:rPr>
              <a:t>log-odds that the reply starts with a refusal token.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Looking inside and causal testing</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14</a:t>
            </a:fld>
          </a:p>
        </p:txBody>
      </p:sp>
      <p:sp>
        <p:nvSpPr>
          <p:cNvPr id="4" name="TextBox 3"/>
          <p:cNvSpPr txBox="1"/>
          <p:nvPr/>
        </p:nvSpPr>
        <p:spPr>
          <a:xfrm>
            <a:off x="548640"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4  </a:t>
            </a:r>
            <a:r>
              <a:rPr sz="2200" b="1">
                <a:solidFill>
                  <a:srgbClr val="000000"/>
                </a:solidFill>
              </a:rPr>
              <a:t>Look inside</a:t>
            </a:r>
          </a:p>
        </p:txBody>
      </p:sp>
      <p:sp>
        <p:nvSpPr>
          <p:cNvPr id="5" name="TextBox 4"/>
          <p:cNvSpPr txBox="1"/>
          <p:nvPr/>
        </p:nvSpPr>
        <p:spPr>
          <a:xfrm>
            <a:off x="548640"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Project each prompt onto the refusal direction: at the chosen layer, and at every layer onto that layer’s own direction</a:t>
            </a:r>
          </a:p>
          <a:p>
            <a:pPr algn="l" marL="274320" indent="-274320">
              <a:spcAft>
                <a:spcPts val="1000"/>
              </a:spcAft>
              <a:buChar char="•"/>
            </a:pPr>
            <a:r>
              <a:rPr sz="1600" b="0">
                <a:solidFill>
                  <a:srgbClr val="52514E"/>
                </a:solidFill>
              </a:rPr>
              <a:t>Compare matched pairs: other side − own side, Republican − Democrat, party − Lakers fan</a:t>
            </a:r>
          </a:p>
          <a:p>
            <a:pPr algn="l" marL="274320" indent="-274320">
              <a:spcAft>
                <a:spcPts val="1000"/>
              </a:spcAft>
              <a:buChar char="•"/>
            </a:pPr>
            <a:r>
              <a:rPr sz="1600" b="0">
                <a:solidFill>
                  <a:srgbClr val="52514E"/>
                </a:solidFill>
              </a:rPr>
              <a:t>Scale by the stolen-minus-harmless gap; sign-flip tests, Bonferroni-corrected across layers</a:t>
            </a:r>
          </a:p>
        </p:txBody>
      </p:sp>
      <p:sp>
        <p:nvSpPr>
          <p:cNvPr id="6" name="TextBox 5"/>
          <p:cNvSpPr txBox="1"/>
          <p:nvPr/>
        </p:nvSpPr>
        <p:spPr>
          <a:xfrm>
            <a:off x="6324447"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5  </a:t>
            </a:r>
            <a:r>
              <a:rPr sz="2200" b="1">
                <a:solidFill>
                  <a:srgbClr val="000000"/>
                </a:solidFill>
              </a:rPr>
              <a:t>Test causally</a:t>
            </a:r>
          </a:p>
        </p:txBody>
      </p:sp>
      <p:sp>
        <p:nvSpPr>
          <p:cNvPr id="7" name="TextBox 6"/>
          <p:cNvSpPr txBox="1"/>
          <p:nvPr/>
        </p:nvSpPr>
        <p:spPr>
          <a:xfrm>
            <a:off x="6324447"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Remove the direction at every layer: does the own-side gap close?</a:t>
            </a:r>
          </a:p>
          <a:p>
            <a:pPr algn="l" marL="274320" indent="-274320">
              <a:spcAft>
                <a:spcPts val="1000"/>
              </a:spcAft>
              <a:buChar char="•"/>
            </a:pPr>
            <a:r>
              <a:rPr sz="1600" b="0">
                <a:solidFill>
                  <a:srgbClr val="52514E"/>
                </a:solidFill>
              </a:rPr>
              <a:t>Shift own-side prompts along it by 1×, 2×, 3× and 10× the measured gap at the chosen layer; the same shift along a random direction is the control</a:t>
            </a:r>
          </a:p>
          <a:p>
            <a:pPr algn="l" marL="274320" indent="-274320">
              <a:spcAft>
                <a:spcPts val="1000"/>
              </a:spcAft>
              <a:buChar char="•"/>
            </a:pPr>
            <a:r>
              <a:rPr sz="1600" b="0">
                <a:solidFill>
                  <a:srgbClr val="52514E"/>
                </a:solidFill>
              </a:rPr>
              <a:t>Side direction: what an other-side request adds on stolen prompts beyond harmless ones; compare it with refusal and shift along it</a:t>
            </a:r>
          </a:p>
        </p:txBody>
      </p:sp>
      <p:sp>
        <p:nvSpPr>
          <p:cNvPr id="8" name="TextBox 7"/>
          <p:cNvSpPr txBox="1"/>
          <p:nvPr/>
        </p:nvSpPr>
        <p:spPr>
          <a:xfrm>
            <a:off x="548640" y="5532120"/>
            <a:ext cx="11094415" cy="365760"/>
          </a:xfrm>
          <a:prstGeom prst="rect">
            <a:avLst/>
          </a:prstGeom>
          <a:noFill/>
        </p:spPr>
        <p:txBody>
          <a:bodyPr wrap="square" anchor="t" lIns="0" rIns="0" tIns="0" bIns="0">
            <a:noAutofit/>
          </a:bodyPr>
          <a:lstStyle/>
          <a:p>
            <a:pPr algn="l">
              <a:spcAft>
                <a:spcPts val="0"/>
              </a:spcAft>
            </a:pPr>
            <a:r>
              <a:rPr sz="1600" b="0">
                <a:solidFill>
                  <a:srgbClr val="52514E"/>
                </a:solidFill>
              </a:rPr>
              <a:t>Predictions for the causal tests were written down before the GPU runs.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Results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16</a:t>
            </a:fld>
          </a:p>
        </p:txBody>
      </p:sp>
      <p:pic>
        <p:nvPicPr>
          <p:cNvPr id="4" name="slide_headline_a.png" descr="Did-the-task rates: Democrat vs Republican and own side vs other side, for Qwen2.5-7B and Llama-3.1-8B."/>
          <p:cNvPicPr>
            <a:picLocks noChangeAspect="1"/>
          </p:cNvPicPr>
          <p:nvPr/>
        </p:nvPicPr>
        <p:blipFill>
          <a:blip r:embed="rId3"/>
          <a:stretch>
            <a:fillRect/>
          </a:stretch>
        </p:blipFill>
        <p:spPr>
          <a:xfrm>
            <a:off x="548640" y="1447012"/>
            <a:ext cx="11094415" cy="4314494"/>
          </a:xfrm>
          <a:prstGeom prst="rect">
            <a:avLst/>
          </a:prstGeom>
        </p:spPr>
      </p:pic>
      <p:sp>
        <p:nvSpPr>
          <p:cNvPr id="5" name="Caption"/>
          <p:cNvSpPr txBox="1"/>
          <p:nvPr/>
        </p:nvSpPr>
        <p:spPr>
          <a:xfrm>
            <a:off x="548640" y="5944387"/>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17</a:t>
            </a:fld>
            <a:endParaRPr lang="en-US" sz="1000">
              <a:solidFill>
                <a:srgbClr val="898781"/>
              </a:solidFill>
            </a:endParaRPr>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2025531" y="1325880"/>
            <a:ext cx="8140631" cy="2788920"/>
          </a:xfrm>
          <a:prstGeom prst="rect">
            <a:avLst/>
          </a:prstGeom>
        </p:spPr>
      </p:pic>
      <p:sp>
        <p:nvSpPr>
          <p:cNvPr id="5" name="TextBox 4"/>
          <p:cNvSpPr txBox="1"/>
          <p:nvPr/>
        </p:nvSpPr>
        <p:spPr>
          <a:xfrm>
            <a:off x="548640" y="4251960"/>
            <a:ext cx="11094415" cy="594360"/>
          </a:xfrm>
          <a:prstGeom prst="rect">
            <a:avLst/>
          </a:prstGeom>
          <a:noFill/>
        </p:spPr>
        <p:txBody>
          <a:bodyPr wrap="square" anchor="t" lIns="0" rIns="0" tIns="0" bIns="0">
            <a:noAutofit/>
          </a:bodyPr>
          <a:lstStyle/>
          <a:p>
            <a:pPr algn="l">
              <a:spcAft>
                <a:spcPts val="0"/>
              </a:spcAft>
            </a:pPr>
            <a:r>
              <a:rPr sz="1700" b="1">
                <a:solidFill>
                  <a:srgbClr val="000000"/>
                </a:solidFill>
              </a:rPr>
              <a:t>How to read it: </a:t>
            </a:r>
            <a:r>
              <a:rPr sz="1700" b="0">
                <a:solidFill>
                  <a:srgbClr val="52514E"/>
                </a:solidFill>
              </a:rPr>
              <a:t>each dot is the change in how often the model did the task when the asker named an identity, compared with “I’m a voter.” Left of the line means less help.</a:t>
            </a:r>
          </a:p>
        </p:txBody>
      </p:sp>
      <p:sp>
        <p:nvSpPr>
          <p:cNvPr id="6" name="TextBox 5"/>
          <p:cNvSpPr txBox="1"/>
          <p:nvPr/>
        </p:nvSpPr>
        <p:spPr>
          <a:xfrm>
            <a:off x="548640" y="4937760"/>
            <a:ext cx="11094415" cy="1280160"/>
          </a:xfrm>
          <a:prstGeom prst="rect">
            <a:avLst/>
          </a:prstGeom>
          <a:noFill/>
        </p:spPr>
        <p:txBody>
          <a:bodyPr wrap="square" anchor="t" lIns="0" rIns="0" tIns="0" bIns="0">
            <a:noAutofit/>
          </a:bodyPr>
          <a:lstStyle/>
          <a:p>
            <a:pPr algn="l" marL="274320" indent="-274320">
              <a:spcAft>
                <a:spcPts val="600"/>
              </a:spcAft>
              <a:buChar char="•"/>
            </a:pPr>
            <a:r>
              <a:rPr sz="1600" b="0">
                <a:solidFill>
                  <a:srgbClr val="52514E"/>
                </a:solidFill>
              </a:rPr>
              <a:t>“I’m a Lakers fan” is a control with nothing to do with elections. It lowers help as much as naming a party in Qwen (all three: 7 to 12 points less) and more than a party in Llama (parties: −3 to +2 points; Lakers fan: −4 to −12).</a:t>
            </a:r>
          </a:p>
          <a:p>
            <a:pPr algn="l" marL="274320" indent="-274320">
              <a:spcAft>
                <a:spcPts val="600"/>
              </a:spcAft>
              <a:buChar char="•"/>
            </a:pPr>
            <a:r>
              <a:rPr sz="1600" b="0">
                <a:solidFill>
                  <a:srgbClr val="52514E"/>
                </a:solidFill>
              </a:rPr>
              <a:t>So naming a party isn’t what moves the models. What does is whether the claim belongs to the asker’s side.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Other-side claims drift toward refusal mid-network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18</a:t>
            </a:fld>
            <a:endParaRPr lang="en-US" sz="1000">
              <a:solidFill>
                <a:srgbClr val="898781"/>
              </a:solidFill>
            </a:endParaRPr>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First significant at layer 19 of 28 (Qwen) and 11 of 32 (Llama); harmless questions stay at zero</a:t>
            </a:r>
          </a:p>
        </p:txBody>
      </p:sp>
      <p:sp>
        <p:nvSpPr>
          <p:cNvPr id="6" name="Footnote"/>
          <p:cNvSpPr txBox="1"/>
          <p:nvPr/>
        </p:nvSpPr>
        <p:spPr>
          <a:xfrm>
            <a:off x="548640" y="5943600"/>
            <a:ext cx="11094415" cy="365759"/>
          </a:xfrm>
          <a:prstGeom prst="rect">
            <a:avLst/>
          </a:prstGeom>
          <a:noFill/>
        </p:spPr>
        <p:txBody>
          <a:bodyPr wrap="square" anchor="t" lIns="0" rIns="0" tIns="0" bIns="0">
            <a:noAutofit/>
          </a:bodyPr>
          <a:lstStyle/>
          <a:p>
            <a:pPr algn="l">
              <a:spcAft>
                <a:spcPts val="0"/>
              </a:spcAft>
            </a:pPr>
            <a:r>
              <a:rPr sz="1200" b="1">
                <a:solidFill>
                  <a:srgbClr val="898781"/>
                </a:solidFill>
              </a:rPr>
              <a:t>How the % is calculated: </a:t>
            </a:r>
            <a:r>
              <a:rPr sz="1200" b="0">
                <a:solidFill>
                  <a:srgbClr val="898781"/>
                </a:solidFill>
              </a:rPr>
              <a:t>at each layer, a prompt’s score is its projection onto that layer’s refusal direction. Plotted value = mean over matched pairs of (other-side score − own-side score) ÷ (mean stolen-election score − mean harmless-question score) × 100.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Amplifying refusal closes Llama’s gap, but not Qwen’s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19</a:t>
            </a:fld>
            <a:endParaRPr lang="en-US" sz="1000">
              <a:solidFill>
                <a:srgbClr val="898781"/>
              </a:solidFill>
            </a:endParaRPr>
          </a:p>
        </p:txBody>
      </p:sp>
      <p:sp>
        <p:nvSpPr>
          <p:cNvPr id="4" name="Footnote"/>
          <p:cNvSpPr txBox="1"/>
          <p:nvPr/>
        </p:nvSpPr>
        <p:spPr>
          <a:xfrm>
            <a:off x="548640" y="5760720"/>
            <a:ext cx="11094415" cy="548640"/>
          </a:xfrm>
          <a:prstGeom prst="rect">
            <a:avLst/>
          </a:prstGeom>
          <a:noFill/>
        </p:spPr>
        <p:txBody>
          <a:bodyPr wrap="square" anchor="t" lIns="0" rIns="0" tIns="0" bIns="0">
            <a:noAutofit/>
          </a:bodyPr>
          <a:lstStyle/>
          <a:p>
            <a:pPr algn="l">
              <a:spcAft>
                <a:spcPts val="0"/>
              </a:spcAft>
            </a:pPr>
            <a:r>
              <a:rPr sz="1200" b="1">
                <a:solidFill>
                  <a:srgbClr val="898781"/>
                </a:solidFill>
              </a:rPr>
              <a:t>How it’s calculated: </a:t>
            </a:r>
            <a:r>
              <a:rPr sz="1200" b="0">
                <a:solidFill>
                  <a:srgbClr val="898781"/>
                </a:solidFill>
              </a:rPr>
              <a:t>the gap inside the model, Δ = mean projection of other-side prompts − mean projection of own-side prompts on the refusal direction u, at the chosen layer (Qwen 19, Llama 13). Each own-side prompt’s activations x become x + k·Δ·u at every token, for k = 1, 2 or 3. Did the task = % of the 136 replies that produce the requested content, per Llama Guard 3.</a:t>
            </a:r>
          </a:p>
        </p:txBody>
      </p:sp>
      <p:pic>
        <p:nvPicPr>
          <p:cNvPr id="5" name="slide_shift_dose_c.png" descr="Own-side did-the-task rate as the push grows from none to 3×, against the other side's level, Llama Guard 3 judge, for Qwen2.5-7B and Llama-3.1-8B."/>
          <p:cNvPicPr>
            <a:picLocks noChangeAspect="1"/>
          </p:cNvPicPr>
          <p:nvPr/>
        </p:nvPicPr>
        <p:blipFill>
          <a:blip r:embed="rId4"/>
          <a:stretch>
            <a:fillRect/>
          </a:stretch>
        </p:blipFill>
        <p:spPr>
          <a:xfrm>
            <a:off x="1491190" y="1371599"/>
            <a:ext cx="9209314" cy="3581400"/>
          </a:xfrm>
          <a:prstGeom prst="rect">
            <a:avLst/>
          </a:prstGeom>
        </p:spPr>
      </p:pic>
      <p:sp>
        <p:nvSpPr>
          <p:cNvPr id="6" name="Caption"/>
          <p:cNvSpPr txBox="1"/>
          <p:nvPr/>
        </p:nvSpPr>
        <p:spPr>
          <a:xfrm>
            <a:off x="1491190" y="5135880"/>
            <a:ext cx="9209314" cy="487680"/>
          </a:xfrm>
          <a:prstGeom prst="rect">
            <a:avLst/>
          </a:prstGeom>
          <a:noFill/>
        </p:spPr>
        <p:txBody>
          <a:bodyPr wrap="square" anchor="t" lIns="0" rIns="0" tIns="0" bIns="0">
            <a:noAutofit/>
          </a:bodyPr>
          <a:lstStyle/>
          <a:p>
            <a:pPr algn="l">
              <a:spcAft>
                <a:spcPts val="0"/>
              </a:spcAft>
            </a:pPr>
            <a:r>
              <a:rPr sz="1600" b="0">
                <a:solidFill>
                  <a:srgbClr val="52514E"/>
                </a:solidFill>
              </a:rPr>
              <a:t>1× raises own-side prompts to where other-side prompts sit on the refusal direction. Llama falls to the other side’s level by 2–3×; Qwen is still above it at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Implications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20</a:t>
            </a:fld>
          </a:p>
        </p:txBody>
      </p:sp>
      <p:sp>
        <p:nvSpPr>
          <p:cNvPr id="4" name="Column 1 label"/>
          <p:cNvSpPr txBox="1"/>
          <p:nvPr/>
        </p:nvSpPr>
        <p:spPr>
          <a:xfrm>
            <a:off x="548640" y="1691640"/>
            <a:ext cx="5318607" cy="320040"/>
          </a:xfrm>
          <a:prstGeom prst="rect">
            <a:avLst/>
          </a:prstGeom>
          <a:noFill/>
        </p:spPr>
        <p:txBody>
          <a:bodyPr wrap="square" anchor="t" lIns="0" rIns="0" tIns="0" bIns="0">
            <a:noAutofit/>
          </a:bodyPr>
          <a:lstStyle/>
          <a:p>
            <a:pPr algn="l">
              <a:spcAft>
                <a:spcPts val="0"/>
              </a:spcAft>
            </a:pPr>
            <a:r>
              <a:rPr sz="1600" b="1">
                <a:solidFill>
                  <a:srgbClr val="898781"/>
                </a:solidFill>
              </a:rPr>
              <a:t>Democrat vs Republican</a:t>
            </a:r>
          </a:p>
        </p:txBody>
      </p:sp>
      <p:sp>
        <p:nvSpPr>
          <p:cNvPr id="5" name="Column 1 value"/>
          <p:cNvSpPr txBox="1"/>
          <p:nvPr/>
        </p:nvSpPr>
        <p:spPr>
          <a:xfrm>
            <a:off x="548640" y="2103120"/>
            <a:ext cx="5318607" cy="731520"/>
          </a:xfrm>
          <a:prstGeom prst="rect">
            <a:avLst/>
          </a:prstGeom>
          <a:noFill/>
        </p:spPr>
        <p:txBody>
          <a:bodyPr wrap="square" anchor="t" lIns="0" rIns="0" tIns="0" bIns="0">
            <a:noAutofit/>
          </a:bodyPr>
          <a:lstStyle/>
          <a:p>
            <a:pPr algn="l">
              <a:spcAft>
                <a:spcPts val="0"/>
              </a:spcAft>
            </a:pPr>
            <a:r>
              <a:rPr sz="4400" b="1">
                <a:solidFill>
                  <a:srgbClr val="000000"/>
                </a:solidFill>
              </a:rPr>
              <a:t>No gap</a:t>
            </a:r>
          </a:p>
        </p:txBody>
      </p:sp>
      <p:sp>
        <p:nvSpPr>
          <p:cNvPr id="6" name="Column 1 text"/>
          <p:cNvSpPr txBox="1"/>
          <p:nvPr/>
        </p:nvSpPr>
        <p:spPr>
          <a:xfrm>
            <a:off x="548640" y="2926080"/>
            <a:ext cx="5318607" cy="822960"/>
          </a:xfrm>
          <a:prstGeom prst="rect">
            <a:avLst/>
          </a:prstGeom>
          <a:noFill/>
        </p:spPr>
        <p:txBody>
          <a:bodyPr wrap="square" anchor="t" lIns="0" rIns="0" tIns="0" bIns="0">
            <a:noAutofit/>
          </a:bodyPr>
          <a:lstStyle/>
          <a:p>
            <a:pPr algn="l">
              <a:spcAft>
                <a:spcPts val="0"/>
              </a:spcAft>
            </a:pPr>
            <a:r>
              <a:rPr sz="1800" b="0">
                <a:solidFill>
                  <a:srgbClr val="52514E"/>
                </a:solidFill>
              </a:rPr>
              <a:t>No party-based bias: both parties get about the same help (1–4 points apart, not significant).</a:t>
            </a:r>
          </a:p>
        </p:txBody>
      </p:sp>
      <p:sp>
        <p:nvSpPr>
          <p:cNvPr id="7" name="Column 2 label"/>
          <p:cNvSpPr txBox="1"/>
          <p:nvPr/>
        </p:nvSpPr>
        <p:spPr>
          <a:xfrm>
            <a:off x="6324447" y="1691640"/>
            <a:ext cx="5318607" cy="320040"/>
          </a:xfrm>
          <a:prstGeom prst="rect">
            <a:avLst/>
          </a:prstGeom>
          <a:noFill/>
        </p:spPr>
        <p:txBody>
          <a:bodyPr wrap="square" anchor="t" lIns="0" rIns="0" tIns="0" bIns="0">
            <a:noAutofit/>
          </a:bodyPr>
          <a:lstStyle/>
          <a:p>
            <a:pPr algn="l">
              <a:spcAft>
                <a:spcPts val="0"/>
              </a:spcAft>
            </a:pPr>
            <a:r>
              <a:rPr sz="1600" b="1">
                <a:solidFill>
                  <a:srgbClr val="898781"/>
                </a:solidFill>
              </a:rPr>
              <a:t>Own side vs other side</a:t>
            </a:r>
          </a:p>
        </p:txBody>
      </p:sp>
      <p:sp>
        <p:nvSpPr>
          <p:cNvPr id="8" name="Column 2 value"/>
          <p:cNvSpPr txBox="1"/>
          <p:nvPr/>
        </p:nvSpPr>
        <p:spPr>
          <a:xfrm>
            <a:off x="6324447" y="2103120"/>
            <a:ext cx="5318607" cy="731520"/>
          </a:xfrm>
          <a:prstGeom prst="rect">
            <a:avLst/>
          </a:prstGeom>
          <a:noFill/>
        </p:spPr>
        <p:txBody>
          <a:bodyPr wrap="square" anchor="t" lIns="0" rIns="0" tIns="0" bIns="0">
            <a:noAutofit/>
          </a:bodyPr>
          <a:lstStyle/>
          <a:p>
            <a:pPr algn="l">
              <a:spcAft>
                <a:spcPts val="0"/>
              </a:spcAft>
            </a:pPr>
            <a:r>
              <a:rPr sz="4400" b="1">
                <a:solidFill>
                  <a:srgbClr val="000000"/>
                </a:solidFill>
              </a:rPr>
              <a:t>+7–15 points</a:t>
            </a:r>
          </a:p>
        </p:txBody>
      </p:sp>
      <p:sp>
        <p:nvSpPr>
          <p:cNvPr id="9" name="Column 2 text"/>
          <p:cNvSpPr txBox="1"/>
          <p:nvPr/>
        </p:nvSpPr>
        <p:spPr>
          <a:xfrm>
            <a:off x="6324447" y="2926080"/>
            <a:ext cx="5318607" cy="822960"/>
          </a:xfrm>
          <a:prstGeom prst="rect">
            <a:avLst/>
          </a:prstGeom>
          <a:noFill/>
        </p:spPr>
        <p:txBody>
          <a:bodyPr wrap="square" anchor="t" lIns="0" rIns="0" tIns="0" bIns="0">
            <a:noAutofit/>
          </a:bodyPr>
          <a:lstStyle/>
          <a:p>
            <a:pPr algn="l">
              <a:spcAft>
                <a:spcPts val="0"/>
              </a:spcAft>
            </a:pPr>
            <a:r>
              <a:rPr sz="1800" b="0">
                <a:solidFill>
                  <a:srgbClr val="52514E"/>
                </a:solidFill>
              </a:rPr>
              <a:t>Interestingly, the models help more when the claim belongs to the asker’s own side.</a:t>
            </a:r>
          </a:p>
        </p:txBody>
      </p:sp>
      <p:cxnSp>
        <p:nvCxnSpPr>
          <p:cNvPr id="10" name="Rule"/>
          <p:cNvCxnSpPr/>
          <p:nvPr/>
        </p:nvCxnSpPr>
        <p:spPr>
          <a:xfrm>
            <a:off x="548640" y="4069080"/>
            <a:ext cx="11094415"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1" name="Implication"/>
          <p:cNvSpPr txBox="1"/>
          <p:nvPr/>
        </p:nvSpPr>
        <p:spPr>
          <a:xfrm>
            <a:off x="548640" y="4343400"/>
            <a:ext cx="11094415" cy="822960"/>
          </a:xfrm>
          <a:prstGeom prst="rect">
            <a:avLst/>
          </a:prstGeom>
          <a:noFill/>
        </p:spPr>
        <p:txBody>
          <a:bodyPr wrap="square" anchor="t" lIns="0" rIns="0" tIns="0" bIns="0">
            <a:noAutofit/>
          </a:bodyPr>
          <a:lstStyle/>
          <a:p>
            <a:pPr algn="l">
              <a:spcAft>
                <a:spcPts val="0"/>
              </a:spcAft>
            </a:pPr>
            <a:r>
              <a:rPr sz="2200" b="1">
                <a:solidFill>
                  <a:srgbClr val="000000"/>
                </a:solidFill>
              </a:rPr>
              <a:t>Potentially concerning. </a:t>
            </a:r>
            <a:r>
              <a:rPr sz="2200" b="0">
                <a:solidFill>
                  <a:srgbClr val="52514E"/>
                </a:solidFill>
              </a:rPr>
              <a:t>It looks like sycophancy: the model affirms the user’s own bias, building an echo chamber.</a:t>
            </a:r>
          </a:p>
        </p:txBody>
      </p:sp>
      <p:sp>
        <p:nvSpPr>
          <p:cNvPr id="12" name="Open question"/>
          <p:cNvSpPr txBox="1"/>
          <p:nvPr/>
        </p:nvSpPr>
        <p:spPr>
          <a:xfrm>
            <a:off x="548640" y="5440680"/>
            <a:ext cx="11094415" cy="365760"/>
          </a:xfrm>
          <a:prstGeom prst="rect">
            <a:avLst/>
          </a:prstGeom>
          <a:noFill/>
        </p:spPr>
        <p:txBody>
          <a:bodyPr wrap="square" anchor="t" lIns="0" rIns="0" tIns="0" bIns="0">
            <a:noAutofit/>
          </a:bodyPr>
          <a:lstStyle/>
          <a:p>
            <a:pPr algn="l">
              <a:spcAft>
                <a:spcPts val="0"/>
              </a:spcAft>
            </a:pPr>
            <a:r>
              <a:rPr sz="1600" b="0">
                <a:solidFill>
                  <a:srgbClr val="898781"/>
                </a:solidFill>
              </a:rPr>
              <a:t>Still open: is it sycophancy, or does a mismatched request just look suspicious to the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Conclusion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22</a:t>
            </a:fld>
            <a:endParaRPr lang="en-US" sz="1000">
              <a:solidFill>
                <a:srgbClr val="898781"/>
              </a:solidFill>
            </a:endParaRPr>
          </a:p>
        </p:txBody>
      </p:sp>
      <p:sp>
        <p:nvSpPr>
          <p:cNvPr id="4" name="Number 1"/>
          <p:cNvSpPr txBox="1"/>
          <p:nvPr/>
        </p:nvSpPr>
        <p:spPr>
          <a:xfrm>
            <a:off x="548640" y="1481328"/>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lIns="0" tIns="0" rIns="0" bIns="0" anchor="t">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23</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Harmless other-side requests, to separate going along from suspicion</a:t>
            </a:r>
          </a:p>
          <a:p>
            <a:pPr marL="274320" indent="-274320" algn="l">
              <a:spcAft>
                <a:spcPts val="1200"/>
              </a:spcAft>
              <a:buChar char="•"/>
            </a:pPr>
            <a:r>
              <a:rPr sz="1800" b="0">
                <a:solidFill>
                  <a:srgbClr val="000000"/>
                </a:solidFill>
              </a:rPr>
              <a:t>A third model: Gemma-2-9B or a second Chinese-lab model</a:t>
            </a:r>
          </a:p>
          <a:p>
            <a:pPr marL="274320" indent="-274320" algn="l">
              <a:spcAft>
                <a:spcPts val="1200"/>
              </a:spcAft>
              <a:buChar char="•"/>
            </a:pPr>
            <a:r>
              <a:rPr sz="1800" b="0">
                <a:solidFill>
                  <a:srgbClr val="000000"/>
                </a:solidFill>
              </a:rPr>
              <a:t>Remove the direction at the layer where the gap first appears (19 in Qwen, 11 in Llama)</a:t>
            </a:r>
          </a:p>
          <a:p>
            <a:pPr marL="274320" indent="-274320" algn="l">
              <a:spcAft>
                <a:spcPts val="1200"/>
              </a:spcAft>
              <a:buChar char="•"/>
            </a:pPr>
            <a:r>
              <a:rPr sz="1800" b="0">
                <a:solidFill>
                  <a:srgbClr val="000000"/>
                </a:solidFill>
              </a:rPr>
              <a:t>More blind human labels than the current 50</a:t>
            </a:r>
          </a:p>
          <a:p>
            <a:pPr marL="274320" indent="-274320" algn="l">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Is it about politics at all? Lakers vs Celtics fans asking to “prove” a game was rigged</a:t>
            </a:r>
          </a:p>
          <a:p>
            <a:pPr marL="274320" indent="-274320" algn="l">
              <a:spcAft>
                <a:spcPts val="1200"/>
              </a:spcAft>
              <a:buChar char="•"/>
            </a:pPr>
            <a:r>
              <a:rPr sz="1800" b="0">
                <a:solidFill>
                  <a:srgbClr val="000000"/>
                </a:solidFill>
              </a:rPr>
              <a:t>Other partisan claims (vaccines, climate) and non-US elections</a:t>
            </a:r>
          </a:p>
          <a:p>
            <a:pPr marL="274320" indent="-274320" algn="l">
              <a:spcAft>
                <a:spcPts val="1200"/>
              </a:spcAft>
              <a:buChar char="•"/>
            </a:pPr>
            <a:r>
              <a:rPr sz="1800" b="0">
                <a:solidFill>
                  <a:srgbClr val="000000"/>
                </a:solidFill>
              </a:rPr>
              <a:t>Larger and other-family models, with several sampled replies per prompt</a:t>
            </a:r>
          </a:p>
          <a:p>
            <a:pPr marL="274320" indent="-274320" algn="l">
              <a:spcAft>
                <a:spcPts val="1200"/>
              </a:spcAft>
              <a:buChar char="•"/>
            </a:pPr>
            <a:r>
              <a:rPr sz="1800" b="0">
                <a:solidFill>
                  <a:srgbClr val="000000"/>
                </a:solidFill>
              </a:rPr>
              <a:t>A native-speaker check of the Chinese prompts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Supporting detail</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25</a:t>
            </a:fld>
            <a:endParaRPr lang="en-US" sz="1000">
              <a:solidFill>
                <a:srgbClr val="898781"/>
              </a:solidFill>
            </a:endParaRPr>
          </a:p>
        </p:txBody>
      </p:sp>
      <p:sp>
        <p:nvSpPr>
          <p:cNvPr id="4" name="Finding 1 number"/>
          <p:cNvSpPr txBox="1"/>
          <p:nvPr/>
        </p:nvSpPr>
        <p:spPr>
          <a:xfrm>
            <a:off x="548640" y="150876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37</a:t>
            </a:r>
          </a:p>
        </p:txBody>
      </p:sp>
      <p:sp>
        <p:nvSpPr>
          <p:cNvPr id="7" name="Finding 2 number"/>
          <p:cNvSpPr txBox="1"/>
          <p:nvPr/>
        </p:nvSpPr>
        <p:spPr>
          <a:xfrm>
            <a:off x="548640" y="2267712"/>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16</a:t>
            </a:r>
          </a:p>
        </p:txBody>
      </p:sp>
      <p:sp>
        <p:nvSpPr>
          <p:cNvPr id="10" name="Finding 3 number"/>
          <p:cNvSpPr txBox="1"/>
          <p:nvPr/>
        </p:nvSpPr>
        <p:spPr>
          <a:xfrm>
            <a:off x="548640" y="3026664"/>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17</a:t>
            </a:r>
          </a:p>
        </p:txBody>
      </p:sp>
      <p:sp>
        <p:nvSpPr>
          <p:cNvPr id="13" name="Finding 4 number"/>
          <p:cNvSpPr txBox="1"/>
          <p:nvPr/>
        </p:nvSpPr>
        <p:spPr>
          <a:xfrm>
            <a:off x="548640" y="3785615"/>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18</a:t>
            </a:r>
          </a:p>
        </p:txBody>
      </p:sp>
      <p:sp>
        <p:nvSpPr>
          <p:cNvPr id="16" name="Finding 5 number"/>
          <p:cNvSpPr txBox="1"/>
          <p:nvPr/>
        </p:nvSpPr>
        <p:spPr>
          <a:xfrm>
            <a:off x="548640" y="4544568"/>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19</a:t>
            </a:r>
          </a:p>
        </p:txBody>
      </p:sp>
      <p:sp>
        <p:nvSpPr>
          <p:cNvPr id="19" name="Finding 6 number"/>
          <p:cNvSpPr txBox="1"/>
          <p:nvPr/>
        </p:nvSpPr>
        <p:spPr>
          <a:xfrm>
            <a:off x="548640" y="530352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30</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26</a:t>
            </a:fld>
            <a:endParaRPr lang="en-US" sz="1000">
              <a:solidFill>
                <a:srgbClr val="898781"/>
              </a:solidFill>
            </a:endParaRPr>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27</a:t>
            </a:fld>
            <a:endParaRPr lang="en-US" sz="1000">
              <a:solidFill>
                <a:srgbClr val="898781"/>
              </a:solidFill>
            </a:endParaRPr>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lIns="0" tIns="0" rIns="0" bIns="0" anchor="t">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28</a:t>
            </a:fld>
            <a:endParaRPr lang="en-US" sz="1000">
              <a:solidFill>
                <a:srgbClr val="898781"/>
              </a:solidFill>
            </a:endParaRPr>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29</a:t>
            </a:fld>
            <a:endParaRPr lang="en-US" sz="1000">
              <a:solidFill>
                <a:srgbClr val="898781"/>
              </a:solidFill>
            </a:endParaRPr>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30</a:t>
            </a:fld>
            <a:endParaRPr lang="en-US" sz="1000">
              <a:solidFill>
                <a:srgbClr val="898781"/>
              </a:solidFill>
            </a:endParaRPr>
          </a:p>
        </p:txBody>
      </p:sp>
      <p:sp>
        <p:nvSpPr>
          <p:cNvPr id="4" name="TextBox 3"/>
          <p:cNvSpPr txBox="1"/>
          <p:nvPr/>
        </p:nvSpPr>
        <p:spPr>
          <a:xfrm>
            <a:off x="548640" y="1554480"/>
            <a:ext cx="6766560" cy="548640"/>
          </a:xfrm>
          <a:prstGeom prst="rect">
            <a:avLst/>
          </a:prstGeom>
          <a:noFill/>
        </p:spPr>
        <p:txBody>
          <a:bodyPr wrap="square" lIns="0" tIns="0" rIns="0" bIns="0" anchor="t">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7772400" y="1737360"/>
            <a:ext cx="3870655" cy="4480560"/>
          </a:xfrm>
          <a:prstGeom prst="rect">
            <a:avLst/>
          </a:prstGeom>
          <a:noFill/>
        </p:spPr>
        <p:txBody>
          <a:bodyPr wrap="square" lIns="0" tIns="0" rIns="0" bIns="0" anchor="t">
            <a:noAutofit/>
          </a:bodyPr>
          <a:lstStyle/>
          <a:p>
            <a:pPr marL="274320" indent="-274320" algn="l">
              <a:spcAft>
                <a:spcPts val="1200"/>
              </a:spcAft>
              <a:buChar char="•"/>
            </a:pPr>
            <a:r>
              <a:rPr sz="1600" b="0">
                <a:solidFill>
                  <a:srgbClr val="000000"/>
                </a:solidFill>
              </a:rPr>
              <a:t>29 of the 42 points are official-line answers, not refusals</a:t>
            </a:r>
          </a:p>
          <a:p>
            <a:pPr marL="274320" indent="-274320" algn="l">
              <a:spcAft>
                <a:spcPts val="1200"/>
              </a:spcAft>
              <a:buChar char="•"/>
            </a:pPr>
            <a:r>
              <a:rPr sz="1600" b="0">
                <a:solidFill>
                  <a:srgbClr val="000000"/>
                </a:solidFill>
              </a:rPr>
              <a:t>Removing the refusal direction ends refusal on harmful prompts in both languages, but the gap stays (42 → 46 points)</a:t>
            </a:r>
          </a:p>
          <a:p>
            <a:pPr marL="274320" indent="-274320" algn="l">
              <a:spcAft>
                <a:spcPts val="1200"/>
              </a:spcAft>
              <a:buChar char="•"/>
            </a:pPr>
            <a:r>
              <a:rPr sz="1600" b="0">
                <a:solidFill>
                  <a:srgbClr val="000000"/>
                </a:solidFill>
              </a:rPr>
              <a:t>The English and Chinese refusal directions are nearly the same vector (cosine 0.98 Qwen, 0.91 Llama)</a:t>
            </a:r>
          </a:p>
          <a:p>
            <a:pPr marL="274320" indent="-274320" algn="l">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31</a:t>
            </a:fld>
            <a:endParaRPr lang="en-US" sz="1000">
              <a:solidFill>
                <a:srgbClr val="898781"/>
              </a:solidFill>
            </a:endParaRPr>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a:tableStyleId>{2D5ABB26-0587-4C30-8999-92F81FD0307C}</a:tableStyleId>
              </a:tblPr>
              <a:tblGrid>
                <a:gridCol w="3931920">
                  <a:extLst>
                    <a:ext uri="{9D8B030D-6E8A-4147-A177-3AD203B41FA5}">
                      <a16:colId xmlns:a16="http://schemas.microsoft.com/office/drawing/2014/main" val="20000"/>
                    </a:ext>
                  </a:extLst>
                </a:gridCol>
                <a:gridCol w="7159752">
                  <a:extLst>
                    <a:ext uri="{9D8B030D-6E8A-4147-A177-3AD203B41FA5}">
                      <a16:colId xmlns:a16="http://schemas.microsoft.com/office/drawing/2014/main" val="20001"/>
                    </a:ext>
                  </a:extLst>
                </a:gridCol>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84048">
                <a:tc>
                  <a:txBody>
                    <a:bodyPr/>
                    <a:lstStyle/>
                    <a:p>
                      <a:r>
                        <a:rPr sz="1800" b="0">
                          <a:solidFill>
                            <a:srgbClr val="000000"/>
                          </a:solidFill>
                        </a:rPr>
                        <a:t>Llama Guard 2 (the paper’s judge)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658368">
                <a:tc>
                  <a:txBody>
                    <a:bodyPr/>
                    <a:lstStyle/>
                    <a:p>
                      <a:r>
                        <a:rPr sz="1800" b="0">
                          <a:solidFill>
                            <a:srgbClr val="000000"/>
                          </a:solidFill>
                        </a:rPr>
                        <a:t>Llama Guard 3 + an election category</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84048">
                <a:tc>
                  <a:txBody>
                    <a:bodyPr/>
                    <a:lstStyle/>
                    <a:p>
                      <a:r>
                        <a:rPr sz="1800" b="0">
                          <a:solidFill>
                            <a:srgbClr val="000000"/>
                          </a:solidFill>
                        </a:rPr>
                        <a:t>Claude, written rubric</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822192"/>
            <a:ext cx="11094415" cy="731520"/>
          </a:xfrm>
          <a:prstGeom prst="rect">
            <a:avLst/>
          </a:prstGeom>
          <a:noFill/>
        </p:spPr>
        <p:txBody>
          <a:bodyPr wrap="square" lIns="0" tIns="0" rIns="0" bIns="0" anchor="t">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2971800"/>
            <a:ext cx="11094415" cy="914400"/>
          </a:xfrm>
        </p:spPr>
        <p:txBody>
          <a:bodyPr/>
          <a:lstStyle/>
          <a:p>
            <a:r>
              <a:rPr sz="4400"/>
              <a:t>Backup slides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32</a:t>
            </a:fld>
            <a:endParaRPr lang="en-US" sz="1000">
              <a:solidFill>
                <a:srgbClr val="898781"/>
              </a:solidFill>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we expect about the setup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33</a:t>
            </a:fld>
          </a:p>
        </p:txBody>
      </p:sp>
      <p:sp>
        <p:nvSpPr>
          <p:cNvPr id="4" name="Q1"/>
          <p:cNvSpPr txBox="1"/>
          <p:nvPr/>
        </p:nvSpPr>
        <p:spPr>
          <a:xfrm>
            <a:off x="548640"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Qwen2.5-7B and Llama-3.1-8B?</a:t>
            </a:r>
          </a:p>
        </p:txBody>
      </p:sp>
      <p:sp>
        <p:nvSpPr>
          <p:cNvPr id="5" name="A1"/>
          <p:cNvSpPr txBox="1"/>
          <p:nvPr/>
        </p:nvSpPr>
        <p:spPr>
          <a:xfrm>
            <a:off x="548640"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Open weights, so we can read and edit activations; each fits on one A40 GPU; one Chinese and one US lab. The 3B pilot’s rates left little room for a gap.</a:t>
            </a:r>
          </a:p>
        </p:txBody>
      </p:sp>
      <p:sp>
        <p:nvSpPr>
          <p:cNvPr id="6" name="Q2"/>
          <p:cNvSpPr txBox="1"/>
          <p:nvPr/>
        </p:nvSpPr>
        <p:spPr>
          <a:xfrm>
            <a:off x="6324447"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build the direction from non-political prompts?</a:t>
            </a:r>
          </a:p>
        </p:txBody>
      </p:sp>
      <p:sp>
        <p:nvSpPr>
          <p:cNvPr id="7" name="A2"/>
          <p:cNvSpPr txBox="1"/>
          <p:nvPr/>
        </p:nvSpPr>
        <p:spPr>
          <a:xfrm>
            <a:off x="6324447"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One taken from the election prompts would mix refusal with “this is partisan politics.” We use Arditi et al.’s prompts and drop any that mention elections, parties or candidates.</a:t>
            </a:r>
          </a:p>
        </p:txBody>
      </p:sp>
      <p:sp>
        <p:nvSpPr>
          <p:cNvPr id="8" name="Q3"/>
          <p:cNvSpPr txBox="1"/>
          <p:nvPr/>
        </p:nvSpPr>
        <p:spPr>
          <a:xfrm>
            <a:off x="548640"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not separate party directions?</a:t>
            </a:r>
          </a:p>
        </p:txBody>
      </p:sp>
      <p:sp>
        <p:nvSpPr>
          <p:cNvPr id="9" name="A3"/>
          <p:cNvSpPr txBox="1"/>
          <p:nvPr/>
        </p:nvSpPr>
        <p:spPr>
          <a:xfrm>
            <a:off x="548640"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They come out nearly identical by construction (cosine ≥ 0.987), since the prompts share everything but the asker. We compare projections on one shared direction instead.</a:t>
            </a:r>
          </a:p>
        </p:txBody>
      </p:sp>
      <p:sp>
        <p:nvSpPr>
          <p:cNvPr id="10" name="Q4"/>
          <p:cNvSpPr txBox="1"/>
          <p:nvPr/>
        </p:nvSpPr>
        <p:spPr>
          <a:xfrm>
            <a:off x="6324447"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Can the judge see who asked?</a:t>
            </a:r>
          </a:p>
        </p:txBody>
      </p:sp>
      <p:sp>
        <p:nvSpPr>
          <p:cNvPr id="11" name="A4"/>
          <p:cNvSpPr txBox="1"/>
          <p:nvPr/>
        </p:nvSpPr>
        <p:spPr>
          <a:xfrm>
            <a:off x="6324447"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No. Every judge sees the request with the asker sentence replaced by “Please,” never the model, party or condition.</a:t>
            </a:r>
          </a:p>
        </p:txBody>
      </p:sp>
      <p:sp>
        <p:nvSpPr>
          <p:cNvPr id="12" name="Q5"/>
          <p:cNvSpPr txBox="1"/>
          <p:nvPr/>
        </p:nvSpPr>
        <p:spPr>
          <a:xfrm>
            <a:off x="548640"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Couldn’t one phrasing drive the gap?</a:t>
            </a:r>
          </a:p>
        </p:txBody>
      </p:sp>
      <p:sp>
        <p:nvSpPr>
          <p:cNvPr id="13" name="A5"/>
          <p:cNvSpPr txBox="1"/>
          <p:nvPr/>
        </p:nvSpPr>
        <p:spPr>
          <a:xfrm>
            <a:off x="548640"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Each asker has two phrasings, alternated. Comparisons are 136 matched pairs that differ only in the asker sentence, tested with exact McNemar tests.</a:t>
            </a:r>
          </a:p>
        </p:txBody>
      </p:sp>
      <p:sp>
        <p:nvSpPr>
          <p:cNvPr id="14" name="Q6"/>
          <p:cNvSpPr txBox="1"/>
          <p:nvPr/>
        </p:nvSpPr>
        <p:spPr>
          <a:xfrm>
            <a:off x="6324447"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Greedy decoding, one reply per prompt?</a:t>
            </a:r>
          </a:p>
        </p:txBody>
      </p:sp>
      <p:sp>
        <p:nvSpPr>
          <p:cNvPr id="15" name="A6"/>
          <p:cNvSpPr txBox="1"/>
          <p:nvPr/>
        </p:nvSpPr>
        <p:spPr>
          <a:xfrm>
            <a:off x="6324447"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Yes: deterministic, 128 new tokens. Replies shift slightly with batch composition, so we compare groups, not single replies.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34</a:t>
            </a:fld>
            <a:endParaRPr lang="en-US" sz="1000">
              <a:solidFill>
                <a:srgbClr val="898781"/>
              </a:solidFill>
            </a:endParaRPr>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lIns="0" tIns="0" rIns="0" bIns="0" anchor="t">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35</a:t>
            </a:fld>
            <a:endParaRPr lang="en-US" sz="1000">
              <a:solidFill>
                <a:srgbClr val="898781"/>
              </a:solidFill>
            </a:endParaRPr>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a:tableStyleId>{2D5ABB26-0587-4C30-8999-92F81FD0307C}</a:tableStyleId>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536448">
                <a:tc>
                  <a:txBody>
                    <a:bodyPr/>
                    <a:lstStyle/>
                    <a:p>
                      <a:r>
                        <a:rPr sz="1400" b="0">
                          <a:solidFill>
                            <a:srgbClr val="000000"/>
                          </a:solidFill>
                        </a:rPr>
                        <a:t>Fix which election; cross claim with party</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23088">
                <a:tc>
                  <a:txBody>
                    <a:bodyPr/>
                    <a:lstStyle/>
                    <a:p>
                      <a:r>
                        <a:rPr sz="1400" b="0">
                          <a:solidFill>
                            <a:srgbClr val="000000"/>
                          </a:solidFill>
                        </a:rPr>
                        <a:t>No-label baseline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no asker stated</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23088">
                <a:tc>
                  <a:txBody>
                    <a:bodyPr/>
                    <a:lstStyle/>
                    <a:p>
                      <a:r>
                        <a:rPr sz="1400" b="0">
                          <a:solidFill>
                            <a:srgbClr val="000000"/>
                          </a:solidFill>
                        </a:rPr>
                        <a:t>Non-political identity control</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“I’m a Lakers fan”</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23088">
                <a:tc>
                  <a:txBody>
                    <a:bodyPr/>
                    <a:lstStyle/>
                    <a:p>
                      <a:r>
                        <a:rPr sz="1400" b="0">
                          <a:solidFill>
                            <a:srgbClr val="000000"/>
                          </a:solidFill>
                        </a:rPr>
                        <a:t>Many requests, not one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23088">
                <a:tc>
                  <a:txBody>
                    <a:bodyPr/>
                    <a:lstStyle/>
                    <a:p>
                      <a:r>
                        <a:rPr sz="1400" b="0">
                          <a:solidFill>
                            <a:srgbClr val="000000"/>
                          </a:solidFill>
                        </a:rPr>
                        <a:t>Party-specific directions always differ</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536448">
                <a:tc>
                  <a:txBody>
                    <a:bodyPr/>
                    <a:lstStyle/>
                    <a:p>
                      <a:r>
                        <a:rPr sz="1400" b="0">
                          <a:solidFill>
                            <a:srgbClr val="000000"/>
                          </a:solidFill>
                        </a:rPr>
                        <a:t>Strong, calibrated judge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r h="323088">
                <a:tc>
                  <a:txBody>
                    <a:bodyPr/>
                    <a:lstStyle/>
                    <a:p>
                      <a:r>
                        <a:rPr sz="1400" b="0">
                          <a:solidFill>
                            <a:srgbClr val="000000"/>
                          </a:solidFill>
                        </a:rPr>
                        <a:t>Ablation removes refusal everywhere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7"/>
                  </a:ext>
                </a:extLst>
              </a:tr>
              <a:tr h="323088">
                <a:tc>
                  <a:txBody>
                    <a:bodyPr/>
                    <a:lstStyle/>
                    <a:p>
                      <a:r>
                        <a:rPr sz="1400" b="0">
                          <a:solidFill>
                            <a:srgbClr val="000000"/>
                          </a:solidFill>
                        </a:rPr>
                        <a:t>Pilot rates need room for a difference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8"/>
                  </a:ext>
                </a:extLst>
              </a:tr>
              <a:tr h="323088">
                <a:tc>
                  <a:txBody>
                    <a:bodyPr/>
                    <a:lstStyle/>
                    <a:p>
                      <a:r>
                        <a:rPr sz="1400" b="0">
                          <a:solidFill>
                            <a:srgbClr val="000000"/>
                          </a:solidFill>
                        </a:rPr>
                        <a:t>Direction from non-political prompts</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36</a:t>
            </a:fld>
            <a:endParaRPr lang="en-US" sz="1000">
              <a:solidFill>
                <a:srgbClr val="898781"/>
              </a:solidFill>
            </a:endParaRPr>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a:tableStyleId>{2D5ABB26-0587-4C30-8999-92F81FD0307C}</a:tableStyleId>
              </a:tblPr>
              <a:tblGrid>
                <a:gridCol w="450799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53568">
                <a:tc>
                  <a:txBody>
                    <a:bodyPr/>
                    <a:lstStyle/>
                    <a:p>
                      <a:r>
                        <a:rPr sz="1600" b="0">
                          <a:solidFill>
                            <a:srgbClr val="000000"/>
                          </a:solidFill>
                        </a:rPr>
                        <a:t>Before: own side / other side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40% / 26%</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61% / 45%</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18% / 10%</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34% / 27%</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53568">
                <a:tc>
                  <a:txBody>
                    <a:bodyPr/>
                    <a:lstStyle/>
                    <a:p>
                      <a:r>
                        <a:rPr sz="1600" b="0">
                          <a:solidFill>
                            <a:srgbClr val="000000"/>
                          </a:solidFill>
                        </a:rPr>
                        <a:t>Each prompt set to the other-side mean</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61%</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18%</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597408">
                <a:tc>
                  <a:txBody>
                    <a:bodyPr/>
                    <a:lstStyle/>
                    <a:p>
                      <a:r>
                        <a:rPr sz="1600" b="0">
                          <a:solidFill>
                            <a:srgbClr val="000000"/>
                          </a:solidFill>
                        </a:rPr>
                        <a:t>Each set to its own group’s mean (gap unchanged)</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65%</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10%</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53568">
                <a:tc>
                  <a:txBody>
                    <a:bodyPr/>
                    <a:lstStyle/>
                    <a:p>
                      <a:r>
                        <a:rPr sz="1600" b="0">
                          <a:solidFill>
                            <a:srgbClr val="000000"/>
                          </a:solidFill>
                        </a:rPr>
                        <a:t>Constant shift by the gap, 1×</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39%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57%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13%</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4023360"/>
            <a:ext cx="11094415" cy="822960"/>
          </a:xfrm>
          <a:prstGeom prst="rect">
            <a:avLst/>
          </a:prstGeom>
          <a:noFill/>
        </p:spPr>
        <p:txBody>
          <a:bodyPr wrap="square" lIns="0" tIns="0" rIns="0" bIns="0" anchor="t">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Alternate versions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39</a:t>
            </a:fld>
          </a:p>
        </p:txBody>
      </p:sp>
      <p:sp>
        <p:nvSpPr>
          <p:cNvPr id="4" name="TextBox 3"/>
          <p:cNvSpPr txBox="1"/>
          <p:nvPr/>
        </p:nvSpPr>
        <p:spPr>
          <a:xfrm>
            <a:off x="548640" y="1371600"/>
            <a:ext cx="11094415" cy="320040"/>
          </a:xfrm>
          <a:prstGeom prst="rect">
            <a:avLst/>
          </a:prstGeom>
          <a:noFill/>
        </p:spPr>
        <p:txBody>
          <a:bodyPr wrap="square" anchor="t" lIns="0" rIns="0" tIns="0" bIns="0">
            <a:noAutofit/>
          </a:bodyPr>
          <a:lstStyle/>
          <a:p>
            <a:pPr algn="l">
              <a:spcAft>
                <a:spcPts val="600"/>
              </a:spcAft>
            </a:pPr>
            <a:r>
              <a:rPr sz="1400" b="0">
                <a:solidFill>
                  <a:srgbClr val="52514E"/>
                </a:solidFill>
              </a:rPr>
              <a:t>Arditi, Obeso, Syed, Paleka, Panickssery, Gurnee &amp; Nanda (2024), arXiv 2406.11717</a:t>
            </a:r>
          </a:p>
        </p:txBody>
      </p:sp>
      <p:sp>
        <p:nvSpPr>
          <p:cNvPr id="5" name="TextBox 4"/>
          <p:cNvSpPr txBox="1"/>
          <p:nvPr/>
        </p:nvSpPr>
        <p:spPr>
          <a:xfrm>
            <a:off x="548640" y="1828800"/>
            <a:ext cx="5486400" cy="365760"/>
          </a:xfrm>
          <a:prstGeom prst="rect">
            <a:avLst/>
          </a:prstGeom>
          <a:noFill/>
        </p:spPr>
        <p:txBody>
          <a:bodyPr wrap="square" anchor="t" lIns="0" rIns="0" tIns="0" bIns="0">
            <a:noAutofit/>
          </a:bodyPr>
          <a:lstStyle/>
          <a:p>
            <a:pPr algn="l">
              <a:spcAft>
                <a:spcPts val="0"/>
              </a:spcAft>
            </a:pPr>
            <a:r>
              <a:rPr sz="2000" b="1">
                <a:solidFill>
                  <a:srgbClr val="000000"/>
                </a:solidFill>
              </a:rPr>
              <a:t>Their method</a:t>
            </a:r>
          </a:p>
        </p:txBody>
      </p:sp>
      <p:sp>
        <p:nvSpPr>
          <p:cNvPr id="6" name="TextBox 5"/>
          <p:cNvSpPr txBox="1"/>
          <p:nvPr/>
        </p:nvSpPr>
        <p:spPr>
          <a:xfrm>
            <a:off x="548640" y="2286000"/>
            <a:ext cx="5486400" cy="3154680"/>
          </a:xfrm>
          <a:prstGeom prst="rect">
            <a:avLst/>
          </a:prstGeom>
          <a:noFill/>
        </p:spPr>
        <p:txBody>
          <a:bodyPr wrap="square" anchor="t" lIns="0" rIns="0" tIns="0" bIns="0">
            <a:noAutofit/>
          </a:bodyPr>
          <a:lstStyle/>
          <a:p>
            <a:pPr algn="l" marL="274320" indent="-274320">
              <a:spcAft>
                <a:spcPts val="800"/>
              </a:spcAft>
              <a:buChar char="•"/>
            </a:pPr>
            <a:r>
              <a:rPr sz="1500" b="1">
                <a:solidFill>
                  <a:srgbClr val="52514E"/>
                </a:solidFill>
              </a:rPr>
              <a:t>Direction: </a:t>
            </a:r>
            <a:r>
              <a:rPr sz="1500" b="0">
                <a:solidFill>
                  <a:srgbClr val="52514E"/>
                </a:solidFill>
              </a:rPr>
              <a:t>r = mean activation on harmful instructions − mean on harmless ones, per layer and token</a:t>
            </a:r>
          </a:p>
          <a:p>
            <a:pPr algn="l" marL="274320" indent="-274320">
              <a:spcAft>
                <a:spcPts val="800"/>
              </a:spcAft>
              <a:buChar char="•"/>
            </a:pPr>
            <a:r>
              <a:rPr sz="1500" b="1">
                <a:solidFill>
                  <a:srgbClr val="52514E"/>
                </a:solidFill>
              </a:rPr>
              <a:t>Remove it: </a:t>
            </a:r>
            <a:r>
              <a:rPr sz="1500" b="0">
                <a:solidFill>
                  <a:srgbClr val="52514E"/>
                </a:solidFill>
              </a:rPr>
              <a:t>x′ = x − (x·u)u with u = r/|r|, at every layer and token</a:t>
            </a:r>
          </a:p>
          <a:p>
            <a:pPr algn="l" marL="274320" indent="-274320">
              <a:spcAft>
                <a:spcPts val="800"/>
              </a:spcAft>
              <a:buChar char="•"/>
            </a:pPr>
            <a:r>
              <a:rPr sz="1500" b="1">
                <a:solidFill>
                  <a:srgbClr val="52514E"/>
                </a:solidFill>
              </a:rPr>
              <a:t>Add it: </a:t>
            </a:r>
            <a:r>
              <a:rPr sz="1500" b="0">
                <a:solidFill>
                  <a:srgbClr val="52514E"/>
                </a:solidFill>
              </a:rPr>
              <a:t>x′ = x + r, at the layer it came from</a:t>
            </a:r>
          </a:p>
          <a:p>
            <a:pPr algn="l" marL="274320" indent="-274320">
              <a:spcAft>
                <a:spcPts val="800"/>
              </a:spcAft>
              <a:buChar char="•"/>
            </a:pPr>
            <a:r>
              <a:rPr sz="1500" b="1">
                <a:solidFill>
                  <a:srgbClr val="52514E"/>
                </a:solidFill>
              </a:rPr>
              <a:t>Pick it: </a:t>
            </a:r>
            <a:r>
              <a:rPr sz="1500" b="0">
                <a:solidFill>
                  <a:srgbClr val="52514E"/>
                </a:solidFill>
              </a:rPr>
              <a:t>lowest refusal when removed, provided adding it causes refusal and removing it leaves harmless outputs nearly unchanged (KL &lt; 0.1)</a:t>
            </a:r>
          </a:p>
          <a:p>
            <a:pPr algn="l" marL="274320" indent="-274320">
              <a:spcAft>
                <a:spcPts val="800"/>
              </a:spcAft>
              <a:buChar char="•"/>
            </a:pPr>
            <a:r>
              <a:rPr sz="1500" b="1">
                <a:solidFill>
                  <a:srgbClr val="52514E"/>
                </a:solidFill>
              </a:rPr>
              <a:t>Data: </a:t>
            </a:r>
            <a:r>
              <a:rPr sz="1500" b="0">
                <a:solidFill>
                  <a:srgbClr val="52514E"/>
                </a:solidFill>
              </a:rPr>
              <a:t>128 training and 32 validation prompts each; harmful from AdvBench, MaliciousInstruct, TDC2023 and HarmBench, harmless from Alpaca</a:t>
            </a:r>
          </a:p>
        </p:txBody>
      </p:sp>
      <p:sp>
        <p:nvSpPr>
          <p:cNvPr id="7" name="Figure 1 placeholder"/>
          <p:cNvSpPr/>
          <p:nvPr/>
        </p:nvSpPr>
        <p:spPr>
          <a:xfrm>
            <a:off x="6400800" y="18288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1 from the paper</a:t>
            </a:r>
          </a:p>
          <a:p>
            <a:pPr algn="ctr">
              <a:spcAft>
                <a:spcPts val="600"/>
              </a:spcAft>
            </a:pPr>
            <a:r>
              <a:rPr sz="1400" b="0">
                <a:solidFill>
                  <a:srgbClr val="898781"/>
                </a:solidFill>
              </a:rPr>
              <a:t>Removing r lowers refusal and raises unsafe answers in all 13 models (100 JailbreakBench prompts)</a:t>
            </a:r>
          </a:p>
        </p:txBody>
      </p:sp>
      <p:sp>
        <p:nvSpPr>
          <p:cNvPr id="8" name="Figure 3 placeholder"/>
          <p:cNvSpPr/>
          <p:nvPr/>
        </p:nvSpPr>
        <p:spPr>
          <a:xfrm>
            <a:off x="6400800" y="36576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3 from the paper</a:t>
            </a:r>
          </a:p>
          <a:p>
            <a:pPr algn="ctr">
              <a:spcAft>
                <a:spcPts val="600"/>
              </a:spcAft>
            </a:pPr>
            <a:r>
              <a:rPr sz="1400" b="0">
                <a:solidFill>
                  <a:srgbClr val="898781"/>
                </a:solidFill>
              </a:rPr>
              <a:t>Adding r makes the models refuse 100 harmless Alpaca prompts</a:t>
            </a:r>
          </a:p>
        </p:txBody>
      </p:sp>
      <p:sp>
        <p:nvSpPr>
          <p:cNvPr id="9" name="TextBox 8"/>
          <p:cNvSpPr txBox="1"/>
          <p:nvPr/>
        </p:nvSpPr>
        <p:spPr>
          <a:xfrm>
            <a:off x="548640" y="5623560"/>
            <a:ext cx="11094415" cy="548640"/>
          </a:xfrm>
          <a:prstGeom prst="rect">
            <a:avLst/>
          </a:prstGeom>
          <a:noFill/>
        </p:spPr>
        <p:txBody>
          <a:bodyPr wrap="square" anchor="t" lIns="0" rIns="0" tIns="0" bIns="0">
            <a:noAutofit/>
          </a:bodyPr>
          <a:lstStyle/>
          <a:p>
            <a:pPr algn="l">
              <a:spcAft>
                <a:spcPts val="0"/>
              </a:spcAft>
            </a:pPr>
            <a:r>
              <a:rPr sz="1400" b="0">
                <a:solidFill>
                  <a:srgbClr val="52514E"/>
                </a:solidFill>
              </a:rPr>
              <a:t>13 models: Qwen Chat 1.8B–72B · Yi Chat 6B, 34B · Gemma IT 2B, 7B · Llama-2 Chat 7B–70B · Llama-3 Instruct 8B, 70B</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40</a:t>
            </a:fld>
            <a:endParaRPr lang="en-US" sz="1000">
              <a:solidFill>
                <a:srgbClr val="898781"/>
              </a:solidFill>
            </a:endParaRPr>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41</a:t>
            </a:fld>
          </a:p>
        </p:txBody>
      </p:sp>
      <p:pic>
        <p:nvPicPr>
          <p:cNvPr id="4" name="slide_headline_b.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42</a:t>
            </a:fld>
          </a:p>
        </p:txBody>
      </p:sp>
      <p:pic>
        <p:nvPicPr>
          <p:cNvPr id="4" name="slide_headline_c.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43</a:t>
            </a:fld>
          </a:p>
        </p:txBody>
      </p:sp>
      <p:pic>
        <p:nvPicPr>
          <p:cNvPr id="4" name="slide_headline_academic.png" descr="Did-the-task rates with 95% intervals and McNemar significance brackets: Democrat vs Republican and own side vs other side, for Qwen2.5-7B and Llama-3.1-8B."/>
          <p:cNvPicPr>
            <a:picLocks noChangeAspect="1"/>
          </p:cNvPicPr>
          <p:nvPr/>
        </p:nvPicPr>
        <p:blipFill>
          <a:blip r:embed="rId3"/>
          <a:stretch>
            <a:fillRect/>
          </a:stretch>
        </p:blipFill>
        <p:spPr>
          <a:xfrm>
            <a:off x="615682" y="1371600"/>
            <a:ext cx="10960330" cy="4465320"/>
          </a:xfrm>
          <a:prstGeom prst="rect">
            <a:avLst/>
          </a:prstGeom>
        </p:spPr>
      </p:pic>
      <p:sp>
        <p:nvSpPr>
          <p:cNvPr id="5" name="Caption"/>
          <p:cNvSpPr txBox="1"/>
          <p:nvPr/>
        </p:nvSpPr>
        <p:spPr>
          <a:xfrm>
            <a:off x="615682" y="6019800"/>
            <a:ext cx="10960330"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Implications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44</a:t>
            </a:fld>
            <a:endParaRPr lang="en-US" sz="1000">
              <a:solidFill>
                <a:srgbClr val="898781"/>
              </a:solidFill>
            </a:endParaRPr>
          </a:p>
        </p:txBody>
      </p:sp>
      <p:sp>
        <p:nvSpPr>
          <p:cNvPr id="4" name="Point 1"/>
          <p:cNvSpPr txBox="1"/>
          <p:nvPr/>
        </p:nvSpPr>
        <p:spPr>
          <a:xfrm>
            <a:off x="548640" y="1645920"/>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Models don’t tend to show party-based bias. </a:t>
            </a:r>
            <a:r>
              <a:rPr sz="2100" b="0">
                <a:solidFill>
                  <a:srgbClr val="52514E"/>
                </a:solidFill>
              </a:rPr>
              <a:t>Democrats and Republicans get about the same amount of help.</a:t>
            </a:r>
          </a:p>
        </p:txBody>
      </p:sp>
      <p:sp>
        <p:nvSpPr>
          <p:cNvPr id="5" name="Point 2"/>
          <p:cNvSpPr txBox="1"/>
          <p:nvPr/>
        </p:nvSpPr>
        <p:spPr>
          <a:xfrm>
            <a:off x="548640" y="2724912"/>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Interestingly, they do favor the asker’s own side. </a:t>
            </a:r>
            <a:r>
              <a:rPr sz="2100" b="0">
                <a:solidFill>
                  <a:srgbClr val="52514E"/>
                </a:solidFill>
              </a:rPr>
              <a:t>They help more when the claim belongs to the asker’s own party, like a Republican asking to prove 2020 was stolen.</a:t>
            </a:r>
          </a:p>
        </p:txBody>
      </p:sp>
      <p:sp>
        <p:nvSpPr>
          <p:cNvPr id="6" name="Point 3"/>
          <p:cNvSpPr txBox="1"/>
          <p:nvPr/>
        </p:nvSpPr>
        <p:spPr>
          <a:xfrm>
            <a:off x="548640" y="3803904"/>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That is potentially concerning. </a:t>
            </a:r>
            <a:r>
              <a:rPr sz="2100" b="0">
                <a:solidFill>
                  <a:srgbClr val="52514E"/>
                </a:solidFill>
              </a:rPr>
              <a:t>It looks like sycophancy: the model affirms the user’s own bias, which builds an echo chamber.</a:t>
            </a:r>
          </a:p>
        </p:txBody>
      </p:sp>
      <p:sp>
        <p:nvSpPr>
          <p:cNvPr id="7" name="Point 4"/>
          <p:cNvSpPr txBox="1"/>
          <p:nvPr/>
        </p:nvSpPr>
        <p:spPr>
          <a:xfrm>
            <a:off x="548640" y="4882896"/>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We don’t yet know why. </a:t>
            </a:r>
            <a:r>
              <a:rPr sz="2100" b="0">
                <a:solidFill>
                  <a:srgbClr val="52514E"/>
                </a:solidFill>
              </a:rPr>
              <a:t>It may be sycophancy, or a mismatched request may simply look suspicious to the model.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Amplifying refusal closes Llama’s gap, but not Qwen’s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45</a:t>
            </a:fld>
          </a:p>
        </p:txBody>
      </p:sp>
      <p:pic>
        <p:nvPicPr>
          <p:cNvPr id="4" name="slide_shift_dose_a.png" descr="Did the task, Claude judge: own side, own side pushed 1× along the refusal direction, and other side, for Qwen2.5-7B and Llama-3.1-8B."/>
          <p:cNvPicPr>
            <a:picLocks noChangeAspect="1"/>
          </p:cNvPicPr>
          <p:nvPr/>
        </p:nvPicPr>
        <p:blipFill>
          <a:blip r:embed="rId3"/>
          <a:stretch>
            <a:fillRect/>
          </a:stretch>
        </p:blipFill>
        <p:spPr>
          <a:xfrm>
            <a:off x="548640" y="1447012"/>
            <a:ext cx="11094415" cy="4314494"/>
          </a:xfrm>
          <a:prstGeom prst="rect">
            <a:avLst/>
          </a:prstGeom>
        </p:spPr>
      </p:pic>
      <p:sp>
        <p:nvSpPr>
          <p:cNvPr id="5" name="Caption"/>
          <p:cNvSpPr txBox="1"/>
          <p:nvPr/>
        </p:nvSpPr>
        <p:spPr>
          <a:xfrm>
            <a:off x="548640" y="5944387"/>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Pushing by exactly the gap closes 70% of Llama’s gap but only 26% of Qwen’s. 2× closes Llama’s fully.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Amplifying refusal closes Llama’s gap, but not Qwen’s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46</a:t>
            </a:fld>
          </a:p>
        </p:txBody>
      </p:sp>
      <p:pic>
        <p:nvPicPr>
          <p:cNvPr id="4" name="slide_shift_dose_b.png" descr="Share of the own-side gap closed: Llama 1× 70%, Llama 2× 130%, Qwen 1× 26%, random-direction control 0%."/>
          <p:cNvPicPr>
            <a:picLocks noChangeAspect="1"/>
          </p:cNvPicPr>
          <p:nvPr/>
        </p:nvPicPr>
        <p:blipFill>
          <a:blip r:embed="rId3"/>
          <a:stretch>
            <a:fillRect/>
          </a:stretch>
        </p:blipFill>
        <p:spPr>
          <a:xfrm>
            <a:off x="548640" y="1755190"/>
            <a:ext cx="11094415" cy="3698138"/>
          </a:xfrm>
          <a:prstGeom prst="rect">
            <a:avLst/>
          </a:prstGeom>
        </p:spPr>
      </p:pic>
      <p:sp>
        <p:nvSpPr>
          <p:cNvPr id="5" name="Caption"/>
          <p:cNvSpPr txBox="1"/>
          <p:nvPr/>
        </p:nvSpPr>
        <p:spPr>
          <a:xfrm>
            <a:off x="548640" y="5636209"/>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Llama: 1× closes 70% of the gap, 2× all of it. Qwen: 1× closes 26%. A random direction closes none.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Amplifying refusal closes Llama’s gap, but not Qwen’s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47</a:t>
            </a:fld>
          </a:p>
        </p:txBody>
      </p:sp>
      <p:pic>
        <p:nvPicPr>
          <p:cNvPr id="4" name="slide_shift_dose.png" descr="Did the task for own-side prompts shifted along the refusal direction by 0 to 10 times the measured gap, against the other-side level, with a random-direction control."/>
          <p:cNvPicPr>
            <a:picLocks noChangeAspect="1"/>
          </p:cNvPicPr>
          <p:nvPr/>
        </p:nvPicPr>
        <p:blipFill>
          <a:blip r:embed="rId4"/>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8AABAF8-9CE0-B243-B7F1-47EF2A676438}">
  <we:reference id="WA200010001" version="1.0.0.1" store="Omex" storeType="OMEX"/>
  <we:alternateReferences>
    <we:reference id="WA200010001" version="1.0.0.1" store="WA200010001" storeType="OMEX"/>
  </we:alternateReferences>
  <we:properties>
    <we:property name="claude.fileId" value="&quot;6b5b107d-5d3f-4ef7-9d26-6d335a60727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TotalTime>
  <Words>4089</Words>
  <Application>Microsoft Macintosh PowerPoint</Application>
  <PresentationFormat>Widescreen</PresentationFormat>
  <Paragraphs>285</Paragraphs>
  <Slides>27</Slides>
  <Notes>27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27</vt:i4>
      </vt:variant>
    </vt:vector>
  </HeadingPairs>
  <TitlesOfParts>
    <vt:vector size="29" baseType="lpstr">
      <vt:lpstr>Arial</vt:lpstr>
      <vt:lpstr>Office Theme</vt:lpstr>
      <vt:lpstr>AI and the democratic process - does model refusal direction change based on partisanship? </vt:lpstr>
      <vt:lpstr>Motivation</vt:lpstr>
      <vt:lpstr>Motivation</vt:lpstr>
      <vt:lpstr>What we’ll cover</vt:lpstr>
      <vt:lpstr>Prior work: refusal is mediated by a single direction</vt:lpstr>
      <vt:lpstr>Our question: is that direction party-blind?</vt:lpstr>
      <vt:lpstr>What we did: from prompts to causal tests</vt:lpstr>
      <vt:lpstr>920 prompts where only the asker changes</vt:lpstr>
      <vt:lpstr>The paper’s safety judge flags none of these replies</vt:lpstr>
      <vt:lpstr>What we found</vt:lpstr>
      <vt:lpstr>No party gap: the models favor the asker’s own side</vt:lpstr>
      <vt:lpstr>A Lakers fan is treated like a partisan</vt:lpstr>
      <vt:lpstr>One refusal direction: layer 19 in Qwen, 13 in Llama</vt:lpstr>
      <vt:lpstr>Who’s asking registers in the first layers</vt:lpstr>
      <vt:lpstr>Whose claim it is switches on mid-network</vt:lpstr>
      <vt:lpstr>Removing the direction mostly erases the gap</vt:lpstr>
      <vt:lpstr>In Llama the gap runs through refusal; in Qwen, mostly not</vt:lpstr>
      <vt:lpstr>Qwen has a second direction for whose claim it is</vt:lpstr>
      <vt:lpstr>Non-partisan, yes. Serving democracy? Less clear</vt:lpstr>
      <vt:lpstr>In Chinese, Qwen censors more, and not through refusal</vt:lpstr>
      <vt:lpstr>Takeaways</vt:lpstr>
      <vt:lpstr>Next steps</vt:lpstr>
      <vt:lpstr>Backup slides</vt:lpstr>
      <vt:lpstr>Request format matters more than severity</vt:lpstr>
      <vt:lpstr>How the design answered the TA’s feedback</vt:lpstr>
      <vt:lpstr>Why the constant shift, not “set to the mean”</vt:lpstr>
      <vt:lpstr>The direction tracks refusal, and it’s party-blind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Brown, Michael</cp:lastModifiedBy>
  <cp:revision>2</cp:revision>
  <dcterms:created xsi:type="dcterms:W3CDTF">2013-01-27T09:14:16Z</dcterms:created>
  <dcterms:modified xsi:type="dcterms:W3CDTF">2026-10-29T02:51:50Z</dcterms:modified>
  <cp:category/>
</cp:coreProperties>
</file>