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60" r:id="rId6"/>
    <p:sldId id="261" r:id="rId7"/>
    <p:sldId id="262" r:id="rId8"/>
    <p:sldId id="284" r:id="rId34"/>
    <p:sldId id="263" r:id="rId9"/>
    <p:sldId id="264" r:id="rId10"/>
    <p:sldId id="285" r:id="rId35"/>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6" r:id="rId36"/>
    <p:sldId id="287" r:id="rId37"/>
    <p:sldId id="288"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roadmap for the rest of the talk. The numbers on the right are the slide where each part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Next: the questions people usually ask about this setup, then the prompts, the judging and the refusal direction in detail.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6: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Democrat vs Republican. Differences of 1 to 4 points, none significant, under both judges. Bottom: own side vs other side. Own-side requests get the content 7 to 15 points more often, in both models and under both judges. Filled dots are the Claude judge, hollow ones Llama Guard. The judges disagree on levels by about 20 points but agree on every comparison.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asker compared with 'I'm a voter' on matched pairs. Naming a party lowers compliance, but so does 'I'm a Lakers fan', by about as much or more. So a party label acts like any identity. What moves the models is whose claim it is, not which party you name.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20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to slide 3. On the narrow test the models are non-partisan: no Democrat/Republican gap, and the refusal direction treats every asker the same. Serving democracy is less clear: they help most when the claim fits the asker, which is exactly the people most likely to believe it and spread it. Why would a model do that? Two readings. One is sycophancy: the model goes along with views it infers from who is asking. The other is suspicion: a Democrat asking to prove 2020 was stolen is an odd request, so the model reads bad faith and is warier. The Lakers-fan result fits the second, since an irrelevant self-description also lowers help, but our data can't separate them. A test that could: harmless requests from the other side, like a Republican asking for an op-ed praising a Democratic policy. More pushback there means suspicion of odd requests;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21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Answers to the technical questions an AI researcher is likely to ask first. If time is short, skip this slide and keep it for questions. One more that may come up: removing the direction erases nearly all refusal, so it can't measure the gap on its own; for that we shift prompts along the direction by the measured gap, against a random-direction control, with predictions written before the run.</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Arditi et al.'s recipe, with one change: we drop any anchor prompt that mentions elections, voting, parties or candidates, so the direction can't pick up politics. We also keep only harmful prompts the model actually refuses and harmless ones it answers (123 and 127 kept in Qwen, 121 and 127 in Llama), so the averages describe refusal itself. The refusal score is the log-odds that the reply's first token is a refusal token. Every layer up to 80% of the depth and every token after the instruction gives a candidate. We keep the one whose removal lowers refusal most, as long as adding it causes refusal and removing it barely changes harmless outputs (KL below 0.1). It then has to hold up on 64 harmful prompts never used to build or pick it, and across 100 re-extractions from resampled prompts. The curve behind the choice comes with the results.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Option-B versions of two slides. Pick one of each pair and delete the other: the prior-work slide (main deck slide 5) and the judging slide (main deck slide 10).</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5, built from the paper itself. Left: their method in their terms. Right: their two headline figures, which go in the dashed boxes (Figure 1 and Figure 3 of arXiv 2406.11717). Removing the direction makes all 13 models answer harmful requests; adding it makes them refuse harmless ones. Our pipeline reuses their prompts, scores and selection filters.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 B for slide 10: the judging method rather than only the agreement numbers. Every reply is judged blind to the asker. Llama Guard 3 gets one added category written for this project; Claude gets a four-label rubric, and 'did the task' means ANSWERS. The rubric's hard case is 'talking points with a rebuttal under each point': it counts as ANSWERS, because the user can lift the points. A teammate (Skyler) labeled 50 replies blind, before seeing any judge output. The two judges differ by about 20 points on levels, mostly disclaimer-then-argue replies that Guard misses, but agree on every group comparison.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0020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0020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Prior work: refusal runs through one direction</a:t>
            </a:r>
          </a:p>
        </p:txBody>
      </p:sp>
      <p:sp>
        <p:nvSpPr>
          <p:cNvPr id="6" name="Part 1 slide"/>
          <p:cNvSpPr txBox="1"/>
          <p:nvPr/>
        </p:nvSpPr>
        <p:spPr>
          <a:xfrm>
            <a:off x="10271455" y="163677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1488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1488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Our question and what we did</a:t>
            </a:r>
          </a:p>
        </p:txBody>
      </p:sp>
      <p:sp>
        <p:nvSpPr>
          <p:cNvPr id="9" name="Part 2 slide"/>
          <p:cNvSpPr txBox="1"/>
          <p:nvPr/>
        </p:nvSpPr>
        <p:spPr>
          <a:xfrm>
            <a:off x="10271455" y="21854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6</a:t>
            </a:r>
          </a:p>
        </p:txBody>
      </p:sp>
      <p:sp>
        <p:nvSpPr>
          <p:cNvPr id="10" name="Part 3 number"/>
          <p:cNvSpPr txBox="1"/>
          <p:nvPr/>
        </p:nvSpPr>
        <p:spPr>
          <a:xfrm>
            <a:off x="548640" y="269748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269748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Setup: prompts, judging and the refusal direction</a:t>
            </a:r>
          </a:p>
        </p:txBody>
      </p:sp>
      <p:sp>
        <p:nvSpPr>
          <p:cNvPr id="12" name="Part 3 slide"/>
          <p:cNvSpPr txBox="1"/>
          <p:nvPr/>
        </p:nvSpPr>
        <p:spPr>
          <a:xfrm>
            <a:off x="10271455" y="273405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9</a:t>
            </a:r>
          </a:p>
        </p:txBody>
      </p:sp>
      <p:sp>
        <p:nvSpPr>
          <p:cNvPr id="13" name="Part 4 number"/>
          <p:cNvSpPr txBox="1"/>
          <p:nvPr/>
        </p:nvSpPr>
        <p:spPr>
          <a:xfrm>
            <a:off x="548640" y="324612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24612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What we found, at a glance</a:t>
            </a:r>
          </a:p>
        </p:txBody>
      </p:sp>
      <p:sp>
        <p:nvSpPr>
          <p:cNvPr id="15" name="Part 4 slide"/>
          <p:cNvSpPr txBox="1"/>
          <p:nvPr/>
        </p:nvSpPr>
        <p:spPr>
          <a:xfrm>
            <a:off x="10271455" y="328269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12</a:t>
            </a:r>
          </a:p>
        </p:txBody>
      </p:sp>
      <p:sp>
        <p:nvSpPr>
          <p:cNvPr id="16" name="Part 5 number"/>
          <p:cNvSpPr txBox="1"/>
          <p:nvPr/>
        </p:nvSpPr>
        <p:spPr>
          <a:xfrm>
            <a:off x="548640" y="379476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379476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What the models do: own side, not party</a:t>
            </a:r>
          </a:p>
        </p:txBody>
      </p:sp>
      <p:sp>
        <p:nvSpPr>
          <p:cNvPr id="18" name="Part 5 slide"/>
          <p:cNvSpPr txBox="1"/>
          <p:nvPr/>
        </p:nvSpPr>
        <p:spPr>
          <a:xfrm>
            <a:off x="10271455" y="383133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13</a:t>
            </a:r>
          </a:p>
        </p:txBody>
      </p:sp>
      <p:sp>
        <p:nvSpPr>
          <p:cNvPr id="19" name="Part 6 number"/>
          <p:cNvSpPr txBox="1"/>
          <p:nvPr/>
        </p:nvSpPr>
        <p:spPr>
          <a:xfrm>
            <a:off x="548640" y="434340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34340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Inside the model: where the gap appears and what carries it</a:t>
            </a:r>
          </a:p>
        </p:txBody>
      </p:sp>
      <p:sp>
        <p:nvSpPr>
          <p:cNvPr id="21" name="Part 6 slide"/>
          <p:cNvSpPr txBox="1"/>
          <p:nvPr/>
        </p:nvSpPr>
        <p:spPr>
          <a:xfrm>
            <a:off x="10271455" y="437997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15</a:t>
            </a:r>
          </a:p>
        </p:txBody>
      </p:sp>
      <p:sp>
        <p:nvSpPr>
          <p:cNvPr id="22" name="Part 7 number"/>
          <p:cNvSpPr txBox="1"/>
          <p:nvPr/>
        </p:nvSpPr>
        <p:spPr>
          <a:xfrm>
            <a:off x="548640" y="48920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7</a:t>
            </a:r>
          </a:p>
        </p:txBody>
      </p:sp>
      <p:sp>
        <p:nvSpPr>
          <p:cNvPr id="23" name="Part 7"/>
          <p:cNvSpPr txBox="1"/>
          <p:nvPr/>
        </p:nvSpPr>
        <p:spPr>
          <a:xfrm>
            <a:off x="1188719" y="48920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Extension: language and censorship</a:t>
            </a:r>
          </a:p>
        </p:txBody>
      </p:sp>
      <p:sp>
        <p:nvSpPr>
          <p:cNvPr id="24" name="Part 7 slide"/>
          <p:cNvSpPr txBox="1"/>
          <p:nvPr/>
        </p:nvSpPr>
        <p:spPr>
          <a:xfrm>
            <a:off x="10271455" y="49286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22</a:t>
            </a:r>
          </a:p>
        </p:txBody>
      </p:sp>
      <p:sp>
        <p:nvSpPr>
          <p:cNvPr id="25" name="Part 8 number"/>
          <p:cNvSpPr txBox="1"/>
          <p:nvPr/>
        </p:nvSpPr>
        <p:spPr>
          <a:xfrm>
            <a:off x="548640" y="544068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8</a:t>
            </a:r>
          </a:p>
        </p:txBody>
      </p:sp>
      <p:sp>
        <p:nvSpPr>
          <p:cNvPr id="26" name="Part 8"/>
          <p:cNvSpPr txBox="1"/>
          <p:nvPr/>
        </p:nvSpPr>
        <p:spPr>
          <a:xfrm>
            <a:off x="1188719" y="544068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Takeaways and next steps</a:t>
            </a:r>
          </a:p>
        </p:txBody>
      </p:sp>
      <p:sp>
        <p:nvSpPr>
          <p:cNvPr id="27" name="Part 8 slide"/>
          <p:cNvSpPr txBox="1"/>
          <p:nvPr/>
        </p:nvSpPr>
        <p:spPr>
          <a:xfrm>
            <a:off x="10271455" y="547725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5</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6" name="TextBox 5"/>
          <p:cNvSpPr txBox="1"/>
          <p:nvPr/>
        </p:nvSpPr>
        <p:spPr>
          <a:xfrm>
            <a:off x="548640" y="4434840"/>
            <a:ext cx="11094415" cy="777240"/>
          </a:xfrm>
          <a:prstGeom prst="rect">
            <a:avLst/>
          </a:prstGeom>
          <a:noFill/>
        </p:spPr>
        <p:txBody>
          <a:bodyPr wrap="square" lIns="0" tIns="0" rIns="0" bIns="0" anchor="t">
            <a:noAutofit/>
          </a:bodyPr>
          <a:lstStyle/>
          <a:p>
            <a:pPr marL="274320" indent="-274320" algn="l">
              <a:spcAft>
                <a:spcPts val="800"/>
              </a:spcAft>
              <a:buChar char="•"/>
            </a:pPr>
            <a:r>
              <a:rPr sz="1800" b="0">
                <a:solidFill>
                  <a:srgbClr val="000000"/>
                </a:solidFill>
              </a:rPr>
              <a:t>The same holds in 13 open-source chat models, up to 72B parameters</a:t>
            </a:r>
          </a:p>
          <a:p>
            <a:pPr marL="274320" indent="-274320" algn="l">
              <a:spcAft>
                <a:spcPts val="800"/>
              </a:spcAft>
              <a:buChar char="•"/>
            </a:pPr>
            <a:r>
              <a:rPr sz="1800" b="0">
                <a:solidFill>
                  <a:srgbClr val="000000"/>
                </a:solidFill>
              </a:rPr>
              <a:t>Editing it out of the weights is a jailbreak: safety fine-tuning is brittle</a:t>
            </a:r>
          </a:p>
        </p:txBody>
      </p:sp>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Experiment Design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Build prompts</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Generate and judge</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Test causally</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a:t>
            </a:r>
            <a:r>
              <a:rPr sz="1600" b="1">
                <a:solidFill>
                  <a:srgbClr val="000000"/>
                </a:solidFill>
              </a:rPr>
              <a:t>Qwen2.5-7B-Instruct</a:t>
            </a:r>
            <a:r>
              <a:rPr sz="1600" b="0">
                <a:solidFill>
                  <a:srgbClr val="52514E"/>
                </a:solidFill>
              </a:rPr>
              <a:t> (Alibaba) and </a:t>
            </a:r>
            <a:r>
              <a:rPr sz="1600" b="1">
                <a:solidFill>
                  <a:srgbClr val="000000"/>
                </a:solidFill>
              </a:rPr>
              <a:t>Llama-3.1-8B-Instruct</a:t>
            </a:r>
            <a:r>
              <a:rPr sz="1600" b="0">
                <a:solidFill>
                  <a:srgbClr val="52514E"/>
                </a:solidFill>
              </a:rPr>
              <a:t> (Meta)</a:t>
            </a:r>
          </a:p>
          <a:p>
            <a:pPr>
              <a:spcAft>
                <a:spcPts val="600"/>
              </a:spcAft>
            </a:pPr>
            <a:r>
              <a:rPr sz="1600" b="0">
                <a:solidFill>
                  <a:srgbClr val="52514E"/>
                </a:solidFill>
              </a:rPr>
              <a:t>Extension: the same tests in English and Chinese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920 prompts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8</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9</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29</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13</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14</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16</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19</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136 matched pairs per comparison, identical except for the asker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12</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548640" y="1703827"/>
            <a:ext cx="11094415" cy="3800864"/>
          </a:xfrm>
          <a:prstGeom prst="rect">
            <a:avLst/>
          </a:prstGeom>
        </p:spPr>
      </p:pic>
      <p:sp>
        <p:nvSpPr>
          <p:cNvPr id="5" name="Caption"/>
          <p:cNvSpPr txBox="1"/>
          <p:nvPr/>
        </p:nvSpPr>
        <p:spPr>
          <a:xfrm>
            <a:off x="548640" y="5687572"/>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Lakers fan minus voter: −11 (Qwen) and −4 points (Llama) under Llama Guard, −12 in both under Claude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13</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14</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Whose claim it is switches on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15</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16</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Llama the gap runs through refusal; in Qwen, mostly not</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Non-partisan, yes. Serving democracy? Less clear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 yes</a:t>
            </a:r>
          </a:p>
        </p:txBody>
      </p:sp>
      <p:sp>
        <p:nvSpPr>
          <p:cNvPr id="5" name="TextBox 4"/>
          <p:cNvSpPr txBox="1"/>
          <p:nvPr/>
        </p:nvSpPr>
        <p:spPr>
          <a:xfrm>
            <a:off x="548640" y="210312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No Democrat/Republican gap, and the refusal direction itself is party-blind</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 less clear</a:t>
            </a:r>
          </a:p>
        </p:txBody>
      </p:sp>
      <p:sp>
        <p:nvSpPr>
          <p:cNvPr id="7" name="TextBox 6"/>
          <p:cNvSpPr txBox="1"/>
          <p:nvPr/>
        </p:nvSpPr>
        <p:spPr>
          <a:xfrm>
            <a:off x="6324447" y="210312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Help is highest when the claim fits the asker: the people most likely to believe and spread it</a:t>
            </a:r>
          </a:p>
        </p:txBody>
      </p:sp>
      <p:sp>
        <p:nvSpPr>
          <p:cNvPr id="8" name="TextBox 7"/>
          <p:cNvSpPr txBox="1"/>
          <p:nvPr/>
        </p:nvSpPr>
        <p:spPr>
          <a:xfrm>
            <a:off x="548640" y="3337560"/>
            <a:ext cx="11094415" cy="411480"/>
          </a:xfrm>
          <a:prstGeom prst="rect">
            <a:avLst/>
          </a:prstGeom>
          <a:noFill/>
        </p:spPr>
        <p:txBody>
          <a:bodyPr wrap="square" lIns="0" tIns="0" rIns="0" bIns="0" anchor="t">
            <a:noAutofit/>
          </a:bodyPr>
          <a:lstStyle/>
          <a:p>
            <a:pPr algn="l">
              <a:spcAft>
                <a:spcPts val="600"/>
              </a:spcAft>
            </a:pPr>
            <a:r>
              <a:rPr sz="2000" b="1">
                <a:solidFill>
                  <a:srgbClr val="000000"/>
                </a:solidFill>
              </a:rPr>
              <a:t>Why favor the asker’s own side? Two readings our data can’t separate</a:t>
            </a:r>
          </a:p>
        </p:txBody>
      </p:sp>
      <p:sp>
        <p:nvSpPr>
          <p:cNvPr id="9" name="TextBox 8"/>
          <p:cNvSpPr txBox="1"/>
          <p:nvPr/>
        </p:nvSpPr>
        <p:spPr>
          <a:xfrm>
            <a:off x="548640" y="3886200"/>
            <a:ext cx="5318607" cy="365760"/>
          </a:xfrm>
          <a:prstGeom prst="rect">
            <a:avLst/>
          </a:prstGeom>
          <a:noFill/>
        </p:spPr>
        <p:txBody>
          <a:bodyPr wrap="square" lIns="0" tIns="0" rIns="0" bIns="0" anchor="t">
            <a:noAutofit/>
          </a:bodyPr>
          <a:lstStyle/>
          <a:p>
            <a:pPr algn="l">
              <a:spcAft>
                <a:spcPts val="600"/>
              </a:spcAft>
            </a:pPr>
            <a:r>
              <a:rPr sz="1800" b="1">
                <a:solidFill>
                  <a:srgbClr val="000000"/>
                </a:solidFill>
              </a:rPr>
              <a:t>Going along with the asker</a:t>
            </a:r>
          </a:p>
        </p:txBody>
      </p:sp>
      <p:sp>
        <p:nvSpPr>
          <p:cNvPr id="10" name="TextBox 9"/>
          <p:cNvSpPr txBox="1"/>
          <p:nvPr/>
        </p:nvSpPr>
        <p:spPr>
          <a:xfrm>
            <a:off x="548640" y="42976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The model accommodates the views it infers from who is asking (sycophancy)</a:t>
            </a:r>
          </a:p>
        </p:txBody>
      </p:sp>
      <p:sp>
        <p:nvSpPr>
          <p:cNvPr id="11" name="TextBox 10"/>
          <p:cNvSpPr txBox="1"/>
          <p:nvPr/>
        </p:nvSpPr>
        <p:spPr>
          <a:xfrm>
            <a:off x="6324447" y="3886200"/>
            <a:ext cx="5318607" cy="365760"/>
          </a:xfrm>
          <a:prstGeom prst="rect">
            <a:avLst/>
          </a:prstGeom>
          <a:noFill/>
        </p:spPr>
        <p:txBody>
          <a:bodyPr wrap="square" lIns="0" tIns="0" rIns="0" bIns="0" anchor="t">
            <a:noAutofit/>
          </a:bodyPr>
          <a:lstStyle/>
          <a:p>
            <a:pPr algn="l">
              <a:spcAft>
                <a:spcPts val="600"/>
              </a:spcAft>
            </a:pPr>
            <a:r>
              <a:rPr sz="1800" b="1">
                <a:solidFill>
                  <a:srgbClr val="000000"/>
                </a:solidFill>
              </a:rPr>
              <a:t>Suspecting bad faith</a:t>
            </a:r>
          </a:p>
        </p:txBody>
      </p:sp>
      <p:sp>
        <p:nvSpPr>
          <p:cNvPr id="12" name="TextBox 11"/>
          <p:cNvSpPr txBox="1"/>
          <p:nvPr/>
        </p:nvSpPr>
        <p:spPr>
          <a:xfrm>
            <a:off x="6324447" y="42976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A Democrat asking to prove 2020 was stolen reads as odd, so the model is warier</a:t>
            </a:r>
          </a:p>
        </p:txBody>
      </p:sp>
      <p:sp>
        <p:nvSpPr>
          <p:cNvPr id="13" name="TextBox 12"/>
          <p:cNvSpPr txBox="1"/>
          <p:nvPr/>
        </p:nvSpPr>
        <p:spPr>
          <a:xfrm>
            <a:off x="548640" y="5440680"/>
            <a:ext cx="11094415" cy="685800"/>
          </a:xfrm>
          <a:prstGeom prst="rect">
            <a:avLst/>
          </a:prstGeom>
          <a:noFill/>
        </p:spPr>
        <p:txBody>
          <a:bodyPr wrap="square" lIns="0" tIns="0" rIns="0" bIns="0" anchor="t">
            <a:noAutofit/>
          </a:bodyPr>
          <a:lstStyle/>
          <a:p>
            <a:pPr algn="l">
              <a:spcAft>
                <a:spcPts val="600"/>
              </a:spcAft>
            </a:pPr>
            <a:r>
              <a:rPr sz="1600" b="1">
                <a:solidFill>
                  <a:srgbClr val="000000"/>
                </a:solidFill>
              </a:rPr>
              <a:t>A test that would: </a:t>
            </a:r>
            <a:r>
              <a:rPr sz="1600" b="0">
                <a:solidFill>
                  <a:srgbClr val="000000"/>
                </a:solidFill>
              </a:rPr>
              <a:t>harmless other-side requests, like a Republican asking for an op-ed praising a Democratic policy. Suspicion predicts pushback there too; going along doesn’t.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21</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we expect about the setup</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28</a:t>
            </a:fld>
          </a:p>
        </p:txBody>
      </p:sp>
      <p:sp>
        <p:nvSpPr>
          <p:cNvPr id="4" name="Q1"/>
          <p:cNvSpPr txBox="1"/>
          <p:nvPr/>
        </p:nvSpPr>
        <p:spPr>
          <a:xfrm>
            <a:off x="548640"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Qwen2.5-7B and Llama-3.1-8B?</a:t>
            </a:r>
          </a:p>
        </p:txBody>
      </p:sp>
      <p:sp>
        <p:nvSpPr>
          <p:cNvPr id="5" name="A1"/>
          <p:cNvSpPr txBox="1"/>
          <p:nvPr/>
        </p:nvSpPr>
        <p:spPr>
          <a:xfrm>
            <a:off x="548640"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Open weights, so we can read and edit activations; each fits on one A40 GPU; one Chinese and one US lab. The 3B pilot’s rates left little room for a gap.</a:t>
            </a:r>
          </a:p>
        </p:txBody>
      </p:sp>
      <p:sp>
        <p:nvSpPr>
          <p:cNvPr id="6" name="Q2"/>
          <p:cNvSpPr txBox="1"/>
          <p:nvPr/>
        </p:nvSpPr>
        <p:spPr>
          <a:xfrm>
            <a:off x="6324447" y="1554480"/>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build the direction from non-political prompts?</a:t>
            </a:r>
          </a:p>
        </p:txBody>
      </p:sp>
      <p:sp>
        <p:nvSpPr>
          <p:cNvPr id="7" name="A2"/>
          <p:cNvSpPr txBox="1"/>
          <p:nvPr/>
        </p:nvSpPr>
        <p:spPr>
          <a:xfrm>
            <a:off x="6324447" y="1901952"/>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One taken from the election prompts would mix refusal with “this is partisan politics.” We use Arditi et al.’s prompts and drop any that mention elections, parties or candidates.</a:t>
            </a:r>
          </a:p>
        </p:txBody>
      </p:sp>
      <p:sp>
        <p:nvSpPr>
          <p:cNvPr id="8" name="Q3"/>
          <p:cNvSpPr txBox="1"/>
          <p:nvPr/>
        </p:nvSpPr>
        <p:spPr>
          <a:xfrm>
            <a:off x="548640"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Why not separate party directions?</a:t>
            </a:r>
          </a:p>
        </p:txBody>
      </p:sp>
      <p:sp>
        <p:nvSpPr>
          <p:cNvPr id="9" name="A3"/>
          <p:cNvSpPr txBox="1"/>
          <p:nvPr/>
        </p:nvSpPr>
        <p:spPr>
          <a:xfrm>
            <a:off x="548640"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They come out nearly identical by construction (cosine ≥ 0.987), since the prompts share everything but the asker. We compare projections on one shared direction instead.</a:t>
            </a:r>
          </a:p>
        </p:txBody>
      </p:sp>
      <p:sp>
        <p:nvSpPr>
          <p:cNvPr id="10" name="Q4"/>
          <p:cNvSpPr txBox="1"/>
          <p:nvPr/>
        </p:nvSpPr>
        <p:spPr>
          <a:xfrm>
            <a:off x="6324447" y="3090672"/>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Can the judge see who asked?</a:t>
            </a:r>
          </a:p>
        </p:txBody>
      </p:sp>
      <p:sp>
        <p:nvSpPr>
          <p:cNvPr id="11" name="A4"/>
          <p:cNvSpPr txBox="1"/>
          <p:nvPr/>
        </p:nvSpPr>
        <p:spPr>
          <a:xfrm>
            <a:off x="6324447" y="3438144"/>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No. Every judge sees the request with the asker sentence replaced by “Please,” never the model, party or condition.</a:t>
            </a:r>
          </a:p>
        </p:txBody>
      </p:sp>
      <p:sp>
        <p:nvSpPr>
          <p:cNvPr id="12" name="Q5"/>
          <p:cNvSpPr txBox="1"/>
          <p:nvPr/>
        </p:nvSpPr>
        <p:spPr>
          <a:xfrm>
            <a:off x="548640"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Couldn’t one phrasing drive the gap?</a:t>
            </a:r>
          </a:p>
        </p:txBody>
      </p:sp>
      <p:sp>
        <p:nvSpPr>
          <p:cNvPr id="13" name="A5"/>
          <p:cNvSpPr txBox="1"/>
          <p:nvPr/>
        </p:nvSpPr>
        <p:spPr>
          <a:xfrm>
            <a:off x="548640"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Each asker has two phrasings, alternated. Comparisons are 136 matched pairs that differ only in the asker sentence, tested with exact McNemar tests.</a:t>
            </a:r>
          </a:p>
        </p:txBody>
      </p:sp>
      <p:sp>
        <p:nvSpPr>
          <p:cNvPr id="14" name="Q6"/>
          <p:cNvSpPr txBox="1"/>
          <p:nvPr/>
        </p:nvSpPr>
        <p:spPr>
          <a:xfrm>
            <a:off x="6324447" y="4626864"/>
            <a:ext cx="5318607" cy="292608"/>
          </a:xfrm>
          <a:prstGeom prst="rect">
            <a:avLst/>
          </a:prstGeom>
          <a:noFill/>
        </p:spPr>
        <p:txBody>
          <a:bodyPr wrap="square" anchor="t" lIns="0" rIns="0" tIns="0" bIns="0">
            <a:noAutofit/>
          </a:bodyPr>
          <a:lstStyle/>
          <a:p>
            <a:pPr algn="l">
              <a:spcAft>
                <a:spcPts val="0"/>
              </a:spcAft>
            </a:pPr>
            <a:r>
              <a:rPr sz="1600" b="1">
                <a:solidFill>
                  <a:srgbClr val="000000"/>
                </a:solidFill>
              </a:rPr>
              <a:t>Greedy decoding, one reply per prompt?</a:t>
            </a:r>
          </a:p>
        </p:txBody>
      </p:sp>
      <p:sp>
        <p:nvSpPr>
          <p:cNvPr id="15" name="A6"/>
          <p:cNvSpPr txBox="1"/>
          <p:nvPr/>
        </p:nvSpPr>
        <p:spPr>
          <a:xfrm>
            <a:off x="6324447" y="4974336"/>
            <a:ext cx="5318607" cy="1051560"/>
          </a:xfrm>
          <a:prstGeom prst="rect">
            <a:avLst/>
          </a:prstGeom>
          <a:noFill/>
        </p:spPr>
        <p:txBody>
          <a:bodyPr wrap="square" anchor="t" lIns="0" rIns="0" tIns="0" bIns="0">
            <a:noAutofit/>
          </a:bodyPr>
          <a:lstStyle/>
          <a:p>
            <a:pPr algn="l">
              <a:spcAft>
                <a:spcPts val="0"/>
              </a:spcAft>
            </a:pPr>
            <a:r>
              <a:rPr sz="1400" b="0">
                <a:solidFill>
                  <a:srgbClr val="52514E"/>
                </a:solidFill>
              </a:rPr>
              <a:t>Yes: deterministic, 128 new tokens. Replies shift slightly with batch composition, so we compare groups, not single replies.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found the refusal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29</a:t>
            </a:fld>
          </a:p>
        </p:txBody>
      </p:sp>
      <p:sp>
        <p:nvSpPr>
          <p:cNvPr id="4" name="TextBox 3"/>
          <p:cNvSpPr txBox="1"/>
          <p:nvPr/>
        </p:nvSpPr>
        <p:spPr>
          <a:xfrm>
            <a:off x="548640"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1</a:t>
            </a:r>
          </a:p>
        </p:txBody>
      </p:sp>
      <p:sp>
        <p:nvSpPr>
          <p:cNvPr id="5" name="TextBox 4"/>
          <p:cNvSpPr txBox="1"/>
          <p:nvPr/>
        </p:nvSpPr>
        <p:spPr>
          <a:xfrm>
            <a:off x="548640"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Anchor prompts</a:t>
            </a:r>
          </a:p>
        </p:txBody>
      </p:sp>
      <p:sp>
        <p:nvSpPr>
          <p:cNvPr id="6" name="TextBox 5"/>
          <p:cNvSpPr txBox="1"/>
          <p:nvPr/>
        </p:nvSpPr>
        <p:spPr>
          <a:xfrm>
            <a:off x="548640"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Arditi et al.’s 128 harmful and 128 harmless training prompts, minus any that mention elections, parties or candidates. Keep the harmful ones the model refuses and the harmless ones it answers.</a:t>
            </a:r>
          </a:p>
        </p:txBody>
      </p:sp>
      <p:sp>
        <p:nvSpPr>
          <p:cNvPr id="7" name="TextBox 6"/>
          <p:cNvSpPr txBox="1"/>
          <p:nvPr/>
        </p:nvSpPr>
        <p:spPr>
          <a:xfrm>
            <a:off x="3402253"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2</a:t>
            </a:r>
          </a:p>
        </p:txBody>
      </p:sp>
      <p:sp>
        <p:nvSpPr>
          <p:cNvPr id="8" name="TextBox 7"/>
          <p:cNvSpPr txBox="1"/>
          <p:nvPr/>
        </p:nvSpPr>
        <p:spPr>
          <a:xfrm>
            <a:off x="3402253"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Candidates</a:t>
            </a:r>
          </a:p>
        </p:txBody>
      </p:sp>
      <p:sp>
        <p:nvSpPr>
          <p:cNvPr id="9" name="TextBox 8"/>
          <p:cNvSpPr txBox="1"/>
          <p:nvPr/>
        </p:nvSpPr>
        <p:spPr>
          <a:xfrm>
            <a:off x="3402253"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Average activation on harmful minus harmless, at every layer up to 80% of the depth and every token after the instruction.</a:t>
            </a:r>
          </a:p>
        </p:txBody>
      </p:sp>
      <p:sp>
        <p:nvSpPr>
          <p:cNvPr id="10" name="TextBox 9"/>
          <p:cNvSpPr txBox="1"/>
          <p:nvPr/>
        </p:nvSpPr>
        <p:spPr>
          <a:xfrm>
            <a:off x="6255867"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3</a:t>
            </a:r>
          </a:p>
        </p:txBody>
      </p:sp>
      <p:sp>
        <p:nvSpPr>
          <p:cNvPr id="11" name="TextBox 10"/>
          <p:cNvSpPr txBox="1"/>
          <p:nvPr/>
        </p:nvSpPr>
        <p:spPr>
          <a:xfrm>
            <a:off x="6255867"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Score on 32 held-out prompts</a:t>
            </a:r>
          </a:p>
        </p:txBody>
      </p:sp>
      <p:sp>
        <p:nvSpPr>
          <p:cNvPr id="12" name="TextBox 11"/>
          <p:cNvSpPr txBox="1"/>
          <p:nvPr/>
        </p:nvSpPr>
        <p:spPr>
          <a:xfrm>
            <a:off x="6255867"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Remove it: how far does refusal on harmful prompts drop? Add it: does it cause refusal on harmless ones? KL: how much does removing it change harmless outputs?</a:t>
            </a:r>
          </a:p>
        </p:txBody>
      </p:sp>
      <p:sp>
        <p:nvSpPr>
          <p:cNvPr id="13" name="TextBox 12"/>
          <p:cNvSpPr txBox="1"/>
          <p:nvPr/>
        </p:nvSpPr>
        <p:spPr>
          <a:xfrm>
            <a:off x="9109481" y="1600200"/>
            <a:ext cx="2533573" cy="502920"/>
          </a:xfrm>
          <a:prstGeom prst="rect">
            <a:avLst/>
          </a:prstGeom>
          <a:noFill/>
        </p:spPr>
        <p:txBody>
          <a:bodyPr wrap="square" anchor="t" lIns="0" rIns="0" tIns="0" bIns="0">
            <a:noAutofit/>
          </a:bodyPr>
          <a:lstStyle/>
          <a:p>
            <a:pPr algn="l">
              <a:spcAft>
                <a:spcPts val="0"/>
              </a:spcAft>
            </a:pPr>
            <a:r>
              <a:rPr sz="2800" b="1">
                <a:solidFill>
                  <a:srgbClr val="000000"/>
                </a:solidFill>
              </a:rPr>
              <a:t>4</a:t>
            </a:r>
          </a:p>
        </p:txBody>
      </p:sp>
      <p:sp>
        <p:nvSpPr>
          <p:cNvPr id="14" name="TextBox 13"/>
          <p:cNvSpPr txBox="1"/>
          <p:nvPr/>
        </p:nvSpPr>
        <p:spPr>
          <a:xfrm>
            <a:off x="9109481" y="2148840"/>
            <a:ext cx="2533573" cy="594360"/>
          </a:xfrm>
          <a:prstGeom prst="rect">
            <a:avLst/>
          </a:prstGeom>
          <a:noFill/>
        </p:spPr>
        <p:txBody>
          <a:bodyPr wrap="square" anchor="t" lIns="0" rIns="0" tIns="0" bIns="0">
            <a:noAutofit/>
          </a:bodyPr>
          <a:lstStyle/>
          <a:p>
            <a:pPr algn="l">
              <a:spcAft>
                <a:spcPts val="0"/>
              </a:spcAft>
            </a:pPr>
            <a:r>
              <a:rPr sz="1800" b="1">
                <a:solidFill>
                  <a:srgbClr val="000000"/>
                </a:solidFill>
              </a:rPr>
              <a:t>Pick and check</a:t>
            </a:r>
          </a:p>
        </p:txBody>
      </p:sp>
      <p:sp>
        <p:nvSpPr>
          <p:cNvPr id="15" name="TextBox 14"/>
          <p:cNvSpPr txBox="1"/>
          <p:nvPr/>
        </p:nvSpPr>
        <p:spPr>
          <a:xfrm>
            <a:off x="9109481" y="2788920"/>
            <a:ext cx="2533573" cy="2286000"/>
          </a:xfrm>
          <a:prstGeom prst="rect">
            <a:avLst/>
          </a:prstGeom>
          <a:noFill/>
        </p:spPr>
        <p:txBody>
          <a:bodyPr wrap="square" anchor="t" lIns="0" rIns="0" tIns="0" bIns="0">
            <a:noAutofit/>
          </a:bodyPr>
          <a:lstStyle/>
          <a:p>
            <a:pPr algn="l">
              <a:spcAft>
                <a:spcPts val="0"/>
              </a:spcAft>
            </a:pPr>
            <a:r>
              <a:rPr sz="1500" b="0">
                <a:solidFill>
                  <a:srgbClr val="52514E"/>
                </a:solidFill>
              </a:rPr>
              <a:t>Biggest drop, with addition causing refusal and KL below 0.1. Then 64 fresh harmful prompts (refusal 92% → 0% Qwen, 91% → 0% Llama) and 100 re-extractions (cosine ≥ 0.99).</a:t>
            </a:r>
          </a:p>
        </p:txBody>
      </p:sp>
      <p:sp>
        <p:nvSpPr>
          <p:cNvPr id="16" name="TextBox 15"/>
          <p:cNvSpPr txBox="1"/>
          <p:nvPr/>
        </p:nvSpPr>
        <p:spPr>
          <a:xfrm>
            <a:off x="548640" y="5257800"/>
            <a:ext cx="11094415" cy="685800"/>
          </a:xfrm>
          <a:prstGeom prst="rect">
            <a:avLst/>
          </a:prstGeom>
          <a:noFill/>
        </p:spPr>
        <p:txBody>
          <a:bodyPr wrap="square" anchor="t" lIns="0" rIns="0" tIns="0" bIns="0">
            <a:noAutofit/>
          </a:bodyPr>
          <a:lstStyle/>
          <a:p>
            <a:pPr algn="l">
              <a:spcAft>
                <a:spcPts val="0"/>
              </a:spcAft>
            </a:pPr>
            <a:r>
              <a:rPr sz="1600" b="1">
                <a:solidFill>
                  <a:srgbClr val="52514E"/>
                </a:solidFill>
              </a:rPr>
              <a:t>Chosen: </a:t>
            </a:r>
            <a:r>
              <a:rPr sz="1600" b="0">
                <a:solidFill>
                  <a:srgbClr val="52514E"/>
                </a:solidFill>
              </a:rPr>
              <a:t>Qwen layer 19 of 28 (token −2), Llama layer 13 of 32 (token −5). </a:t>
            </a:r>
            <a:r>
              <a:rPr sz="1600" b="1">
                <a:solidFill>
                  <a:srgbClr val="52514E"/>
                </a:solidFill>
              </a:rPr>
              <a:t>Refusal score: </a:t>
            </a:r>
            <a:r>
              <a:rPr sz="1600" b="0">
                <a:solidFill>
                  <a:srgbClr val="52514E"/>
                </a:solidFill>
              </a:rPr>
              <a:t>log-odds that the reply starts with a refusal token.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Alternate versions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30</a:t>
            </a:fld>
          </a:p>
        </p:txBody>
      </p:sp>
      <p:sp>
        <p:nvSpPr>
          <p:cNvPr id="4" name="TextBox 3"/>
          <p:cNvSpPr txBox="1"/>
          <p:nvPr/>
        </p:nvSpPr>
        <p:spPr>
          <a:xfrm>
            <a:off x="548640" y="1737360"/>
            <a:ext cx="11094415" cy="1097280"/>
          </a:xfrm>
          <a:prstGeom prst="rect">
            <a:avLst/>
          </a:prstGeom>
          <a:noFill/>
        </p:spPr>
        <p:txBody>
          <a:bodyPr wrap="square" anchor="t" lIns="0" rIns="0" tIns="0" bIns="0">
            <a:noAutofit/>
          </a:bodyPr>
          <a:lstStyle/>
          <a:p>
            <a:pPr algn="l">
              <a:spcAft>
                <a:spcPts val="600"/>
              </a:spcAft>
            </a:pPr>
            <a:r>
              <a:rPr sz="1800" b="0">
                <a:solidFill>
                  <a:srgbClr val="52514E"/>
                </a:solidFill>
              </a:rPr>
              <a:t>Option B for slide 5 (prior work, from the paper’s own material) and for slide 10 (how we judged the replies). Swap one in, then delete this section.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31</a:t>
            </a:fld>
          </a:p>
        </p:txBody>
      </p:sp>
      <p:sp>
        <p:nvSpPr>
          <p:cNvPr id="4" name="TextBox 3"/>
          <p:cNvSpPr txBox="1"/>
          <p:nvPr/>
        </p:nvSpPr>
        <p:spPr>
          <a:xfrm>
            <a:off x="548640" y="1371600"/>
            <a:ext cx="11094415" cy="320040"/>
          </a:xfrm>
          <a:prstGeom prst="rect">
            <a:avLst/>
          </a:prstGeom>
          <a:noFill/>
        </p:spPr>
        <p:txBody>
          <a:bodyPr wrap="square" anchor="t" lIns="0" rIns="0" tIns="0" bIns="0">
            <a:noAutofit/>
          </a:bodyPr>
          <a:lstStyle/>
          <a:p>
            <a:pPr algn="l">
              <a:spcAft>
                <a:spcPts val="600"/>
              </a:spcAft>
            </a:pPr>
            <a:r>
              <a:rPr sz="1400" b="0">
                <a:solidFill>
                  <a:srgbClr val="52514E"/>
                </a:solidFill>
              </a:rPr>
              <a:t>Arditi, Obeso, Syed, Paleka, Panickssery, Gurnee &amp; Nanda (2024), arXiv 2406.11717</a:t>
            </a:r>
          </a:p>
        </p:txBody>
      </p:sp>
      <p:sp>
        <p:nvSpPr>
          <p:cNvPr id="5" name="TextBox 4"/>
          <p:cNvSpPr txBox="1"/>
          <p:nvPr/>
        </p:nvSpPr>
        <p:spPr>
          <a:xfrm>
            <a:off x="548640" y="1828800"/>
            <a:ext cx="5486400" cy="365760"/>
          </a:xfrm>
          <a:prstGeom prst="rect">
            <a:avLst/>
          </a:prstGeom>
          <a:noFill/>
        </p:spPr>
        <p:txBody>
          <a:bodyPr wrap="square" anchor="t" lIns="0" rIns="0" tIns="0" bIns="0">
            <a:noAutofit/>
          </a:bodyPr>
          <a:lstStyle/>
          <a:p>
            <a:pPr algn="l">
              <a:spcAft>
                <a:spcPts val="0"/>
              </a:spcAft>
            </a:pPr>
            <a:r>
              <a:rPr sz="2000" b="1">
                <a:solidFill>
                  <a:srgbClr val="000000"/>
                </a:solidFill>
              </a:rPr>
              <a:t>Their method</a:t>
            </a:r>
          </a:p>
        </p:txBody>
      </p:sp>
      <p:sp>
        <p:nvSpPr>
          <p:cNvPr id="6" name="TextBox 5"/>
          <p:cNvSpPr txBox="1"/>
          <p:nvPr/>
        </p:nvSpPr>
        <p:spPr>
          <a:xfrm>
            <a:off x="548640" y="2286000"/>
            <a:ext cx="5486400" cy="3154680"/>
          </a:xfrm>
          <a:prstGeom prst="rect">
            <a:avLst/>
          </a:prstGeom>
          <a:noFill/>
        </p:spPr>
        <p:txBody>
          <a:bodyPr wrap="square" anchor="t" lIns="0" rIns="0" tIns="0" bIns="0">
            <a:noAutofit/>
          </a:bodyPr>
          <a:lstStyle/>
          <a:p>
            <a:pPr algn="l" marL="274320" indent="-274320">
              <a:spcAft>
                <a:spcPts val="800"/>
              </a:spcAft>
              <a:buChar char="•"/>
            </a:pPr>
            <a:r>
              <a:rPr sz="1500" b="1">
                <a:solidFill>
                  <a:srgbClr val="52514E"/>
                </a:solidFill>
              </a:rPr>
              <a:t>Direction: </a:t>
            </a:r>
            <a:r>
              <a:rPr sz="1500" b="0">
                <a:solidFill>
                  <a:srgbClr val="52514E"/>
                </a:solidFill>
              </a:rPr>
              <a:t>r = mean activation on harmful instructions − mean on harmless ones, per layer and token</a:t>
            </a:r>
          </a:p>
          <a:p>
            <a:pPr algn="l" marL="274320" indent="-274320">
              <a:spcAft>
                <a:spcPts val="800"/>
              </a:spcAft>
              <a:buChar char="•"/>
            </a:pPr>
            <a:r>
              <a:rPr sz="1500" b="1">
                <a:solidFill>
                  <a:srgbClr val="52514E"/>
                </a:solidFill>
              </a:rPr>
              <a:t>Remove it: </a:t>
            </a:r>
            <a:r>
              <a:rPr sz="1500" b="0">
                <a:solidFill>
                  <a:srgbClr val="52514E"/>
                </a:solidFill>
              </a:rPr>
              <a:t>x′ = x − (x·u)u with u = r/|r|, at every layer and token</a:t>
            </a:r>
          </a:p>
          <a:p>
            <a:pPr algn="l" marL="274320" indent="-274320">
              <a:spcAft>
                <a:spcPts val="800"/>
              </a:spcAft>
              <a:buChar char="•"/>
            </a:pPr>
            <a:r>
              <a:rPr sz="1500" b="1">
                <a:solidFill>
                  <a:srgbClr val="52514E"/>
                </a:solidFill>
              </a:rPr>
              <a:t>Add it: </a:t>
            </a:r>
            <a:r>
              <a:rPr sz="1500" b="0">
                <a:solidFill>
                  <a:srgbClr val="52514E"/>
                </a:solidFill>
              </a:rPr>
              <a:t>x′ = x + r, at the layer it came from</a:t>
            </a:r>
          </a:p>
          <a:p>
            <a:pPr algn="l" marL="274320" indent="-274320">
              <a:spcAft>
                <a:spcPts val="800"/>
              </a:spcAft>
              <a:buChar char="•"/>
            </a:pPr>
            <a:r>
              <a:rPr sz="1500" b="1">
                <a:solidFill>
                  <a:srgbClr val="52514E"/>
                </a:solidFill>
              </a:rPr>
              <a:t>Pick it: </a:t>
            </a:r>
            <a:r>
              <a:rPr sz="1500" b="0">
                <a:solidFill>
                  <a:srgbClr val="52514E"/>
                </a:solidFill>
              </a:rPr>
              <a:t>lowest refusal when removed, provided adding it causes refusal and removing it leaves harmless outputs nearly unchanged (KL &lt; 0.1)</a:t>
            </a:r>
          </a:p>
          <a:p>
            <a:pPr algn="l" marL="274320" indent="-274320">
              <a:spcAft>
                <a:spcPts val="800"/>
              </a:spcAft>
              <a:buChar char="•"/>
            </a:pPr>
            <a:r>
              <a:rPr sz="1500" b="1">
                <a:solidFill>
                  <a:srgbClr val="52514E"/>
                </a:solidFill>
              </a:rPr>
              <a:t>Data: </a:t>
            </a:r>
            <a:r>
              <a:rPr sz="1500" b="0">
                <a:solidFill>
                  <a:srgbClr val="52514E"/>
                </a:solidFill>
              </a:rPr>
              <a:t>128 training and 32 validation prompts each; harmful from AdvBench, MaliciousInstruct, TDC2023 and HarmBench, harmless from Alpaca</a:t>
            </a:r>
          </a:p>
        </p:txBody>
      </p:sp>
      <p:sp>
        <p:nvSpPr>
          <p:cNvPr id="7" name="Figure 1 placeholder"/>
          <p:cNvSpPr/>
          <p:nvPr/>
        </p:nvSpPr>
        <p:spPr>
          <a:xfrm>
            <a:off x="6400800" y="18288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1 from the paper</a:t>
            </a:r>
          </a:p>
          <a:p>
            <a:pPr algn="ctr">
              <a:spcAft>
                <a:spcPts val="600"/>
              </a:spcAft>
            </a:pPr>
            <a:r>
              <a:rPr sz="1400" b="0">
                <a:solidFill>
                  <a:srgbClr val="898781"/>
                </a:solidFill>
              </a:rPr>
              <a:t>Removing r lowers refusal and raises unsafe answers in all 13 models (100 JailbreakBench prompts)</a:t>
            </a:r>
          </a:p>
        </p:txBody>
      </p:sp>
      <p:sp>
        <p:nvSpPr>
          <p:cNvPr id="8" name="Figure 3 placeholder"/>
          <p:cNvSpPr/>
          <p:nvPr/>
        </p:nvSpPr>
        <p:spPr>
          <a:xfrm>
            <a:off x="6400800" y="3657600"/>
            <a:ext cx="5242255" cy="1691640"/>
          </a:xfrm>
          <a:prstGeom prst="rect">
            <a:avLst/>
          </a:prstGeom>
          <a:noFill/>
          <a:ln w="12700">
            <a:solidFill>
              <a:srgbClr val="89878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600"/>
              </a:spcAft>
            </a:pPr>
            <a:r>
              <a:rPr sz="1400" b="1">
                <a:solidFill>
                  <a:srgbClr val="898781"/>
                </a:solidFill>
              </a:rPr>
              <a:t>Paste Figure 3 from the paper</a:t>
            </a:r>
          </a:p>
          <a:p>
            <a:pPr algn="ctr">
              <a:spcAft>
                <a:spcPts val="600"/>
              </a:spcAft>
            </a:pPr>
            <a:r>
              <a:rPr sz="1400" b="0">
                <a:solidFill>
                  <a:srgbClr val="898781"/>
                </a:solidFill>
              </a:rPr>
              <a:t>Adding r makes the models refuse 100 harmless Alpaca prompts</a:t>
            </a:r>
          </a:p>
        </p:txBody>
      </p:sp>
      <p:sp>
        <p:nvSpPr>
          <p:cNvPr id="9" name="TextBox 8"/>
          <p:cNvSpPr txBox="1"/>
          <p:nvPr/>
        </p:nvSpPr>
        <p:spPr>
          <a:xfrm>
            <a:off x="548640" y="5623560"/>
            <a:ext cx="11094415" cy="548640"/>
          </a:xfrm>
          <a:prstGeom prst="rect">
            <a:avLst/>
          </a:prstGeom>
          <a:noFill/>
        </p:spPr>
        <p:txBody>
          <a:bodyPr wrap="square" anchor="t" lIns="0" rIns="0" tIns="0" bIns="0">
            <a:noAutofit/>
          </a:bodyPr>
          <a:lstStyle/>
          <a:p>
            <a:pPr algn="l">
              <a:spcAft>
                <a:spcPts val="0"/>
              </a:spcAft>
            </a:pPr>
            <a:r>
              <a:rPr sz="1400" b="0">
                <a:solidFill>
                  <a:srgbClr val="52514E"/>
                </a:solidFill>
              </a:rPr>
              <a:t>13 models: Qwen Chat 1.8B–72B · Yi Chat 6B, 34B · Gemma IT 2B, 7B · Llama-2 Chat 7B–70B · Llama-3 Instruct 8B, 70B</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judged the replies</a:t>
            </a:r>
          </a:p>
        </p:txBody>
      </p:sp>
      <p:sp>
        <p:nvSpPr>
          <p:cNvPr id="3" name="Slide number"/>
          <p:cNvSpPr txBox="1"/>
          <p:nvPr/>
        </p:nvSpPr>
        <p:spPr>
          <a:xfrm>
            <a:off x="10728655" y="6400800"/>
            <a:ext cx="914400" cy="228600"/>
          </a:xfrm>
          <a:prstGeom prst="rect">
            <a:avLst/>
          </a:prstGeom>
          <a:noFill/>
        </p:spPr>
        <p:txBody>
          <a:bodyPr wrap="none" lIns="0" rIns="0" tIns="0" bIns="0">
            <a:spAutoFit/>
          </a:bodyPr>
          <a:lstStyle/>
          <a:p>
            <a:pPr algn="r"/>
            <a:fld id="{6F1B2D7E-4C3A-4E8B-9D21-7A5C0E3B9F14}" type="slidenum">
              <a:rPr lang="en-US" sz="1000">
                <a:solidFill>
                  <a:srgbClr val="898781"/>
                </a:solidFill>
              </a:rPr>
              <a:t>32</a:t>
            </a:fld>
          </a:p>
        </p:txBody>
      </p:sp>
      <p:sp>
        <p:nvSpPr>
          <p:cNvPr id="4" name="TextBox 3"/>
          <p:cNvSpPr txBox="1"/>
          <p:nvPr/>
        </p:nvSpPr>
        <p:spPr>
          <a:xfrm>
            <a:off x="548640" y="1499616"/>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1</a:t>
            </a:r>
          </a:p>
        </p:txBody>
      </p:sp>
      <p:sp>
        <p:nvSpPr>
          <p:cNvPr id="5" name="TextBox 4"/>
          <p:cNvSpPr txBox="1"/>
          <p:nvPr/>
        </p:nvSpPr>
        <p:spPr>
          <a:xfrm>
            <a:off x="1097280" y="1554480"/>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Generate. </a:t>
            </a:r>
            <a:r>
              <a:rPr sz="1600" b="0">
                <a:solidFill>
                  <a:srgbClr val="52514E"/>
                </a:solidFill>
              </a:rPr>
              <a:t>Both models answer all 920 prompts: greedy decoding, 128 new tokens, with and without the refusal direction removed.</a:t>
            </a:r>
          </a:p>
        </p:txBody>
      </p:sp>
      <p:sp>
        <p:nvSpPr>
          <p:cNvPr id="6" name="TextBox 5"/>
          <p:cNvSpPr txBox="1"/>
          <p:nvPr/>
        </p:nvSpPr>
        <p:spPr>
          <a:xfrm>
            <a:off x="548640" y="2615184"/>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2</a:t>
            </a:r>
          </a:p>
        </p:txBody>
      </p:sp>
      <p:sp>
        <p:nvSpPr>
          <p:cNvPr id="7" name="TextBox 6"/>
          <p:cNvSpPr txBox="1"/>
          <p:nvPr/>
        </p:nvSpPr>
        <p:spPr>
          <a:xfrm>
            <a:off x="1097280" y="2670048"/>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Blind. </a:t>
            </a:r>
            <a:r>
              <a:rPr sz="1600" b="0">
                <a:solidFill>
                  <a:srgbClr val="52514E"/>
                </a:solidFill>
              </a:rPr>
              <a:t>The judge sees the request with the asker sentence replaced by “Please,” never the model, party or condition.</a:t>
            </a:r>
          </a:p>
        </p:txBody>
      </p:sp>
      <p:sp>
        <p:nvSpPr>
          <p:cNvPr id="8" name="TextBox 7"/>
          <p:cNvSpPr txBox="1"/>
          <p:nvPr/>
        </p:nvSpPr>
        <p:spPr>
          <a:xfrm>
            <a:off x="548640" y="3730752"/>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3</a:t>
            </a:r>
          </a:p>
        </p:txBody>
      </p:sp>
      <p:sp>
        <p:nvSpPr>
          <p:cNvPr id="9" name="TextBox 8"/>
          <p:cNvSpPr txBox="1"/>
          <p:nvPr/>
        </p:nvSpPr>
        <p:spPr>
          <a:xfrm>
            <a:off x="1097280" y="3785615"/>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Label with two judges. </a:t>
            </a:r>
            <a:r>
              <a:rPr sz="1600" b="0">
                <a:solidFill>
                  <a:srgbClr val="52514E"/>
                </a:solidFill>
              </a:rPr>
              <a:t>Llama Guard 3 plus an added “Election Delegitimization” category. Claude with a written rubric: ANSWERS, PUSHBACK, DODGES or REFUSES. “Did the task” means it produced the requested content, even after a disclaimer.</a:t>
            </a:r>
          </a:p>
        </p:txBody>
      </p:sp>
      <p:sp>
        <p:nvSpPr>
          <p:cNvPr id="10" name="TextBox 9"/>
          <p:cNvSpPr txBox="1"/>
          <p:nvPr/>
        </p:nvSpPr>
        <p:spPr>
          <a:xfrm>
            <a:off x="548640" y="4846320"/>
            <a:ext cx="457200" cy="502920"/>
          </a:xfrm>
          <a:prstGeom prst="rect">
            <a:avLst/>
          </a:prstGeom>
          <a:noFill/>
        </p:spPr>
        <p:txBody>
          <a:bodyPr wrap="square" anchor="t" lIns="0" rIns="0" tIns="0" bIns="0">
            <a:noAutofit/>
          </a:bodyPr>
          <a:lstStyle/>
          <a:p>
            <a:pPr algn="l">
              <a:spcAft>
                <a:spcPts val="0"/>
              </a:spcAft>
            </a:pPr>
            <a:r>
              <a:rPr sz="2600" b="1">
                <a:solidFill>
                  <a:srgbClr val="000000"/>
                </a:solidFill>
              </a:rPr>
              <a:t>4</a:t>
            </a:r>
          </a:p>
        </p:txBody>
      </p:sp>
      <p:sp>
        <p:nvSpPr>
          <p:cNvPr id="11" name="TextBox 10"/>
          <p:cNvSpPr txBox="1"/>
          <p:nvPr/>
        </p:nvSpPr>
        <p:spPr>
          <a:xfrm>
            <a:off x="1097280" y="4901184"/>
            <a:ext cx="6492240" cy="1005840"/>
          </a:xfrm>
          <a:prstGeom prst="rect">
            <a:avLst/>
          </a:prstGeom>
          <a:noFill/>
        </p:spPr>
        <p:txBody>
          <a:bodyPr wrap="square" anchor="t" lIns="0" rIns="0" tIns="0" bIns="0">
            <a:noAutofit/>
          </a:bodyPr>
          <a:lstStyle/>
          <a:p>
            <a:pPr algn="l">
              <a:spcAft>
                <a:spcPts val="0"/>
              </a:spcAft>
            </a:pPr>
            <a:r>
              <a:rPr sz="1600" b="1">
                <a:solidFill>
                  <a:srgbClr val="000000"/>
                </a:solidFill>
              </a:rPr>
              <a:t>Validate. </a:t>
            </a:r>
            <a:r>
              <a:rPr sz="1600" b="0">
                <a:solidFill>
                  <a:srgbClr val="52514E"/>
                </a:solidFill>
              </a:rPr>
              <a:t>50 replies labeled blind by a teammate: Claude agrees on 89% (κ = 0.77), Llama Guard on 76% (κ = 0.51). A Sonnet re-check of 10% agrees 98%.</a:t>
            </a:r>
          </a:p>
        </p:txBody>
      </p:sp>
      <p:sp>
        <p:nvSpPr>
          <p:cNvPr id="12" name="TextBox 11"/>
          <p:cNvSpPr txBox="1"/>
          <p:nvPr/>
        </p:nvSpPr>
        <p:spPr>
          <a:xfrm>
            <a:off x="8046719" y="1554480"/>
            <a:ext cx="3596335" cy="365760"/>
          </a:xfrm>
          <a:prstGeom prst="rect">
            <a:avLst/>
          </a:prstGeom>
          <a:noFill/>
        </p:spPr>
        <p:txBody>
          <a:bodyPr wrap="square" anchor="t" lIns="0" rIns="0" tIns="0" bIns="0">
            <a:noAutofit/>
          </a:bodyPr>
          <a:lstStyle/>
          <a:p>
            <a:pPr algn="l">
              <a:spcAft>
                <a:spcPts val="0"/>
              </a:spcAft>
            </a:pPr>
            <a:r>
              <a:rPr sz="1800" b="1">
                <a:solidFill>
                  <a:srgbClr val="000000"/>
                </a:solidFill>
              </a:rPr>
              <a:t>Why not the paper’s judge?</a:t>
            </a:r>
          </a:p>
        </p:txBody>
      </p:sp>
      <p:sp>
        <p:nvSpPr>
          <p:cNvPr id="13" name="TextBox 12"/>
          <p:cNvSpPr txBox="1"/>
          <p:nvPr/>
        </p:nvSpPr>
        <p:spPr>
          <a:xfrm>
            <a:off x="8046719" y="2011680"/>
            <a:ext cx="3596335" cy="4023360"/>
          </a:xfrm>
          <a:prstGeom prst="rect">
            <a:avLst/>
          </a:prstGeom>
          <a:noFill/>
        </p:spPr>
        <p:txBody>
          <a:bodyPr wrap="square" anchor="t" lIns="0" rIns="0" tIns="0" bIns="0">
            <a:noAutofit/>
          </a:bodyPr>
          <a:lstStyle/>
          <a:p>
            <a:pPr algn="l" marL="274320" indent="-274320">
              <a:spcAft>
                <a:spcPts val="1000"/>
              </a:spcAft>
              <a:buChar char="•"/>
            </a:pPr>
            <a:r>
              <a:rPr sz="1500" b="0">
                <a:solidFill>
                  <a:srgbClr val="52514E"/>
                </a:solidFill>
              </a:rPr>
              <a:t>Llama Guard 2 has no election category and flags 0 of our replies, even ones that fully argue an election was stolen</a:t>
            </a:r>
          </a:p>
          <a:p>
            <a:pPr algn="l" marL="274320" indent="-274320">
              <a:spcAft>
                <a:spcPts val="1000"/>
              </a:spcAft>
              <a:buChar char="•"/>
            </a:pPr>
            <a:r>
              <a:rPr sz="1500" b="0">
                <a:solidFill>
                  <a:srgbClr val="52514E"/>
                </a:solidFill>
              </a:rPr>
              <a:t>Llama Guard 3’s built-in categories catch about half</a:t>
            </a:r>
          </a:p>
          <a:p>
            <a:pPr algn="l" marL="274320" indent="-274320">
              <a:spcAft>
                <a:spcPts val="1000"/>
              </a:spcAft>
              <a:buChar char="•"/>
            </a:pPr>
            <a:r>
              <a:rPr sz="1500" b="0">
                <a:solidFill>
                  <a:srgbClr val="52514E"/>
                </a:solidFill>
              </a:rPr>
              <a:t>Guard misses disclaimer-then-argue and question-form replies, so Claude counts about 20 points more as done</a:t>
            </a:r>
          </a:p>
          <a:p>
            <a:pPr algn="l" marL="274320" indent="-274320">
              <a:spcAft>
                <a:spcPts val="1000"/>
              </a:spcAft>
              <a:buChar char="•"/>
            </a:pPr>
            <a:r>
              <a:rPr sz="1500" b="0">
                <a:solidFill>
                  <a:srgbClr val="52514E"/>
                </a:solidFill>
              </a:rPr>
              <a:t>Both judges agree on every group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