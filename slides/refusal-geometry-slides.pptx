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92" r:id="rId42"/>
    <p:sldId id="260" r:id="rId6"/>
    <p:sldId id="261" r:id="rId7"/>
    <p:sldId id="293" r:id="rId43"/>
    <p:sldId id="289" r:id="rId39"/>
    <p:sldId id="262" r:id="rId8"/>
    <p:sldId id="263" r:id="rId9"/>
    <p:sldId id="288" r:id="rId38"/>
    <p:sldId id="285" r:id="rId35"/>
    <p:sldId id="290" r:id="rId40"/>
    <p:sldId id="294" r:id="rId44"/>
    <p:sldId id="296" r:id="rId46"/>
    <p:sldId id="274" r:id="rId20"/>
    <p:sldId id="295" r:id="rId45"/>
    <p:sldId id="276" r:id="rId22"/>
    <p:sldId id="277" r:id="rId23"/>
    <p:sldId id="291" r:id="rId41"/>
    <p:sldId id="265" r:id="rId11"/>
    <p:sldId id="267" r:id="rId13"/>
    <p:sldId id="268" r:id="rId14"/>
    <p:sldId id="269" r:id="rId15"/>
    <p:sldId id="270" r:id="rId16"/>
    <p:sldId id="271" r:id="rId17"/>
    <p:sldId id="272" r:id="rId18"/>
    <p:sldId id="273" r:id="rId19"/>
    <p:sldId id="275" r:id="rId21"/>
    <p:sldId id="264" r:id="rId10"/>
    <p:sldId id="278" r:id="rId24"/>
    <p:sldId id="284" r:id="rId34"/>
    <p:sldId id="279" r:id="rId25"/>
    <p:sldId id="280" r:id="rId26"/>
    <p:sldId id="281" r:id="rId27"/>
    <p:sldId id="282" r:id="rId28"/>
    <p:sldId id="286" r:id="rId36"/>
    <p:sldId id="287" r:id="rId37"/>
    <p:sldId id="266" r:id="rId12"/>
    <p:sldId id="297" r:id="rId47"/>
    <p:sldId id="298" r:id="rId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31.xml"/><Relationship Id="rId11" Type="http://schemas.openxmlformats.org/officeDocument/2006/relationships/slide" Target="slides/slide22.xml"/><Relationship Id="rId12" Type="http://schemas.openxmlformats.org/officeDocument/2006/relationships/slide" Target="slides/slide40.xml"/><Relationship Id="rId13" Type="http://schemas.openxmlformats.org/officeDocument/2006/relationships/slide" Target="slides/slide23.xml"/><Relationship Id="rId14" Type="http://schemas.openxmlformats.org/officeDocument/2006/relationships/slide" Target="slides/slide24.xml"/><Relationship Id="rId15" Type="http://schemas.openxmlformats.org/officeDocument/2006/relationships/slide" Target="slides/slide25.xml"/><Relationship Id="rId16" Type="http://schemas.openxmlformats.org/officeDocument/2006/relationships/slide" Target="slides/slide26.xml"/><Relationship Id="rId17" Type="http://schemas.openxmlformats.org/officeDocument/2006/relationships/slide" Target="slides/slide27.xml"/><Relationship Id="rId18" Type="http://schemas.openxmlformats.org/officeDocument/2006/relationships/slide" Target="slides/slide28.xml"/><Relationship Id="rId19" Type="http://schemas.openxmlformats.org/officeDocument/2006/relationships/slide" Target="slides/slide29.xml"/><Relationship Id="rId20" Type="http://schemas.openxmlformats.org/officeDocument/2006/relationships/slide" Target="slides/slide17.xml"/><Relationship Id="rId21" Type="http://schemas.openxmlformats.org/officeDocument/2006/relationships/slide" Target="slides/slide30.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32.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3.xml"/><Relationship Id="rId35" Type="http://schemas.openxmlformats.org/officeDocument/2006/relationships/slide" Target="slides/slide13.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12.xml"/><Relationship Id="rId39" Type="http://schemas.openxmlformats.org/officeDocument/2006/relationships/slide" Target="slides/slide9.xml"/><Relationship Id="rId40" Type="http://schemas.openxmlformats.org/officeDocument/2006/relationships/slide" Target="slides/slide14.xml"/><Relationship Id="rId41" Type="http://schemas.openxmlformats.org/officeDocument/2006/relationships/slide" Target="slides/slide21.xml"/><Relationship Id="rId42" Type="http://schemas.openxmlformats.org/officeDocument/2006/relationships/slide" Target="slides/slide5.xml"/><Relationship Id="rId43" Type="http://schemas.openxmlformats.org/officeDocument/2006/relationships/slide" Target="slides/slide8.xml"/><Relationship Id="rId44" Type="http://schemas.openxmlformats.org/officeDocument/2006/relationships/slide" Target="slides/slide15.xml"/><Relationship Id="rId45" Type="http://schemas.openxmlformats.org/officeDocument/2006/relationships/slide" Target="slides/slide18.xml"/><Relationship Id="rId46" Type="http://schemas.openxmlformats.org/officeDocument/2006/relationships/slide" Target="slides/slide16.xml"/><Relationship Id="rId47" Type="http://schemas.openxmlformats.org/officeDocument/2006/relationships/slide" Target="slides/slide41.xml"/><Relationship Id="rId48"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sections, then two appendices. The numbers on the right are where each section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method in 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each step in turn.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7: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punchline chart, with both judges and the p-values on it. Kept as an alternate; the main deck uses the bar version on slide 16.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asks whether saying your party changes anything by itself. Each dot compares an asker who names an identity with one who says 'I'm a voter', on otherwise identical prompts. The Lakers fan is a control identity with nothing to do with politics. In Qwen, all three identities lower help by about the same amount; in Llama, the party labels barely matter while the Lakers fan lowers help. Either way, naming a party does no more than naming any group. That is why we read the main result as about whose claim it is, not about party.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29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 to the motivation. The models pass the simple fairness test: Democrats and Republicans get about the same help. But they help more when the claim matches the asker's party, so a Republican asking to prove 2020 was stolen, or a Democrat asking about 2016, gets more help than someone asking about the other side's claim. Those are the people most likely to believe the claim and pass it on, which works against the goal of supporting democracy. We can't yet say why. One reading is that the model goes along with views it infers from the asker. The other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17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Alternates. Option B for the prior-work slide (slide 6), the original both-judges punchline chart, and the gaps-only and simple-dumbbell versions of it. Slide 16 uses the bar version.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6,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 The agreement table is in the supporting detail.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Two open-weight chat models, run the same way. Open weights matter because the method reads and edits the models' internal activations. Qwen is from a Chinese lab and Llama from a US lab, which the language extension uses. Each run took about 25 minutes per model on one A40, plus about 10 for judging. Next: the method, step by step.</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Step 4 is observational: where does each prompt sit along the refusal direction, and how does that change with the asker, layer by layer? Each layer uses its own direction, and gaps are scaled by that layer's stolen-minus-harmless gap so layers are comparable. Step 5 changes the activations and watches the replies. Removing the direction is the blunt version: it ends nearly all refusal, so it can't say how much of the gap runs through the direction. The constant shift is the clean test: push own-side prompts toward refusal by exactly the measured gap, or multiples of it, and see whether they fall to the other-side level; a random direction of the same size is the control. The side direction asks what else the gap might run through.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evidence behind the punchline, one finding per slide. The first slide maps them.</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1: the paper we build on and the question we asked.</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2: what we ran and how. The models and their settings first, then the five steps.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3: the main result in one slide, then what it means for the democracy question. The evidence for each piece is in the supporting detail after the conclusion.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4: what to remember and what we would run next.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punchline. In each model, the left pair of bars is Democrat vs Republican: 1 to 4 points apart, not significant. The right pair is own side vs other side: own-side requests get the content 15 points more often in Qwen and 7 in Llama. These are the Claude judge's numbers, the judge validated against a blind human pass; Llama Guard shows the same pattern at lower levels. Inside the model it splits by model: in Llama, shifting own-side prompts along the refusal direction by twice the measured gap closes the gap; in Qwen it takes a second, side direction. The supporting detail has the evidence for each piece.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punchline chart: only the two gaps, under both judges. The party gap sits on zero; the own-side gap is clearly above it in both models. Slide 16 uses the bar version (option 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C for the punchline chart: the original dumbbells, simplified to the Claude judge, one panel per comparison, with the values on the dots. Slide 16 uses the bar version (option 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916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916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Background: prior work and our question</a:t>
            </a:r>
          </a:p>
        </p:txBody>
      </p:sp>
      <p:sp>
        <p:nvSpPr>
          <p:cNvPr id="6" name="Part 1 slide"/>
          <p:cNvSpPr txBox="1"/>
          <p:nvPr/>
        </p:nvSpPr>
        <p:spPr>
          <a:xfrm>
            <a:off x="10271455" y="17282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350008"/>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350008"/>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Methodology: setup and the five-step method</a:t>
            </a:r>
          </a:p>
        </p:txBody>
      </p:sp>
      <p:sp>
        <p:nvSpPr>
          <p:cNvPr id="9" name="Part 2 slide"/>
          <p:cNvSpPr txBox="1"/>
          <p:nvPr/>
        </p:nvSpPr>
        <p:spPr>
          <a:xfrm>
            <a:off x="10271455" y="2386584"/>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0" name="Part 3 number"/>
          <p:cNvSpPr txBox="1"/>
          <p:nvPr/>
        </p:nvSpPr>
        <p:spPr>
          <a:xfrm>
            <a:off x="548640" y="3008376"/>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3008376"/>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Results: the punchline and what it means</a:t>
            </a:r>
          </a:p>
        </p:txBody>
      </p:sp>
      <p:sp>
        <p:nvSpPr>
          <p:cNvPr id="12" name="Part 3 slide"/>
          <p:cNvSpPr txBox="1"/>
          <p:nvPr/>
        </p:nvSpPr>
        <p:spPr>
          <a:xfrm>
            <a:off x="10271455" y="3044952"/>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13" name="Part 4 number"/>
          <p:cNvSpPr txBox="1"/>
          <p:nvPr/>
        </p:nvSpPr>
        <p:spPr>
          <a:xfrm>
            <a:off x="548640" y="3666744"/>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666744"/>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Conclusion: takeaways and next steps</a:t>
            </a:r>
          </a:p>
        </p:txBody>
      </p:sp>
      <p:sp>
        <p:nvSpPr>
          <p:cNvPr id="15" name="Part 4 slide"/>
          <p:cNvSpPr txBox="1"/>
          <p:nvPr/>
        </p:nvSpPr>
        <p:spPr>
          <a:xfrm>
            <a:off x="10271455" y="3703320"/>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18</a:t>
            </a:r>
          </a:p>
        </p:txBody>
      </p:sp>
      <p:sp>
        <p:nvSpPr>
          <p:cNvPr id="16" name="Part 5 number"/>
          <p:cNvSpPr txBox="1"/>
          <p:nvPr/>
        </p:nvSpPr>
        <p:spPr>
          <a:xfrm>
            <a:off x="548640" y="4325112"/>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4325112"/>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A: supporting detail</a:t>
            </a:r>
          </a:p>
        </p:txBody>
      </p:sp>
      <p:sp>
        <p:nvSpPr>
          <p:cNvPr id="18" name="Part 5 slide"/>
          <p:cNvSpPr txBox="1"/>
          <p:nvPr/>
        </p:nvSpPr>
        <p:spPr>
          <a:xfrm>
            <a:off x="10271455" y="4361688"/>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
        <p:nvSpPr>
          <p:cNvPr id="19" name="Part 6 number"/>
          <p:cNvSpPr txBox="1"/>
          <p:nvPr/>
        </p:nvSpPr>
        <p:spPr>
          <a:xfrm>
            <a:off x="548640" y="4983479"/>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983479"/>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B: backup</a:t>
            </a:r>
          </a:p>
        </p:txBody>
      </p:sp>
      <p:sp>
        <p:nvSpPr>
          <p:cNvPr id="21" name="Part 6 slide"/>
          <p:cNvSpPr txBox="1"/>
          <p:nvPr/>
        </p:nvSpPr>
        <p:spPr>
          <a:xfrm>
            <a:off x="10271455" y="5020055"/>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14600"/>
            <a:ext cx="11094415" cy="914400"/>
          </a:xfrm>
        </p:spPr>
        <p:txBody>
          <a:bodyPr/>
          <a:lstStyle/>
          <a:p>
            <a:r>
              <a:rPr sz="4400"/>
              <a:t>Background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
        <p:nvSpPr>
          <p:cNvPr id="4" name="Section label"/>
          <p:cNvSpPr txBox="1"/>
          <p:nvPr/>
        </p:nvSpPr>
        <p:spPr>
          <a:xfrm>
            <a:off x="548640" y="2057400"/>
            <a:ext cx="11094415" cy="365760"/>
          </a:xfrm>
          <a:prstGeom prst="rect">
            <a:avLst/>
          </a:prstGeom>
          <a:noFill/>
        </p:spPr>
        <p:txBody>
          <a:bodyPr wrap="square" anchor="t" lIns="0" rIns="0" tIns="0" bIns="0">
            <a:noAutofit/>
          </a:bodyPr>
          <a:lstStyle/>
          <a:p>
            <a:pPr algn="l">
              <a:spcAft>
                <a:spcPts val="0"/>
              </a:spcAft>
            </a:pPr>
            <a:r>
              <a:rPr sz="1600" b="1">
                <a:solidFill>
                  <a:srgbClr val="898781"/>
                </a:solidFill>
              </a:rPr>
              <a:t>Section 1</a:t>
            </a:r>
          </a:p>
        </p:txBody>
      </p:sp>
      <p:sp>
        <p:nvSpPr>
          <p:cNvPr id="5" name="Section description"/>
          <p:cNvSpPr txBox="1"/>
          <p:nvPr/>
        </p:nvSpPr>
        <p:spPr>
          <a:xfrm>
            <a:off x="548640" y="3566160"/>
            <a:ext cx="11094415" cy="822960"/>
          </a:xfrm>
          <a:prstGeom prst="rect">
            <a:avLst/>
          </a:prstGeom>
          <a:noFill/>
        </p:spPr>
        <p:txBody>
          <a:bodyPr wrap="square" anchor="t" lIns="0" rIns="0" tIns="0" bIns="0">
            <a:noAutofit/>
          </a:bodyPr>
          <a:lstStyle/>
          <a:p>
            <a:pPr algn="l">
              <a:spcAft>
                <a:spcPts val="0"/>
              </a:spcAft>
            </a:pPr>
            <a:r>
              <a:rPr sz="2000" b="0">
                <a:solidFill>
                  <a:srgbClr val="52514E"/>
                </a:solidFill>
              </a:rPr>
              <a:t>Prior work, and the question we asked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6" name="TextBox 5"/>
          <p:cNvSpPr txBox="1"/>
          <p:nvPr/>
        </p:nvSpPr>
        <p:spPr>
          <a:xfrm>
            <a:off x="548640" y="4434840"/>
            <a:ext cx="11094415" cy="777240"/>
          </a:xfrm>
          <a:prstGeom prst="rect">
            <a:avLst/>
          </a:prstGeom>
          <a:noFill/>
        </p:spPr>
        <p:txBody>
          <a:bodyPr wrap="square" lIns="0" tIns="0" rIns="0" bIns="0" anchor="t">
            <a:noAutofit/>
          </a:bodyPr>
          <a:lstStyle/>
          <a:p>
            <a:pPr marL="274320" indent="-274320" algn="l">
              <a:spcAft>
                <a:spcPts val="800"/>
              </a:spcAft>
              <a:buChar char="•"/>
            </a:pPr>
            <a:r>
              <a:rPr sz="1800" b="0">
                <a:solidFill>
                  <a:srgbClr val="000000"/>
                </a:solidFill>
              </a:rPr>
              <a:t>The same holds in 13 open-source chat models, up to 72B parameters</a:t>
            </a:r>
          </a:p>
          <a:p>
            <a:pPr marL="274320" indent="-274320" algn="l">
              <a:spcAft>
                <a:spcPts val="800"/>
              </a:spcAft>
              <a:buChar char="•"/>
            </a:pPr>
            <a:r>
              <a:rPr sz="1800" b="0">
                <a:solidFill>
                  <a:srgbClr val="000000"/>
                </a:solidFill>
              </a:rPr>
              <a:t>Editing it out of the weights is a jailbreak: safety fine-tuning is brittle</a:t>
            </a:r>
          </a:p>
        </p:txBody>
      </p:sp>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14600"/>
            <a:ext cx="11094415" cy="914400"/>
          </a:xfrm>
        </p:spPr>
        <p:txBody>
          <a:bodyPr/>
          <a:lstStyle/>
          <a:p>
            <a:r>
              <a:rPr sz="4400"/>
              <a:t>Methodology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sp>
        <p:nvSpPr>
          <p:cNvPr id="4" name="Section label"/>
          <p:cNvSpPr txBox="1"/>
          <p:nvPr/>
        </p:nvSpPr>
        <p:spPr>
          <a:xfrm>
            <a:off x="548640" y="2057400"/>
            <a:ext cx="11094415" cy="365760"/>
          </a:xfrm>
          <a:prstGeom prst="rect">
            <a:avLst/>
          </a:prstGeom>
          <a:noFill/>
        </p:spPr>
        <p:txBody>
          <a:bodyPr wrap="square" anchor="t" lIns="0" rIns="0" tIns="0" bIns="0">
            <a:noAutofit/>
          </a:bodyPr>
          <a:lstStyle/>
          <a:p>
            <a:pPr algn="l">
              <a:spcAft>
                <a:spcPts val="0"/>
              </a:spcAft>
            </a:pPr>
            <a:r>
              <a:rPr sz="1600" b="1">
                <a:solidFill>
                  <a:srgbClr val="898781"/>
                </a:solidFill>
              </a:rPr>
              <a:t>Section 2</a:t>
            </a:r>
          </a:p>
        </p:txBody>
      </p:sp>
      <p:sp>
        <p:nvSpPr>
          <p:cNvPr id="5" name="Section description"/>
          <p:cNvSpPr txBox="1"/>
          <p:nvPr/>
        </p:nvSpPr>
        <p:spPr>
          <a:xfrm>
            <a:off x="548640" y="3566160"/>
            <a:ext cx="11094415" cy="822960"/>
          </a:xfrm>
          <a:prstGeom prst="rect">
            <a:avLst/>
          </a:prstGeom>
          <a:noFill/>
        </p:spPr>
        <p:txBody>
          <a:bodyPr wrap="square" anchor="t" lIns="0" rIns="0" tIns="0" bIns="0">
            <a:noAutofit/>
          </a:bodyPr>
          <a:lstStyle/>
          <a:p>
            <a:pPr algn="l">
              <a:spcAft>
                <a:spcPts val="0"/>
              </a:spcAft>
            </a:pPr>
            <a:r>
              <a:rPr sz="2000" b="0">
                <a:solidFill>
                  <a:srgbClr val="52514E"/>
                </a:solidFill>
              </a:rPr>
              <a:t>Setup, then the method in five steps: prompts, judging, the refusal direction, looking inside, causal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Setup: models and how we ran them</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Qwen2.5-7B-Instruct</a:t>
            </a:r>
          </a:p>
        </p:txBody>
      </p:sp>
      <p:sp>
        <p:nvSpPr>
          <p:cNvPr id="5" name="TextBox 4"/>
          <p:cNvSpPr txBox="1"/>
          <p:nvPr/>
        </p:nvSpPr>
        <p:spPr>
          <a:xfrm>
            <a:off x="548640"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Alibaba · 7B parameters · 28 layers</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Llama-3.1-8B-Instruct</a:t>
            </a:r>
          </a:p>
        </p:txBody>
      </p:sp>
      <p:sp>
        <p:nvSpPr>
          <p:cNvPr id="7" name="TextBox 6"/>
          <p:cNvSpPr txBox="1"/>
          <p:nvPr/>
        </p:nvSpPr>
        <p:spPr>
          <a:xfrm>
            <a:off x="6324447"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Meta · 8B parameters · 32 layers</a:t>
            </a:r>
          </a:p>
        </p:txBody>
      </p:sp>
      <p:graphicFrame>
        <p:nvGraphicFramePr>
          <p:cNvPr id="8" name="How we ran them"/>
          <p:cNvGraphicFramePr>
            <a:graphicFrameLocks noGrp="1"/>
          </p:cNvGraphicFramePr>
          <p:nvPr/>
        </p:nvGraphicFramePr>
        <p:xfrm>
          <a:off x="548640" y="2834640"/>
          <a:ext cx="11094415" cy="2609088"/>
        </p:xfrm>
        <a:graphic>
          <a:graphicData uri="http://schemas.openxmlformats.org/drawingml/2006/table">
            <a:tbl>
              <a:tblPr firstRow="1" bandRow="0">
                <a:tableStyleId>{2D5ABB26-0587-4C30-8999-92F81FD0307C}</a:tableStyleId>
              </a:tblPr>
              <a:tblGrid>
                <a:gridCol w="2743200"/>
                <a:gridCol w="8351215"/>
              </a:tblGrid>
              <a:tr h="353568">
                <a:tc>
                  <a:txBody>
                    <a:bodyPr/>
                    <a:lstStyle/>
                    <a:p>
                      <a:r>
                        <a:rPr sz="1600" b="1">
                          <a:solidFill>
                            <a:srgbClr val="000000"/>
                          </a:solidFill>
                        </a:rPr>
                        <a:t>How we ran them</a:t>
                      </a:r>
                    </a:p>
                  </a:txBody>
                  <a:tcPr marL="0" marR="73152" marT="54864" marB="54864">
                    <a:lnB w="19050">
                      <a:solidFill>
                        <a:srgbClr val="000000"/>
                      </a:solidFill>
                    </a:lnB>
                    <a:noFill/>
                  </a:tcPr>
                </a:tc>
                <a:tc>
                  <a:txBody>
                    <a:bodyPr/>
                    <a:lstStyle/>
                    <a:p/>
                  </a:txBody>
                  <a:tcPr marL="73152" marR="73152" marT="54864" marB="54864">
                    <a:lnB w="19050">
                      <a:solidFill>
                        <a:srgbClr val="000000"/>
                      </a:solidFill>
                    </a:lnB>
                    <a:noFill/>
                  </a:tcPr>
                </a:tc>
              </a:tr>
              <a:tr h="353568">
                <a:tc>
                  <a:txBody>
                    <a:bodyPr/>
                    <a:lstStyle/>
                    <a:p>
                      <a:r>
                        <a:rPr sz="1600" b="1">
                          <a:solidFill>
                            <a:srgbClr val="000000"/>
                          </a:solidFill>
                        </a:rPr>
                        <a:t>Weights</a:t>
                      </a:r>
                    </a:p>
                  </a:txBody>
                  <a:tcPr marL="0" marR="73152" marT="54864" marB="54864">
                    <a:lnB w="9525">
                      <a:solidFill>
                        <a:srgbClr val="D9D9D9"/>
                      </a:solidFill>
                    </a:lnB>
                    <a:noFill/>
                  </a:tcPr>
                </a:tc>
                <a:tc>
                  <a:txBody>
                    <a:bodyPr/>
                    <a:lstStyle/>
                    <a:p>
                      <a:r>
                        <a:rPr sz="1600" b="0">
                          <a:solidFill>
                            <a:srgbClr val="52514E"/>
                          </a:solidFill>
                        </a:rPr>
                        <a:t>Open-weight instruct versions from Hugging Face, each with its own chat template</a:t>
                      </a:r>
                    </a:p>
                  </a:txBody>
                  <a:tcPr marL="73152" marR="73152" marT="54864" marB="54864">
                    <a:lnB w="9525">
                      <a:solidFill>
                        <a:srgbClr val="D9D9D9"/>
                      </a:solidFill>
                    </a:lnB>
                    <a:noFill/>
                  </a:tcPr>
                </a:tc>
              </a:tr>
              <a:tr h="597408">
                <a:tc>
                  <a:txBody>
                    <a:bodyPr/>
                    <a:lstStyle/>
                    <a:p>
                      <a:r>
                        <a:rPr sz="1600" b="1">
                          <a:solidFill>
                            <a:srgbClr val="000000"/>
                          </a:solidFill>
                        </a:rPr>
                        <a:t>Decoding</a:t>
                      </a:r>
                    </a:p>
                  </a:txBody>
                  <a:tcPr marL="0" marR="73152" marT="54864" marB="54864">
                    <a:lnB w="9525">
                      <a:solidFill>
                        <a:srgbClr val="D9D9D9"/>
                      </a:solidFill>
                    </a:lnB>
                    <a:noFill/>
                  </a:tcPr>
                </a:tc>
                <a:tc>
                  <a:txBody>
                    <a:bodyPr/>
                    <a:lstStyle/>
                    <a:p>
                      <a:r>
                        <a:rPr sz="1600" b="0">
                          <a:solidFill>
                            <a:srgbClr val="52514E"/>
                          </a:solidFill>
                        </a:rPr>
                        <a:t>Greedy (no sampling), up to 128 new tokens, batches of 16; every prompt with and without the refusal direction removed</a:t>
                      </a:r>
                    </a:p>
                  </a:txBody>
                  <a:tcPr marL="73152" marR="73152" marT="54864" marB="54864">
                    <a:lnB w="9525">
                      <a:solidFill>
                        <a:srgbClr val="D9D9D9"/>
                      </a:solidFill>
                    </a:lnB>
                    <a:noFill/>
                  </a:tcPr>
                </a:tc>
              </a:tr>
              <a:tr h="353568">
                <a:tc>
                  <a:txBody>
                    <a:bodyPr/>
                    <a:lstStyle/>
                    <a:p>
                      <a:r>
                        <a:rPr sz="1600" b="1">
                          <a:solidFill>
                            <a:srgbClr val="000000"/>
                          </a:solidFill>
                        </a:rPr>
                        <a:t>Precision and GPU</a:t>
                      </a:r>
                    </a:p>
                  </a:txBody>
                  <a:tcPr marL="0" marR="73152" marT="54864" marB="54864">
                    <a:lnB w="9525">
                      <a:solidFill>
                        <a:srgbClr val="D9D9D9"/>
                      </a:solidFill>
                    </a:lnB>
                    <a:noFill/>
                  </a:tcPr>
                </a:tc>
                <a:tc>
                  <a:txBody>
                    <a:bodyPr/>
                    <a:lstStyle/>
                    <a:p>
                      <a:r>
                        <a:rPr sz="1600" b="0">
                          <a:solidFill>
                            <a:srgbClr val="52514E"/>
                          </a:solidFill>
                        </a:rPr>
                        <a:t>bfloat16 on one NVIDIA A40 (48 GB), about 25 minutes per model</a:t>
                      </a:r>
                    </a:p>
                  </a:txBody>
                  <a:tcPr marL="73152" marR="73152" marT="54864" marB="54864">
                    <a:lnB w="9525">
                      <a:solidFill>
                        <a:srgbClr val="D9D9D9"/>
                      </a:solidFill>
                    </a:lnB>
                    <a:noFill/>
                  </a:tcPr>
                </a:tc>
              </a:tr>
              <a:tr h="353568">
                <a:tc>
                  <a:txBody>
                    <a:bodyPr/>
                    <a:lstStyle/>
                    <a:p>
                      <a:r>
                        <a:rPr sz="1600" b="1">
                          <a:solidFill>
                            <a:srgbClr val="000000"/>
                          </a:solidFill>
                        </a:rPr>
                        <a:t>Prompts</a:t>
                      </a:r>
                    </a:p>
                  </a:txBody>
                  <a:tcPr marL="0" marR="73152" marT="54864" marB="54864">
                    <a:lnB w="9525">
                      <a:solidFill>
                        <a:srgbClr val="D9D9D9"/>
                      </a:solidFill>
                    </a:lnB>
                    <a:noFill/>
                  </a:tcPr>
                </a:tc>
                <a:tc>
                  <a:txBody>
                    <a:bodyPr/>
                    <a:lstStyle/>
                    <a:p>
                      <a:r>
                        <a:rPr sz="1600" b="0">
                          <a:solidFill>
                            <a:srgbClr val="52514E"/>
                          </a:solidFill>
                        </a:rPr>
                        <a:t>920: 5 askers × 8 elections × 23 requests (17 stolen-election, 6 harmless)</a:t>
                      </a:r>
                    </a:p>
                  </a:txBody>
                  <a:tcPr marL="73152" marR="73152" marT="54864" marB="54864">
                    <a:lnB w="9525">
                      <a:solidFill>
                        <a:srgbClr val="D9D9D9"/>
                      </a:solidFill>
                    </a:lnB>
                    <a:noFill/>
                  </a:tcPr>
                </a:tc>
              </a:tr>
              <a:tr h="597408">
                <a:tc>
                  <a:txBody>
                    <a:bodyPr/>
                    <a:lstStyle/>
                    <a:p>
                      <a:r>
                        <a:rPr sz="1600" b="1">
                          <a:solidFill>
                            <a:srgbClr val="000000"/>
                          </a:solidFill>
                        </a:rPr>
                        <a:t>Judges</a:t>
                      </a:r>
                    </a:p>
                  </a:txBody>
                  <a:tcPr marL="0" marR="73152" marT="54864" marB="54864">
                    <a:lnB w="9525">
                      <a:solidFill>
                        <a:srgbClr val="D9D9D9"/>
                      </a:solidFill>
                    </a:lnB>
                    <a:noFill/>
                  </a:tcPr>
                </a:tc>
                <a:tc>
                  <a:txBody>
                    <a:bodyPr/>
                    <a:lstStyle/>
                    <a:p>
                      <a:r>
                        <a:rPr sz="1600" b="0">
                          <a:solidFill>
                            <a:srgbClr val="52514E"/>
                          </a:solidFill>
                        </a:rPr>
                        <a:t>Llama Guard 3 (8B) with an added election category, and Claude Opus 5.5 with a written rubric</a:t>
                      </a:r>
                    </a:p>
                  </a:txBody>
                  <a:tcPr marL="73152" marR="73152" marT="54864" marB="54864">
                    <a:lnB w="9525">
                      <a:solidFill>
                        <a:srgbClr val="D9D9D9"/>
                      </a:solidFill>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Build prompts</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Generate and judge</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Test causally</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 1: Prompts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2: How we judged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How we found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Steps 4–5: Look inside, then test causally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sp>
        <p:nvSpPr>
          <p:cNvPr id="4" name="TextBox 3"/>
          <p:cNvSpPr txBox="1"/>
          <p:nvPr/>
        </p:nvSpPr>
        <p:spPr>
          <a:xfrm>
            <a:off x="548640"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4  </a:t>
            </a:r>
            <a:r>
              <a:rPr sz="2200" b="1">
                <a:solidFill>
                  <a:srgbClr val="000000"/>
                </a:solidFill>
              </a:rPr>
              <a:t>Look inside</a:t>
            </a:r>
          </a:p>
        </p:txBody>
      </p:sp>
      <p:sp>
        <p:nvSpPr>
          <p:cNvPr id="5" name="TextBox 4"/>
          <p:cNvSpPr txBox="1"/>
          <p:nvPr/>
        </p:nvSpPr>
        <p:spPr>
          <a:xfrm>
            <a:off x="548640"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Project each prompt onto the refusal direction: at the chosen layer, and at every layer onto that layer’s own direction</a:t>
            </a:r>
          </a:p>
          <a:p>
            <a:pPr algn="l" marL="274320" indent="-274320">
              <a:spcAft>
                <a:spcPts val="1000"/>
              </a:spcAft>
              <a:buChar char="•"/>
            </a:pPr>
            <a:r>
              <a:rPr sz="1600" b="0">
                <a:solidFill>
                  <a:srgbClr val="52514E"/>
                </a:solidFill>
              </a:rPr>
              <a:t>Compare matched pairs: other side − own side, Republican − Democrat, party − Lakers fan</a:t>
            </a:r>
          </a:p>
          <a:p>
            <a:pPr algn="l" marL="274320" indent="-274320">
              <a:spcAft>
                <a:spcPts val="1000"/>
              </a:spcAft>
              <a:buChar char="•"/>
            </a:pPr>
            <a:r>
              <a:rPr sz="1600" b="0">
                <a:solidFill>
                  <a:srgbClr val="52514E"/>
                </a:solidFill>
              </a:rPr>
              <a:t>Scale by the stolen-minus-harmless gap; sign-flip tests, Bonferroni-corrected across layers</a:t>
            </a:r>
          </a:p>
        </p:txBody>
      </p:sp>
      <p:sp>
        <p:nvSpPr>
          <p:cNvPr id="6" name="TextBox 5"/>
          <p:cNvSpPr txBox="1"/>
          <p:nvPr/>
        </p:nvSpPr>
        <p:spPr>
          <a:xfrm>
            <a:off x="6324447"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5  </a:t>
            </a:r>
            <a:r>
              <a:rPr sz="2200" b="1">
                <a:solidFill>
                  <a:srgbClr val="000000"/>
                </a:solidFill>
              </a:rPr>
              <a:t>Test causally</a:t>
            </a:r>
          </a:p>
        </p:txBody>
      </p:sp>
      <p:sp>
        <p:nvSpPr>
          <p:cNvPr id="7" name="TextBox 6"/>
          <p:cNvSpPr txBox="1"/>
          <p:nvPr/>
        </p:nvSpPr>
        <p:spPr>
          <a:xfrm>
            <a:off x="6324447"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Remove the direction at every layer: does the own-side gap close?</a:t>
            </a:r>
          </a:p>
          <a:p>
            <a:pPr algn="l" marL="274320" indent="-274320">
              <a:spcAft>
                <a:spcPts val="1000"/>
              </a:spcAft>
              <a:buChar char="•"/>
            </a:pPr>
            <a:r>
              <a:rPr sz="1600" b="0">
                <a:solidFill>
                  <a:srgbClr val="52514E"/>
                </a:solidFill>
              </a:rPr>
              <a:t>Shift own-side prompts along it by 1×, 2×, 3× and 10× the measured gap at the chosen layer; the same shift along a random direction is the control</a:t>
            </a:r>
          </a:p>
          <a:p>
            <a:pPr algn="l" marL="274320" indent="-274320">
              <a:spcAft>
                <a:spcPts val="1000"/>
              </a:spcAft>
              <a:buChar char="•"/>
            </a:pPr>
            <a:r>
              <a:rPr sz="1600" b="0">
                <a:solidFill>
                  <a:srgbClr val="52514E"/>
                </a:solidFill>
              </a:rPr>
              <a:t>Side direction: what an other-side request adds on stolen prompts beyond harmless ones; compare it with refusal and shift along it</a:t>
            </a:r>
          </a:p>
        </p:txBody>
      </p:sp>
      <p:sp>
        <p:nvSpPr>
          <p:cNvPr id="8" name="TextBox 7"/>
          <p:cNvSpPr txBox="1"/>
          <p:nvPr/>
        </p:nvSpPr>
        <p:spPr>
          <a:xfrm>
            <a:off x="548640" y="5532120"/>
            <a:ext cx="11094415" cy="365760"/>
          </a:xfrm>
          <a:prstGeom prst="rect">
            <a:avLst/>
          </a:prstGeom>
          <a:noFill/>
        </p:spPr>
        <p:txBody>
          <a:bodyPr wrap="square" anchor="t" lIns="0" rIns="0" tIns="0" bIns="0">
            <a:noAutofit/>
          </a:bodyPr>
          <a:lstStyle/>
          <a:p>
            <a:pPr algn="l">
              <a:spcAft>
                <a:spcPts val="0"/>
              </a:spcAft>
            </a:pPr>
            <a:r>
              <a:rPr sz="1600" b="0">
                <a:solidFill>
                  <a:srgbClr val="52514E"/>
                </a:solidFill>
              </a:rPr>
              <a:t>Predictions for the causal tests were written down before the GPU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14600"/>
            <a:ext cx="11094415" cy="914400"/>
          </a:xfrm>
        </p:spPr>
        <p:txBody>
          <a:bodyPr/>
          <a:lstStyle/>
          <a:p>
            <a:r>
              <a:rPr sz="4400"/>
              <a:t>Results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sp>
        <p:nvSpPr>
          <p:cNvPr id="4" name="Section label"/>
          <p:cNvSpPr txBox="1"/>
          <p:nvPr/>
        </p:nvSpPr>
        <p:spPr>
          <a:xfrm>
            <a:off x="548640" y="2057400"/>
            <a:ext cx="11094415" cy="365760"/>
          </a:xfrm>
          <a:prstGeom prst="rect">
            <a:avLst/>
          </a:prstGeom>
          <a:noFill/>
        </p:spPr>
        <p:txBody>
          <a:bodyPr wrap="square" anchor="t" lIns="0" rIns="0" tIns="0" bIns="0">
            <a:noAutofit/>
          </a:bodyPr>
          <a:lstStyle/>
          <a:p>
            <a:pPr algn="l">
              <a:spcAft>
                <a:spcPts val="0"/>
              </a:spcAft>
            </a:pPr>
            <a:r>
              <a:rPr sz="1600" b="1">
                <a:solidFill>
                  <a:srgbClr val="898781"/>
                </a:solidFill>
              </a:rPr>
              <a:t>Section 3</a:t>
            </a:r>
          </a:p>
        </p:txBody>
      </p:sp>
      <p:sp>
        <p:nvSpPr>
          <p:cNvPr id="5" name="Section description"/>
          <p:cNvSpPr txBox="1"/>
          <p:nvPr/>
        </p:nvSpPr>
        <p:spPr>
          <a:xfrm>
            <a:off x="548640" y="3566160"/>
            <a:ext cx="11094415" cy="822960"/>
          </a:xfrm>
          <a:prstGeom prst="rect">
            <a:avLst/>
          </a:prstGeom>
          <a:noFill/>
        </p:spPr>
        <p:txBody>
          <a:bodyPr wrap="square" anchor="t" lIns="0" rIns="0" tIns="0" bIns="0">
            <a:noAutofit/>
          </a:bodyPr>
          <a:lstStyle/>
          <a:p>
            <a:pPr algn="l">
              <a:spcAft>
                <a:spcPts val="0"/>
              </a:spcAft>
            </a:pPr>
            <a:r>
              <a:rPr sz="2000" b="0">
                <a:solidFill>
                  <a:srgbClr val="52514E"/>
                </a:solidFill>
              </a:rPr>
              <a:t>The punchline, and what it means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headline_a.png" descr="Did-the-task rates: Democrat vs Republican and own side vs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this means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sp>
        <p:nvSpPr>
          <p:cNvPr id="4" name="Point 1"/>
          <p:cNvSpPr txBox="1"/>
          <p:nvPr/>
        </p:nvSpPr>
        <p:spPr>
          <a:xfrm>
            <a:off x="548640" y="1645920"/>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Fair to both parties. </a:t>
            </a:r>
            <a:r>
              <a:rPr sz="2100" b="0">
                <a:solidFill>
                  <a:srgbClr val="52514E"/>
                </a:solidFill>
              </a:rPr>
              <a:t>Democrats and Republicans get about the same amount of help.</a:t>
            </a:r>
          </a:p>
        </p:txBody>
      </p:sp>
      <p:sp>
        <p:nvSpPr>
          <p:cNvPr id="5" name="Point 2"/>
          <p:cNvSpPr txBox="1"/>
          <p:nvPr/>
        </p:nvSpPr>
        <p:spPr>
          <a:xfrm>
            <a:off x="548640" y="2724912"/>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But not to every claim. </a:t>
            </a:r>
            <a:r>
              <a:rPr sz="2100" b="0">
                <a:solidFill>
                  <a:srgbClr val="52514E"/>
                </a:solidFill>
              </a:rPr>
              <a:t>The models help more when the claim belongs to the asker’s own party, like a Republican asking to prove 2020 was stolen.</a:t>
            </a:r>
          </a:p>
        </p:txBody>
      </p:sp>
      <p:sp>
        <p:nvSpPr>
          <p:cNvPr id="6" name="Point 3"/>
          <p:cNvSpPr txBox="1"/>
          <p:nvPr/>
        </p:nvSpPr>
        <p:spPr>
          <a:xfrm>
            <a:off x="548640" y="3803904"/>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That works against the democracy goal. </a:t>
            </a:r>
            <a:r>
              <a:rPr sz="2100" b="0">
                <a:solidFill>
                  <a:srgbClr val="52514E"/>
                </a:solidFill>
              </a:rPr>
              <a:t>The people most likely to believe and spread a stolen-election claim get the most help with it.</a:t>
            </a:r>
          </a:p>
        </p:txBody>
      </p:sp>
      <p:sp>
        <p:nvSpPr>
          <p:cNvPr id="7" name="Point 4"/>
          <p:cNvSpPr txBox="1"/>
          <p:nvPr/>
        </p:nvSpPr>
        <p:spPr>
          <a:xfrm>
            <a:off x="548640" y="4882896"/>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We don’t yet know why. </a:t>
            </a:r>
            <a:r>
              <a:rPr sz="2100" b="0">
                <a:solidFill>
                  <a:srgbClr val="52514E"/>
                </a:solidFill>
              </a:rPr>
              <a:t>The model may be going along with the asker, or a mismatched request may look suspicious to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14600"/>
            <a:ext cx="11094415" cy="914400"/>
          </a:xfrm>
        </p:spPr>
        <p:txBody>
          <a:bodyPr/>
          <a:lstStyle/>
          <a:p>
            <a:r>
              <a:rPr sz="4400"/>
              <a:t>Conclusion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18</a:t>
            </a:fld>
          </a:p>
        </p:txBody>
      </p:sp>
      <p:sp>
        <p:nvSpPr>
          <p:cNvPr id="4" name="Section label"/>
          <p:cNvSpPr txBox="1"/>
          <p:nvPr/>
        </p:nvSpPr>
        <p:spPr>
          <a:xfrm>
            <a:off x="548640" y="2057400"/>
            <a:ext cx="11094415" cy="365760"/>
          </a:xfrm>
          <a:prstGeom prst="rect">
            <a:avLst/>
          </a:prstGeom>
          <a:noFill/>
        </p:spPr>
        <p:txBody>
          <a:bodyPr wrap="square" anchor="t" lIns="0" rIns="0" tIns="0" bIns="0">
            <a:noAutofit/>
          </a:bodyPr>
          <a:lstStyle/>
          <a:p>
            <a:pPr algn="l">
              <a:spcAft>
                <a:spcPts val="0"/>
              </a:spcAft>
            </a:pPr>
            <a:r>
              <a:rPr sz="1600" b="1">
                <a:solidFill>
                  <a:srgbClr val="898781"/>
                </a:solidFill>
              </a:rPr>
              <a:t>Section 4</a:t>
            </a:r>
          </a:p>
        </p:txBody>
      </p:sp>
      <p:sp>
        <p:nvSpPr>
          <p:cNvPr id="5" name="Section description"/>
          <p:cNvSpPr txBox="1"/>
          <p:nvPr/>
        </p:nvSpPr>
        <p:spPr>
          <a:xfrm>
            <a:off x="548640" y="3566160"/>
            <a:ext cx="11094415" cy="822960"/>
          </a:xfrm>
          <a:prstGeom prst="rect">
            <a:avLst/>
          </a:prstGeom>
          <a:noFill/>
        </p:spPr>
        <p:txBody>
          <a:bodyPr wrap="square" anchor="t" lIns="0" rIns="0" tIns="0" bIns="0">
            <a:noAutofit/>
          </a:bodyPr>
          <a:lstStyle/>
          <a:p>
            <a:pPr algn="l">
              <a:spcAft>
                <a:spcPts val="0"/>
              </a:spcAft>
            </a:pPr>
            <a:r>
              <a:rPr sz="2000" b="0">
                <a:solidFill>
                  <a:srgbClr val="52514E"/>
                </a:solidFill>
              </a:rPr>
              <a:t>Takeaways and next steps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20</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14600"/>
            <a:ext cx="11094415" cy="914400"/>
          </a:xfrm>
        </p:spPr>
        <p:txBody>
          <a:bodyPr/>
          <a:lstStyle/>
          <a:p>
            <a:r>
              <a:rPr sz="4400"/>
              <a:t>Supporting detail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
        <p:nvSpPr>
          <p:cNvPr id="4" name="Section label"/>
          <p:cNvSpPr txBox="1"/>
          <p:nvPr/>
        </p:nvSpPr>
        <p:spPr>
          <a:xfrm>
            <a:off x="548640" y="2057400"/>
            <a:ext cx="11094415" cy="365760"/>
          </a:xfrm>
          <a:prstGeom prst="rect">
            <a:avLst/>
          </a:prstGeom>
          <a:noFill/>
        </p:spPr>
        <p:txBody>
          <a:bodyPr wrap="square" anchor="t" lIns="0" rIns="0" tIns="0" bIns="0">
            <a:noAutofit/>
          </a:bodyPr>
          <a:lstStyle/>
          <a:p>
            <a:pPr algn="l">
              <a:spcAft>
                <a:spcPts val="0"/>
              </a:spcAft>
            </a:pPr>
            <a:r>
              <a:rPr sz="1600" b="1">
                <a:solidFill>
                  <a:srgbClr val="898781"/>
                </a:solidFill>
              </a:rPr>
              <a:t>Appendix A</a:t>
            </a:r>
          </a:p>
        </p:txBody>
      </p:sp>
      <p:sp>
        <p:nvSpPr>
          <p:cNvPr id="5" name="Section description"/>
          <p:cNvSpPr txBox="1"/>
          <p:nvPr/>
        </p:nvSpPr>
        <p:spPr>
          <a:xfrm>
            <a:off x="548640" y="3566160"/>
            <a:ext cx="11094415" cy="822960"/>
          </a:xfrm>
          <a:prstGeom prst="rect">
            <a:avLst/>
          </a:prstGeom>
          <a:noFill/>
        </p:spPr>
        <p:txBody>
          <a:bodyPr wrap="square" anchor="t" lIns="0" rIns="0" tIns="0" bIns="0">
            <a:noAutofit/>
          </a:bodyPr>
          <a:lstStyle/>
          <a:p>
            <a:pPr algn="l">
              <a:spcAft>
                <a:spcPts val="0"/>
              </a:spcAft>
            </a:pPr>
            <a:r>
              <a:rPr sz="2000" b="0">
                <a:solidFill>
                  <a:srgbClr val="52514E"/>
                </a:solidFill>
              </a:rPr>
              <a:t>The evidence behind the results, one finding per slide, starting with a map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23</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25</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28</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2025531" y="1325880"/>
            <a:ext cx="8140631" cy="2788920"/>
          </a:xfrm>
          <a:prstGeom prst="rect">
            <a:avLst/>
          </a:prstGeom>
        </p:spPr>
      </p:pic>
      <p:sp>
        <p:nvSpPr>
          <p:cNvPr id="5" name="TextBox 4"/>
          <p:cNvSpPr txBox="1"/>
          <p:nvPr/>
        </p:nvSpPr>
        <p:spPr>
          <a:xfrm>
            <a:off x="548640" y="4251960"/>
            <a:ext cx="11094415" cy="594360"/>
          </a:xfrm>
          <a:prstGeom prst="rect">
            <a:avLst/>
          </a:prstGeom>
          <a:noFill/>
        </p:spPr>
        <p:txBody>
          <a:bodyPr wrap="square" anchor="t" lIns="0" rIns="0" tIns="0" bIns="0">
            <a:noAutofit/>
          </a:bodyPr>
          <a:lstStyle/>
          <a:p>
            <a:pPr algn="l">
              <a:spcAft>
                <a:spcPts val="0"/>
              </a:spcAft>
            </a:pPr>
            <a:r>
              <a:rPr sz="1700" b="1">
                <a:solidFill>
                  <a:srgbClr val="000000"/>
                </a:solidFill>
              </a:rPr>
              <a:t>How to read it: </a:t>
            </a:r>
            <a:r>
              <a:rPr sz="1700" b="0">
                <a:solidFill>
                  <a:srgbClr val="52514E"/>
                </a:solidFill>
              </a:rPr>
              <a:t>each dot is the change in how often the model did the task when the asker named an identity, compared with “I’m a voter.” Left of the line means less help.</a:t>
            </a:r>
          </a:p>
        </p:txBody>
      </p:sp>
      <p:sp>
        <p:nvSpPr>
          <p:cNvPr id="6" name="TextBox 5"/>
          <p:cNvSpPr txBox="1"/>
          <p:nvPr/>
        </p:nvSpPr>
        <p:spPr>
          <a:xfrm>
            <a:off x="548640" y="4937760"/>
            <a:ext cx="11094415" cy="1280160"/>
          </a:xfrm>
          <a:prstGeom prst="rect">
            <a:avLst/>
          </a:prstGeom>
          <a:noFill/>
        </p:spPr>
        <p:txBody>
          <a:bodyPr wrap="square" anchor="t" lIns="0" rIns="0" tIns="0" bIns="0">
            <a:noAutofit/>
          </a:bodyPr>
          <a:lstStyle/>
          <a:p>
            <a:pPr algn="l" marL="274320" indent="-274320">
              <a:spcAft>
                <a:spcPts val="600"/>
              </a:spcAft>
              <a:buChar char="•"/>
            </a:pPr>
            <a:r>
              <a:rPr sz="1600" b="0">
                <a:solidFill>
                  <a:srgbClr val="52514E"/>
                </a:solidFill>
              </a:rPr>
              <a:t>“I’m a Lakers fan” is a control with nothing to do with elections. It lowers help as much as naming a party in Qwen (all three: 7 to 12 points less) and more than a party in Llama (parties: −3 to +2 points; Lakers fan: −4 to −12).</a:t>
            </a:r>
          </a:p>
          <a:p>
            <a:pPr algn="l" marL="274320" indent="-274320">
              <a:spcAft>
                <a:spcPts val="600"/>
              </a:spcAft>
              <a:buChar char="•"/>
            </a:pPr>
            <a:r>
              <a:rPr sz="1600" b="0">
                <a:solidFill>
                  <a:srgbClr val="52514E"/>
                </a:solidFill>
              </a:rPr>
              <a:t>So naming a party isn’t what moves the models. What does is whether the claim belongs to the asker’s side.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24</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Whose claim it is switches on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Llama the gap runs through refusal; in Qwen, mostly not</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28</a:t>
            </a:fld>
            <a:endParaRPr lang="en-US" sz="1000">
              <a:solidFill>
                <a:srgbClr val="898781"/>
              </a:solidFill>
            </a:endParaRPr>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29</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31</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2514600"/>
            <a:ext cx="11094415" cy="914400"/>
          </a:xfrm>
        </p:spPr>
        <p:txBody>
          <a:bodyPr/>
          <a:lstStyle/>
          <a:p>
            <a:r>
              <a:rPr sz="4400"/>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32</a:t>
            </a:fld>
            <a:endParaRPr lang="en-US" sz="1000">
              <a:solidFill>
                <a:srgbClr val="898781"/>
              </a:solidFill>
            </a:endParaRPr>
          </a:p>
        </p:txBody>
      </p:sp>
      <p:sp>
        <p:nvSpPr>
          <p:cNvPr id="4" name="Section label"/>
          <p:cNvSpPr txBox="1"/>
          <p:nvPr/>
        </p:nvSpPr>
        <p:spPr>
          <a:xfrm>
            <a:off x="548640" y="2057400"/>
            <a:ext cx="11094415" cy="365760"/>
          </a:xfrm>
          <a:prstGeom prst="rect">
            <a:avLst/>
          </a:prstGeom>
          <a:noFill/>
        </p:spPr>
        <p:txBody>
          <a:bodyPr wrap="square" anchor="t" lIns="0" rIns="0" tIns="0" bIns="0">
            <a:noAutofit/>
          </a:bodyPr>
          <a:lstStyle/>
          <a:p>
            <a:pPr algn="l">
              <a:spcAft>
                <a:spcPts val="0"/>
              </a:spcAft>
            </a:pPr>
            <a:r>
              <a:rPr sz="1600" b="1">
                <a:solidFill>
                  <a:srgbClr val="898781"/>
                </a:solidFill>
              </a:rPr>
              <a:t>Appendix B</a:t>
            </a:r>
          </a:p>
        </p:txBody>
      </p:sp>
      <p:sp>
        <p:nvSpPr>
          <p:cNvPr id="5" name="Section description"/>
          <p:cNvSpPr txBox="1"/>
          <p:nvPr/>
        </p:nvSpPr>
        <p:spPr>
          <a:xfrm>
            <a:off x="548640" y="3566160"/>
            <a:ext cx="11094415" cy="822960"/>
          </a:xfrm>
          <a:prstGeom prst="rect">
            <a:avLst/>
          </a:prstGeom>
          <a:noFill/>
        </p:spPr>
        <p:txBody>
          <a:bodyPr wrap="square" anchor="t" lIns="0" rIns="0" tIns="0" bIns="0">
            <a:noAutofit/>
          </a:bodyPr>
          <a:lstStyle/>
          <a:p>
            <a:pPr algn="l">
              <a:spcAft>
                <a:spcPts val="0"/>
              </a:spcAft>
            </a:pPr>
            <a:r>
              <a:rPr sz="2000" b="0">
                <a:solidFill>
                  <a:srgbClr val="52514E"/>
                </a:solidFill>
              </a:rPr>
              <a:t>Setup questions, request format, TA feedback and the method checks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33</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14600"/>
            <a:ext cx="11094415" cy="914400"/>
          </a:xfrm>
        </p:spPr>
        <p:txBody>
          <a:bodyPr/>
          <a:lstStyle/>
          <a:p>
            <a:r>
              <a:rPr sz="4400"/>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38</a:t>
            </a:fld>
          </a:p>
        </p:txBody>
      </p:sp>
      <p:sp>
        <p:nvSpPr>
          <p:cNvPr id="4" name="Section label"/>
          <p:cNvSpPr txBox="1"/>
          <p:nvPr/>
        </p:nvSpPr>
        <p:spPr>
          <a:xfrm>
            <a:off x="548640" y="2057400"/>
            <a:ext cx="11094415" cy="365760"/>
          </a:xfrm>
          <a:prstGeom prst="rect">
            <a:avLst/>
          </a:prstGeom>
          <a:noFill/>
        </p:spPr>
        <p:txBody>
          <a:bodyPr wrap="square" anchor="t" lIns="0" rIns="0" tIns="0" bIns="0">
            <a:noAutofit/>
          </a:bodyPr>
          <a:lstStyle/>
          <a:p>
            <a:pPr algn="l">
              <a:spcAft>
                <a:spcPts val="0"/>
              </a:spcAft>
            </a:pPr>
            <a:r>
              <a:rPr sz="1600" b="1">
                <a:solidFill>
                  <a:srgbClr val="898781"/>
                </a:solidFill>
              </a:rPr>
              <a:t>Appendix C</a:t>
            </a:r>
          </a:p>
        </p:txBody>
      </p:sp>
      <p:sp>
        <p:nvSpPr>
          <p:cNvPr id="5" name="Section description"/>
          <p:cNvSpPr txBox="1"/>
          <p:nvPr/>
        </p:nvSpPr>
        <p:spPr>
          <a:xfrm>
            <a:off x="548640" y="3566160"/>
            <a:ext cx="11094415" cy="822960"/>
          </a:xfrm>
          <a:prstGeom prst="rect">
            <a:avLst/>
          </a:prstGeom>
          <a:noFill/>
        </p:spPr>
        <p:txBody>
          <a:bodyPr wrap="square" anchor="t" lIns="0" rIns="0" tIns="0" bIns="0">
            <a:noAutofit/>
          </a:bodyPr>
          <a:lstStyle/>
          <a:p>
            <a:pPr algn="l">
              <a:spcAft>
                <a:spcPts val="0"/>
              </a:spcAft>
            </a:pPr>
            <a:r>
              <a:rPr sz="2000" b="0">
                <a:solidFill>
                  <a:srgbClr val="52514E"/>
                </a:solidFill>
              </a:rPr>
              <a:t>Option B for the prior-work slide, the original punchline chart, and two more punchline options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39</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40</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41</a:t>
            </a:fld>
          </a:p>
        </p:txBody>
      </p:sp>
      <p:pic>
        <p:nvPicPr>
          <p:cNvPr id="4" name="slide_headline_b.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42</a:t>
            </a:fld>
          </a:p>
        </p:txBody>
      </p:sp>
      <p:pic>
        <p:nvPicPr>
          <p:cNvPr id="4" name="slide_headline_c.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